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280160"/>
            <a:ext cx="4572000" cy="4572000"/>
          </a:xfrm>
          <a:prstGeom prst="ellipse">
            <a:avLst/>
          </a:prstGeom>
          <a:solidFill>
            <a:srgbClr val="FF7B42">
              <a:alpha val="8000"/>
            </a:srgbClr>
          </a:solidFill>
          <a:ln w="12700">
            <a:solidFill>
              <a:srgbClr val="FF7B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731520"/>
            <a:ext cx="2926080" cy="2926080"/>
          </a:xfrm>
          <a:prstGeom prst="ellipse">
            <a:avLst/>
          </a:prstGeom>
          <a:solidFill>
            <a:srgbClr val="FF7B42">
              <a:alpha val="15000"/>
            </a:srgbClr>
          </a:solidFill>
          <a:ln w="12700">
            <a:solidFill>
              <a:srgbClr val="FF7B42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Educativo
</a:t>
            </a:r>
            <a:pPr indent="0" marL="0">
              <a:buNone/>
            </a:pPr>
            <a:r>
              <a:rPr lang="en-US" sz="48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Integral STEAM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3044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 · Innovación · Formación humana · Ecuador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419856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07208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07208" y="3977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28616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$40–45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28616" y="3977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personal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50024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50024" y="3977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4681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"Formamos ingenieros con alma."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VIRTUS STEAM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32688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024128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01952" y="1042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536192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la educación en Ecuador integrando robótica, tecnología y valores, para que cada estudiante desarrolle las competencias del siglo XXI con acompañamiento real, planificación profesional y kits que les permitan aprender haciendo.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794760"/>
            <a:ext cx="3566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858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· Ingenio · Perseverancia · Colaboración · Empatía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932688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0F1035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024128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62472" y="1042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536192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el programa educativo STEAM más completo y humano de Ecuador — donde cada institución encuentre en VIRTUS un socio real que acompaña, capacita y crece junto a sus docentes y estudiantes, construyendo la próxima generación de innovadores latinoamericanos.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3794760"/>
            <a:ext cx="35661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858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futuro se construye hoy, en el aula, con las manos."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PEDAGÓGICO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internacionales · UNESCO · Competencias del Siglo XXI · Bloom's Taxonomy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del Siglo XXI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Alineados con UNESCO, ISTE y el Marco de Habilidades del Siglo XXI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155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INTERNACIONALES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38988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4447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6642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educación debe preparar para los empleos del futuro que aún no existen." · Agenda 2030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3134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5328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para estudiantes: Empoderado, Constructor, Diseñador, Comunicador, Ciudadano Digital.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12724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182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4Cs Framework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· Collaboration · Communication · Creativity — las 4 habilidades clave del siglo XXI.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399592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0507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42702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Desarrollo Sostenible 4: Garantizar una educación inclusiva, equitativa y de calidad.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11155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 DESARROLLA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00600" y="13898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3752" y="14630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02936" y="1463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Crítico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02936" y="17099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Analizar, cuestionar y resolver problemas complejos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00600" y="23042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73752" y="23774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2936" y="23774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02936" y="2624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equipo, roles y responsabilidad compartida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00600" y="32186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73752" y="32918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2936" y="32918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02936" y="35387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ideas técnicas con claridad y confianza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12280" y="13898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85432" y="14630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7" name="Text 35"/>
          <p:cNvSpPr/>
          <p:nvPr/>
        </p:nvSpPr>
        <p:spPr>
          <a:xfrm>
            <a:off x="6885432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14616" y="1463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e Innovación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14616" y="17099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soluciones originales a retos reales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12280" y="23042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85432" y="23774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42" name="Text 40"/>
          <p:cNvSpPr/>
          <p:nvPr/>
        </p:nvSpPr>
        <p:spPr>
          <a:xfrm>
            <a:off x="6885432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14616" y="23774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Ciudadanía Digital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14616" y="2624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ético y responsable de la tecnología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812280" y="32186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85432" y="32918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47" name="Text 45"/>
          <p:cNvSpPr/>
          <p:nvPr/>
        </p:nvSpPr>
        <p:spPr>
          <a:xfrm>
            <a:off x="688543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214616" y="32918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Alfabetización STEM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214616" y="35387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Ciencia, tecnología, ingeniería y matemáticas integradas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Comprensión a la Creación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 Bloom aplicada al aprendizaje STEAM — cada clase avanza por los tres niveles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2196F3">
              <a:alpha val="8000"/>
            </a:srgbClr>
          </a:solidFill>
          <a:ln w="12700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234440"/>
            <a:ext cx="530352" cy="53035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35608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COMPRENSIÓN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35608" y="1545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y entender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0392" y="1938528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87452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conceptos clave del nivel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0392" y="2276856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21284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cómo funciona el mecanismo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0392" y="2615184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55117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partes del kit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0392" y="2953512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88950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con sus propias palabras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0392" y="3291840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22783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con fenómenos del mundo real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0392" y="3657600"/>
            <a:ext cx="2331720" cy="0"/>
          </a:xfrm>
          <a:prstGeom prst="line">
            <a:avLst/>
          </a:prstGeom>
          <a:noFill/>
          <a:ln w="635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7124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"Entiendo que el engranaje multiplica la fuerza"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38728" y="11430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48456" y="1234440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648456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88536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88536" y="1545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y experimentar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0332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858768" y="187452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Ensamblar el kit siguiendo instrucciones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03320" y="227685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858768" y="221284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distintas configuraciones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03320" y="26151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858768" y="255117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errores y corregirlos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03320" y="29535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3858768" y="288950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proceso en la plataforma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03320" y="32918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858768" y="322783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Colaborar con su equipo para lograrlo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03320" y="3657600"/>
            <a:ext cx="2331720" cy="0"/>
          </a:xfrm>
          <a:prstGeom prst="line">
            <a:avLst/>
          </a:prstGeom>
          <a:noFill/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7124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"Construí el robot con mis manos y lo hice funcionar"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91656" y="11430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16A34A">
              <a:alpha val="8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01384" y="1234440"/>
            <a:ext cx="530352" cy="5303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6501384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41464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CREACIÓN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41464" y="1545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innovar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56248" y="193852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6711696" y="187452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mejoras al diseño original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56248" y="227685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6711696" y="221284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su propia versión del proyecto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556248" y="261518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6711696" y="255117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y defender su solución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556248" y="295351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6711696" y="288950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en la plataforma VIRTUS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56248" y="32918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4" name="Text 52"/>
          <p:cNvSpPr/>
          <p:nvPr/>
        </p:nvSpPr>
        <p:spPr>
          <a:xfrm>
            <a:off x="6711696" y="322783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RoboMisión: reto de creación libre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556248" y="3657600"/>
            <a:ext cx="2331720" cy="0"/>
          </a:xfrm>
          <a:prstGeom prst="line">
            <a:avLst/>
          </a:prstGeom>
          <a:noFill/>
          <a:ln w="635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56248" y="37124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"Diseñé mi propio robot y lo programé diferente"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364992" y="256032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199632" y="256032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Cada Clase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está diseñada para que el docente la lidere con confianza — con o sin experiencia previa en robótica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E11D48">
              <a:alpha val="10000"/>
            </a:srgbClr>
          </a:solidFill>
          <a:ln w="9525">
            <a:solidFill>
              <a:srgbClr val="E11D4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261872"/>
            <a:ext cx="438912" cy="438912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0759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ACTIVENSE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0759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1810512"/>
            <a:ext cx="1810512" cy="0"/>
          </a:xfrm>
          <a:prstGeom prst="line">
            <a:avLst/>
          </a:prstGeom>
          <a:noFill/>
          <a:ln w="6350">
            <a:solidFill>
              <a:srgbClr val="E11D48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lanza un reto o pregunta provocadora para activar la curiosidad.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E11D48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pasaría si pudieras construir un robot que funcione con el sol?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3355848"/>
            <a:ext cx="1810512" cy="0"/>
          </a:xfrm>
          <a:prstGeom prst="line">
            <a:avLst/>
          </a:prstGeom>
          <a:noFill/>
          <a:ln w="6350">
            <a:solidFill>
              <a:srgbClr val="E11D48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arranque disponible en la plataforma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3464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0" y="1261872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5643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643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26080" y="1810512"/>
            <a:ext cx="1810512" cy="0"/>
          </a:xfrm>
          <a:prstGeom prst="line">
            <a:avLst/>
          </a:prstGeom>
          <a:noFill/>
          <a:ln w="635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guiado corto para el docente: explica el concepto del día de forma visual y clara.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99923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3–5 min: ¿Cómo funciona la energía solar? ¿Qué es un motor?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926080" y="3355848"/>
            <a:ext cx="1810512" cy="0"/>
          </a:xfrm>
          <a:prstGeom prst="line">
            <a:avLst/>
          </a:prstGeom>
          <a:noFill/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no necesita saber robótica — el video lo guía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98348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16A34A">
              <a:alpha val="10000"/>
            </a:srgbClr>
          </a:solidFill>
          <a:ln w="9525">
            <a:solidFill>
              <a:srgbClr val="16A34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74920" y="126187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0527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0527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74920" y="1810512"/>
            <a:ext cx="1810512" cy="0"/>
          </a:xfrm>
          <a:prstGeom prst="line">
            <a:avLst/>
          </a:prstGeom>
          <a:noFill/>
          <a:ln w="635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construyen, programan y experimentan con su kit personal.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16A34A">
              <a:alpha val="1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14807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Ensamblaje del robot, prueba, ajustes, trabajo en equipo y registro.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74920" y="3355848"/>
            <a:ext cx="1810512" cy="0"/>
          </a:xfrm>
          <a:prstGeom prst="line">
            <a:avLst/>
          </a:prstGeom>
          <a:noFill/>
          <a:ln w="635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facilita, observa y anima — no resuelve por ellos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13232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1D4ED8">
              <a:alpha val="10000"/>
            </a:srgbClr>
          </a:solidFill>
          <a:ln w="9525">
            <a:solidFill>
              <a:srgbClr val="1D4E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23760" y="1261872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5411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EVALÚAN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5411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23760" y="1810512"/>
            <a:ext cx="1810512" cy="0"/>
          </a:xfrm>
          <a:prstGeom prst="line">
            <a:avLst/>
          </a:prstGeom>
          <a:noFill/>
          <a:ln w="635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corto en la plataforma VIRTUS + reflexión final del equipo.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2376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1D4ED8">
              <a:alpha val="1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29691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preguntas de comprensión + autoevaluación de la misión.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23760" y="3355848"/>
            <a:ext cx="1810512" cy="0"/>
          </a:xfrm>
          <a:prstGeom prst="line">
            <a:avLst/>
          </a:prstGeom>
          <a:noFill/>
          <a:ln w="6350">
            <a:solidFill>
              <a:srgbClr val="1D4ED8">
                <a:alpha val="3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disponibles para el docente en tiempo real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Docente Completa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llega listo para enseñar — el docente recibe una planificación profesional y alineada al MINEDUC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88720"/>
            <a:ext cx="73152" cy="107899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 Curricular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con Ciencias Naturales, Matemáticas, Tecnología y Artes — alineado al currículo nacional.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450592"/>
            <a:ext cx="7315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clase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Claro, medible y en lenguaje docente. ¿Qué logrará el estudiante al final de la sesión?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712464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+ Indicadores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competencia del siglo XXI listada con su indicador de logro específico y verificable.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188720"/>
            <a:ext cx="73152" cy="10789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— Diseño Universal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Adaptaciones para distintos estilos de aprendizaje: visual, kinestésico, auditivo. Inclusión real.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2450592"/>
            <a:ext cx="73152" cy="10789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materiales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892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exacta de lo que el docente necesita: kit, video, plataforma, imprimibles opcionales.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712464"/>
            <a:ext cx="73152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evaluación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la plataforma VIRTUS. 3–5 preguntas por clase. Resultados automáticos.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· Quiz · Virtualidad · RoboMisión · Seguimiento en tiempo real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Plataforma VIRTUS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ecosistema digital diseñado para que el aprendizaje no se detenga — ni en presencialidad ni en virtualidad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88720"/>
            <a:ext cx="73152" cy="1078992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Proyectos documentados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suben sus proyectos, fotos y videos. Portafolio digital de cada alumno visible para el docente.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450592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evaluación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preguntas al final de cada clase. Resultados automáticos. El docente ve quién lo entendió y quién necesita ayuda.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712464"/>
            <a:ext cx="73152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virtualidad 100%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de clases virtuales, todo el programa funciona online: videos, guías, proyectos y quiz accesibles desde casa.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188720"/>
            <a:ext cx="7315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del estudiante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docente con progreso por nivel, misiones completadas y alertas de alumnos que necesitan atención.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2450592"/>
            <a:ext cx="73152" cy="10789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Videos guía para docentes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892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tiene un video de preparación exclusivo para el docente: qué enseñar, cómo guiar, qué errores anticipar.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712464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de recursos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Planificaciones descargables, guías imprimibles, fichas de trabajo y material de apoyo siempre disponibles.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RoboMisión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gamificación que convierte cada clase en una aventura de aprendizaje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2412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1463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tu misión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6550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inicio de cada clase, el estudiante lee el reto de la misión de nivel.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2121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y experimenta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313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con su kit para completar el objetivo de la misión.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779776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27797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en plataforma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971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foto o video de su proyecto completado.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438144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3438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el quiz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630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preguntas para demostrar que entendió el concepto.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096512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" y="4096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¡Misión cumplida!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42885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su insignia y sube de rango en el sistema VIRTUS.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1430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MISIONES POR NIVEL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1417320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56048" y="1527048"/>
            <a:ext cx="274320" cy="2743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0" name="Text 28"/>
          <p:cNvSpPr/>
          <p:nvPr/>
        </p:nvSpPr>
        <p:spPr>
          <a:xfrm>
            <a:off x="5321808" y="1472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2do–3ro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21808" y="1645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Constructor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48272" y="1508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la estructura más alta sin que caiga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2020824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56048" y="213055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321808" y="20756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321808" y="2249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Solar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48272" y="21122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que tu robot camine solo con energía del sol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2624328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56048" y="2734056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5321808" y="2679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321808" y="2852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Piloto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48272" y="27157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tu robot por un circuito con obstáculos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3227832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56048" y="3337560"/>
            <a:ext cx="274320" cy="2743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5" name="Text 43"/>
          <p:cNvSpPr/>
          <p:nvPr/>
        </p:nvSpPr>
        <p:spPr>
          <a:xfrm>
            <a:off x="5321808" y="32826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321808" y="3456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Insecto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48272" y="3319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insecto más rápido del laboratorio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46320" y="3831336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56048" y="3941064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5321808" y="3886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21808" y="40599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Código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48272" y="392277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que tu robot haga 3 acciones distintas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46320" y="4434840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956048" y="4544568"/>
            <a:ext cx="274320" cy="27432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55" name="Text 53"/>
          <p:cNvSpPr/>
          <p:nvPr/>
        </p:nvSpPr>
        <p:spPr>
          <a:xfrm>
            <a:off x="5321808" y="44897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8vo–10mo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321808" y="4663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Creador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48272" y="4526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Diseña, construye y presenta tu propio invento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84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KITS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niveles · 2do a 10mo Básica · Un kit personal por cada estudiante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Escalera del Ingenio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año, el niño sube un peldaño. Cada kit, un logro nuevo.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98755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61188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2196F3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337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2do–3ro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773936" y="338328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F59E0B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73936" y="3108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73936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73936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SOLARES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862072" y="3154680"/>
            <a:ext cx="914400" cy="868680"/>
          </a:xfrm>
          <a:prstGeom prst="roundRect">
            <a:avLst>
              <a:gd name="adj" fmla="val 5263"/>
            </a:avLst>
          </a:prstGeom>
          <a:solidFill>
            <a:srgbClr val="16A34A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62072" y="2880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62072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62072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3950208" y="2926080"/>
            <a:ext cx="914400" cy="1097280"/>
          </a:xfrm>
          <a:prstGeom prst="roundRect">
            <a:avLst>
              <a:gd name="adj" fmla="val 5000"/>
            </a:avLst>
          </a:prstGeom>
          <a:solidFill>
            <a:srgbClr val="9333EA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50208" y="2651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0208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50208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BIOROBÓTICA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038344" y="2697480"/>
            <a:ext cx="914400" cy="1325880"/>
          </a:xfrm>
          <a:prstGeom prst="roundRect">
            <a:avLst>
              <a:gd name="adj" fmla="val 5000"/>
            </a:avLst>
          </a:prstGeom>
          <a:solidFill>
            <a:srgbClr val="0891B2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38344" y="2423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38344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38344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CÓDIGO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126480" y="2468880"/>
            <a:ext cx="914400" cy="1554480"/>
          </a:xfrm>
          <a:prstGeom prst="roundRect">
            <a:avLst>
              <a:gd name="adj" fmla="val 5000"/>
            </a:avLst>
          </a:prstGeom>
          <a:solidFill>
            <a:srgbClr val="FF7B42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194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MAKER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7214616" y="2240280"/>
            <a:ext cx="914400" cy="1783080"/>
          </a:xfrm>
          <a:prstGeom prst="roundRect">
            <a:avLst>
              <a:gd name="adj" fmla="val 5000"/>
            </a:avLst>
          </a:prstGeom>
          <a:solidFill>
            <a:srgbClr val="E11D48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14616" y="1965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14616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9no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14616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AUTÓNOMA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8302752" y="2011680"/>
            <a:ext cx="914400" cy="2011680"/>
          </a:xfrm>
          <a:prstGeom prst="roundRect">
            <a:avLst>
              <a:gd name="adj" fmla="val 5000"/>
            </a:avLst>
          </a:prstGeom>
          <a:solidFill>
            <a:srgbClr val="1D4ED8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02752" y="1737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02752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02752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685800" y="4032504"/>
            <a:ext cx="84124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Sin pantallas · Construcción física     Electrónica     Programación real     IoT profesional →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piezas con motor eléctrico. Engranajes grandes aptos para manos pequeñas. Sin electricidad directa, sin pantallas.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 – $8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2196F3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— 3ro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8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CONSTRUCTORES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piezas · Bloques motorizados STEM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espacial y diseño 3D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Motricidad fina y precisión manual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libre: el niño decide qué construye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máquinas simples y engranajes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y comunicación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2196F3">
              <a:alpha val="10000"/>
            </a:srgbClr>
          </a:solidFill>
          <a:ln w="9525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¡construí mi propia grúa y se mueve sola!"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piezas. 12 modelos: caminan, ruedan, giran. Panel solar incluido.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 – $6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— 10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INGENIEROS SOLARES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 1 · Robot movido por el sol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renovable: el sol como fuente de poder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Ensamblaje mecánico guiado paso a paso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causa–efecto (sol → motor → movimiento)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configuraciones distintas de robot en 1 kit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Perseverancia: construir toma 1–2 horas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mi robot no necesita pilas, ¡funciona con el sol!"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configuraciones. Control remoto incluido. Motores duales.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 – $12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11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PILOTOS REMOTOS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en 1 · Robot con control remoto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remoto: mando, dirección, respuesta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básica: motores, cables, receptores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control: si presiono esto, pasa aquello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modelos distintos para ensamblar en 1 kit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motora avanzada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16A34A">
              <a:alpha val="10000"/>
            </a:srgbClr>
          </a:solidFill>
          <a:ln w="9525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yo construí este robot y lo controlo con mis manos."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N4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ABS. Motor integrado. Patas articuladas. Movimiento autónomo.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 – $7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9333EA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12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BIOROBÓTICA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Insecto eléctrico · ABS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Biomecánica: cómo los insectos se mueven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y transmisión de fuerza mecánica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inspirado en la naturaleza (biomimética)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básica: circuito, switch, batería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científica: robot vs. insecto real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9333EA">
              <a:alpha val="10000"/>
            </a:srgbClr>
          </a:solidFill>
          <a:ln w="9525">
            <a:solidFill>
              <a:srgbClr val="9333EA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hice un insecto robot que camina solo en la mesa."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N5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micro:bit o compatible. Sensores de luz, sonido y temperatura. Compatible con Scratch.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 – $14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13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CÓDIGO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programación inicial escolar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visual (bloques tipo Scratch)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lógico: secuencias, bucles, condiciones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variables y eventos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código mueve el robot (conexión hw-sw)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Depuración: encontrar y corregir errores propios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0891B2">
              <a:alpha val="10000"/>
            </a:srgbClr>
          </a:solidFill>
          <a:ln w="9525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programé que la luz se encienda cuando le digo hola."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N6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+ 37 módulos. Cables, protoboard, LEDs, buzzer. Tutorial incluido.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 – $14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F7B42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14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MAKER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· 37 sensores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en C++ real (lenguaje profesional)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sensores: luz, temperatura, ultrasonido...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circuitos eléctricos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reales: alarmas, detectores, displays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científico: hipótesis → código → prueba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F7B42">
              <a:alpha val="10000"/>
            </a:srgbClr>
          </a:solidFill>
          <a:ln w="9525">
            <a:solidFill>
              <a:srgbClr val="FF7B42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hice un detector que suena cuando alguien se acerca."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N7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Chasis 4WD. Sensor HC-SR04 ultrasonido. Sensor IR. Arduino + L298N.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 – $18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9no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15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ROBÓTICA AUTÓNOMA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Robot 4WD · Autónomo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 autónoma: el robot decide solo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ultrasónico: detección de obstáculos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seguidor de línea: navegación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control y lógica condicional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Integración: mecánica + electrónica + código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E11D48">
              <a:alpha val="10000"/>
            </a:srgbClr>
          </a:solidFill>
          <a:ln w="9525">
            <a:solidFill>
              <a:srgbClr val="E11D48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mi carro robot sigue la línea y esquiva obstáculos solo."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02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284378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89504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DevKit. Sensores DHT22, LDR. Relé. Dashboard desde navegador. Sin suscripción.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39776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 – $20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12848" y="3977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1284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 – $45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16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DE LAS COSAS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WiFi · Proyectos IoT reales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 conectar el mundo físico a internet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WiFi y Bluetooth con ESP32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 desde cualquier celular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ambientales: temperatura, humedad...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y jardín inteligente como proyecto final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1D4ED8">
              <a:alpha val="10000"/>
            </a:srgbClr>
          </a:solidFill>
          <a:ln w="9525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encendí la luz de tu cuarto desde mi celular."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IMPLEMENTACIÓN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Impresoras 3D · Club de Robótica · Realidad Virtual en Año 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del Laboratorio STEAM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no solo entrega kits — diseña e implementa el espacio donde el aprendizaje ocurre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70432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70432"/>
            <a:ext cx="73152" cy="1170432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de trabajo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estaciones de trabajo en equipo, cada una equipada para 3–4 estudiantes con su kit y espacio de construcción.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523744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523744"/>
            <a:ext cx="7315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615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Ambientación VIRTUS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907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Señalética, motivación visual, reglas del laboratorio y cartelería temática por nivel educativo.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1170432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170432"/>
            <a:ext cx="73152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de presentaciones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38928" y="15544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frontal para que los equipos presenten sus proyectos, fortaleciendo comunicación y confianza.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2523744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523744"/>
            <a:ext cx="73152" cy="1170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2615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Almacenamiento organizado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2907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cajas y estantes por nivel y grado. Los kits tienen su lugar — el orden también es parte del aprendizaje.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39136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F2A5E">
              <a:alpha val="12000"/>
            </a:srgbClr>
          </a:solidFill>
          <a:ln w="9525">
            <a:solidFill>
              <a:srgbClr val="0F2A5E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005072"/>
            <a:ext cx="548640" cy="54864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3977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Impresoras 3D por laboratorio: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08760" y="4224528"/>
            <a:ext cx="7242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no solo ensamblan — también diseñan e imprimen sus propias piezas. Desde 8vo básica, el laboratorio cuenta con 2 impresoras 3D que abren un universo de creación: carcasas para robots, piezas personalizadas, prototipos originales. La fabricación digital como competencia real del siglo XXI.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Allá del Aula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896112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987552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01952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 de Robótica VIRTUS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extracurricular para los estudiantes que quieren ir más lejos — sin límite de creatividad.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0116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libres con mentoría VIRTUS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246888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3957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olimpiadas nacionales de robótica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2852928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779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 de ciencias e innovación interna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36976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1638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entre grados y niveles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362102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5478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digital para universidades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4096512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F7B42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133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club es el semillero de los futuros innovadores de Ecuador.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896112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0F2A5E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987552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62472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Año 3: Realidad Virtual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1417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tercer año de alianza, VIRTUS dota el laboratorio con tecnología de realidad virtual — sin costo adicional para la institución.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10312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21396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VR por laboratorio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66360" y="23500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Lentes de realidad virtual para exploración inmersiva en grupo.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2670048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27066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virtuales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66360" y="29169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Disecciones, expediciones científicas, ingeniería digital en 3D.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3236976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32735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educativos virtuales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66360" y="34838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visita el espacio, el fondo del mar, los volcanes.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0" y="3803904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38404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diseño 3D + VR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166360" y="40507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diseñan entornos virtuales como proyecto final.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0" y="4370832"/>
            <a:ext cx="35661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alianza que crece contigo — cada año, más tecnología.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ACOMPAÑAMIENTO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asignado · Capacitación docente · No los dejamos solos nunca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Acompañamiento Total VIRTUS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institución tiene un Coach VIRTUS asignado — una persona real que los conoce, los visita y nunca los deja solos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4C1D95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261872"/>
            <a:ext cx="530352" cy="53035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261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93392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Coach VIRTUS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profesional asignado exclusivamente a tu institución.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15798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08483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presenciales a las 3 sedes del colegio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2505456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43230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directo — respuesta en menos de 24 horas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2852928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77977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de seguimiento mensuales con coordinadores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320040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12724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avance por nivel y por estudiante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3547872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4747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en problemas técnicos y pedagógicos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8680" y="389534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82219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nunca tiene que resolver solo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8680" y="4160520"/>
            <a:ext cx="3566160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206240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capacitamos y nos vamos. Estamos aquí todo el año."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1430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261872"/>
            <a:ext cx="530352" cy="53035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261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53912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Docente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Formamos a los docentes para que lideren con confianza.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21396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0848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año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0" y="23042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completa de 2 días — pedagogía STEAM, manejo del kit, uso de la plataforma.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25968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2542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mensual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03520" y="2761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de 1 hora con novedades, tips y resolución de dudas en grupo.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0" y="30540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2999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por clase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0" y="32186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tiene un video de preparación exclusivo para el docente.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0" y="35112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0" y="3456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 docente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0" y="3675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editable y descargable con todo lo que necesita para cada nivel.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39684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0" y="39136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VIRTUS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03520" y="4133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docentes VIRTUS en todo Ecuador — comparten, aprenden y crecen juntos.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4325112"/>
            <a:ext cx="3566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4370832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docente seguro, forma estudiantes seguros."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institución recibe el programa completo sin costo. Los kits son propiedad del estudiante.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3327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con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$40–$45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personal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(precio al alumno)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$48,000+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7804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898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RECIBE LA INSTITUCIÓN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3145536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2841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10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6012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asignado a la institución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20440" y="332841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310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9476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docente inicio + mensual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332841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310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62940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presenciales a las 3 sedes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371246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6012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Planificaciones + recursos listos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20440" y="371246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79476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+ quiz + virtualidad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55080" y="371246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62940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RoboMisión + Club de Robótica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5800" y="4096512"/>
            <a:ext cx="182880" cy="18288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078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6012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impresoras 3D por laboratorio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20440" y="4096512"/>
            <a:ext cx="182880" cy="18288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4078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79476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laboratorio STEAM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4096512"/>
            <a:ext cx="182880" cy="18288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4078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62940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3: Realidad Virtual dotada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5486400" cy="5486400"/>
          </a:xfrm>
          <a:prstGeom prst="ellipse">
            <a:avLst/>
          </a:prstGeom>
          <a:solidFill>
            <a:srgbClr val="FF7B42">
              <a:alpha val="8000"/>
            </a:srgbClr>
          </a:solidFill>
          <a:ln w="12700">
            <a:solidFill>
              <a:srgbClr val="FF7B4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444752"/>
            <a:ext cx="8046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enseñamos robótica.
</a:t>
            </a:r>
            <a:pPr indent="0" marL="0">
              <a:buNone/>
            </a:pPr>
            <a:r>
              <a:rPr lang="en-US" sz="37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Formamos </a:t>
            </a:r>
            <a:pPr indent="0" marL="0">
              <a:buNone/>
            </a:pPr>
            <a:r>
              <a:rPr lang="en-US" sz="37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ingenieros con alma.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685800" y="3547872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"Tenemos el deber urgente de permanecer profundamente humanos."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39136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León XIV · Magnifica Humanitas · §15 ·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contacto@virtussteam.edu.ec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VIRTUS STEAM — Programa Educativo Completo</dc:title>
  <dc:subject>PptxGenJS Presentation</dc:subject>
  <dc:creator>VIRTUS STEAM</dc:creator>
  <cp:lastModifiedBy>VIRTUS STEAM</cp:lastModifiedBy>
  <cp:revision>1</cp:revision>
  <dcterms:created xsi:type="dcterms:W3CDTF">2026-06-29T21:40:27Z</dcterms:created>
  <dcterms:modified xsi:type="dcterms:W3CDTF">2026-06-29T21:40:27Z</dcterms:modified>
</cp:coreProperties>
</file>