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280160"/>
            <a:ext cx="4572000" cy="4572000"/>
          </a:xfrm>
          <a:prstGeom prst="ellipse">
            <a:avLst/>
          </a:prstGeom>
          <a:solidFill>
            <a:srgbClr val="FF7B42">
              <a:alpha val="8000"/>
            </a:srgbClr>
          </a:solidFill>
          <a:ln w="12700">
            <a:solidFill>
              <a:srgbClr val="FF7B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731520"/>
            <a:ext cx="2926080" cy="2926080"/>
          </a:xfrm>
          <a:prstGeom prst="ellipse">
            <a:avLst/>
          </a:prstGeom>
          <a:solidFill>
            <a:srgbClr val="FF7B42">
              <a:alpha val="15000"/>
            </a:srgbClr>
          </a:solidFill>
          <a:ln w="12700">
            <a:solidFill>
              <a:srgbClr val="FF7B42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 STEAM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Educativo
</a:t>
            </a:r>
            <a:pPr indent="0" marL="0">
              <a:buNone/>
            </a:pPr>
            <a:r>
              <a:rPr lang="en-US" sz="48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Integral STEAM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3044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Robótica · Innovación · Formación humana · Ecuador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419856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39776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07208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07208" y="39776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28616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$40–45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28616" y="39776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personal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050024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050024" y="39776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46817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"Formamos ingenieros con alma."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 VIRTUS STEAM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932688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024128"/>
            <a:ext cx="457200" cy="45720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01952" y="10424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536192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la educación en Ecuador integrando robótica, tecnología y valores, para que cada estudiante desarrolle las competencias del siglo XXI con acompañamiento real, planificación profesional y kits que les permitan aprender haciendo.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794760"/>
            <a:ext cx="3566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8587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· Ingenio · Perseverancia · Colaboración · Empatía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932688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0F1035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1024128"/>
            <a:ext cx="457200" cy="45720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62472" y="10424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1536192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el programa educativo STEAM más completo y humano de Ecuador — donde cada institución encuentre en VIRTUS un socio real que acompaña, capacita y crece junto a sus docentes y estudiantes, construyendo la próxima generación de innovadores latinoamericanos.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3794760"/>
            <a:ext cx="356616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8587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futuro se construye hoy, en el aula, con las manos."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PEDAGÓGICO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internacionales · UNESCO · Competencias del Siglo XXI · Bloom's Taxonomy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del Siglo XXI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Alineados con UNESCO, ISTE y el Marco de Habilidades del Siglo XXI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155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REFERENTES INTERNACIONALES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389888"/>
            <a:ext cx="3913632" cy="73152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4447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6642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educación debe preparar para los empleos del futuro que aún no existen." · Agenda 2030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2258568"/>
            <a:ext cx="3913632" cy="73152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3134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25328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para estudiantes: Empoderado, Constructor, Diseñador, Comunicador, Ciudadano Digital.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3127248"/>
            <a:ext cx="3913632" cy="73152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182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4Cs Framework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34015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 · Collaboration · Communication · Creativity — las 4 habilidades clave del siglo XXI.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3995928"/>
            <a:ext cx="3913632" cy="73152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0507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42702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Desarrollo Sostenible 4: Garantizar una educación inclusiva, equitativa y de calidad.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11155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 STEAM DESARROLLA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800600" y="138988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73752" y="1463040"/>
            <a:ext cx="256032" cy="25603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2" name="Text 20"/>
          <p:cNvSpPr/>
          <p:nvPr/>
        </p:nvSpPr>
        <p:spPr>
          <a:xfrm>
            <a:off x="4873752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02936" y="14630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Crítico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202936" y="17099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Analizar, cuestionar y resolver problemas complejos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800600" y="230428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73752" y="2377440"/>
            <a:ext cx="256032" cy="25603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7" name="Text 25"/>
          <p:cNvSpPr/>
          <p:nvPr/>
        </p:nvSpPr>
        <p:spPr>
          <a:xfrm>
            <a:off x="4873752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02936" y="23774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202936" y="26243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equipo, roles y responsabilidad compartida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00600" y="321868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73752" y="3291840"/>
            <a:ext cx="256032" cy="25603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32" name="Text 30"/>
          <p:cNvSpPr/>
          <p:nvPr/>
        </p:nvSpPr>
        <p:spPr>
          <a:xfrm>
            <a:off x="4873752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02936" y="32918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02936" y="35387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ideas técnicas con claridad y confianza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812280" y="138988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85432" y="1463040"/>
            <a:ext cx="256032" cy="25603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37" name="Text 35"/>
          <p:cNvSpPr/>
          <p:nvPr/>
        </p:nvSpPr>
        <p:spPr>
          <a:xfrm>
            <a:off x="6885432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214616" y="14630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Creatividad e Innovación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14616" y="17099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soluciones originales a retos reales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812280" y="230428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85432" y="2377440"/>
            <a:ext cx="256032" cy="25603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42" name="Text 40"/>
          <p:cNvSpPr/>
          <p:nvPr/>
        </p:nvSpPr>
        <p:spPr>
          <a:xfrm>
            <a:off x="6885432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14616" y="23774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Ciudadanía Digital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214616" y="26243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ético y responsable de la tecnología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812280" y="321868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85432" y="3291840"/>
            <a:ext cx="256032" cy="25603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47" name="Text 45"/>
          <p:cNvSpPr/>
          <p:nvPr/>
        </p:nvSpPr>
        <p:spPr>
          <a:xfrm>
            <a:off x="6885432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214616" y="32918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Alfabetización STEM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214616" y="35387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Ciencia, tecnología, ingeniería y matemáticas integradas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Comprensión a la Creación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de Bloom aplicada al aprendizaje STEAM — cada clase avanza por los tres niveles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4300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2196F3">
              <a:alpha val="8000"/>
            </a:srgbClr>
          </a:solidFill>
          <a:ln w="12700">
            <a:solidFill>
              <a:srgbClr val="2196F3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1234440"/>
            <a:ext cx="530352" cy="53035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234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35608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COMPRENSIÓN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35608" y="15453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y entender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0392" y="1938528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874520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 conceptos clave del nivel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50392" y="2276856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212848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cómo funciona el mecanismo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50392" y="2615184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55117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las partes del kit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0392" y="2953512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889504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con sus propias palabras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0392" y="3291840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227832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con fenómenos del mundo real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50392" y="3657600"/>
            <a:ext cx="2331720" cy="0"/>
          </a:xfrm>
          <a:prstGeom prst="line">
            <a:avLst/>
          </a:prstGeom>
          <a:noFill/>
          <a:ln w="6350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71246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"Entiendo que el engranaje multiplica la fuerza"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38728" y="114300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48456" y="1234440"/>
            <a:ext cx="530352" cy="5303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648456" y="1234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88536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88536" y="15453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y experimentar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03320" y="1938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3858768" y="1874520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Ensamblar el kit siguiendo instrucciones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03320" y="227685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3858768" y="2212848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distintas configuraciones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03320" y="261518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3858768" y="255117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errores y corregirlos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03320" y="295351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3858768" y="2889504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el proceso en la plataforma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703320" y="32918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3858768" y="3227832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Colaborar con su equipo para lograrlo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03320" y="3657600"/>
            <a:ext cx="2331720" cy="0"/>
          </a:xfrm>
          <a:prstGeom prst="line">
            <a:avLst/>
          </a:prstGeom>
          <a:noFill/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03320" y="371246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"Construí el robot con mis manos y lo hice funcionar"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91656" y="114300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16A34A">
              <a:alpha val="8000"/>
            </a:srgbClr>
          </a:solidFill>
          <a:ln w="12700">
            <a:solidFill>
              <a:srgbClr val="16A34A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01384" y="1234440"/>
            <a:ext cx="530352" cy="5303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2" name="Text 40"/>
          <p:cNvSpPr/>
          <p:nvPr/>
        </p:nvSpPr>
        <p:spPr>
          <a:xfrm>
            <a:off x="6501384" y="1234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41464" y="1252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CREACIÓN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141464" y="15453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innovar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556248" y="193852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6711696" y="1874520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mejoras al diseño original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556248" y="227685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6711696" y="2212848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su propia versión del proyecto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556248" y="261518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0" name="Text 48"/>
          <p:cNvSpPr/>
          <p:nvPr/>
        </p:nvSpPr>
        <p:spPr>
          <a:xfrm>
            <a:off x="6711696" y="2551176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y defender su solución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556248" y="295351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2" name="Text 50"/>
          <p:cNvSpPr/>
          <p:nvPr/>
        </p:nvSpPr>
        <p:spPr>
          <a:xfrm>
            <a:off x="6711696" y="2889504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en la plataforma VIRTUS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56248" y="32918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4" name="Text 52"/>
          <p:cNvSpPr/>
          <p:nvPr/>
        </p:nvSpPr>
        <p:spPr>
          <a:xfrm>
            <a:off x="6711696" y="3227832"/>
            <a:ext cx="2267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RoboMisión: reto de creación libre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556248" y="3657600"/>
            <a:ext cx="2331720" cy="0"/>
          </a:xfrm>
          <a:prstGeom prst="line">
            <a:avLst/>
          </a:prstGeom>
          <a:noFill/>
          <a:ln w="635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56248" y="371246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"Diseñé mi propio robot y lo programé diferente"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364992" y="256032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199632" y="256032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Cada Clase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sesión está diseñada para que el docente la lidere con confianza — con o sin experiencia previa en robótica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70432"/>
            <a:ext cx="1993392" cy="3703320"/>
          </a:xfrm>
          <a:prstGeom prst="roundRect">
            <a:avLst>
              <a:gd name="adj" fmla="val 3670"/>
            </a:avLst>
          </a:prstGeom>
          <a:solidFill>
            <a:srgbClr val="E11D48">
              <a:alpha val="10000"/>
            </a:srgbClr>
          </a:solidFill>
          <a:ln w="9525">
            <a:solidFill>
              <a:srgbClr val="E11D4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261872"/>
            <a:ext cx="438912" cy="438912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07592" y="1280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ACTIVENSE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07592" y="15361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1810512"/>
            <a:ext cx="1810512" cy="0"/>
          </a:xfrm>
          <a:prstGeom prst="line">
            <a:avLst/>
          </a:prstGeom>
          <a:noFill/>
          <a:ln w="6350">
            <a:solidFill>
              <a:srgbClr val="E11D48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865376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lanza un reto o pregunta provocadora para activar la curiosidad.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2606040"/>
            <a:ext cx="1810512" cy="685800"/>
          </a:xfrm>
          <a:prstGeom prst="roundRect">
            <a:avLst>
              <a:gd name="adj" fmla="val 6667"/>
            </a:avLst>
          </a:prstGeom>
          <a:solidFill>
            <a:srgbClr val="E11D48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" y="26334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pasaría si pudieras construir un robot que funcione con el sol?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3355848"/>
            <a:ext cx="1810512" cy="0"/>
          </a:xfrm>
          <a:prstGeom prst="line">
            <a:avLst/>
          </a:prstGeom>
          <a:noFill/>
          <a:ln w="6350">
            <a:solidFill>
              <a:srgbClr val="E11D48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01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arranque disponible en la plataforma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834640" y="1170432"/>
            <a:ext cx="1993392" cy="3703320"/>
          </a:xfrm>
          <a:prstGeom prst="roundRect">
            <a:avLst>
              <a:gd name="adj" fmla="val 3670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0" y="1261872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56432" y="1280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56432" y="15361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26080" y="1810512"/>
            <a:ext cx="1810512" cy="0"/>
          </a:xfrm>
          <a:prstGeom prst="line">
            <a:avLst/>
          </a:prstGeom>
          <a:noFill/>
          <a:ln w="635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1865376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guiado corto para el docente: explica el concepto del día de forma visual y clara.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0" y="2606040"/>
            <a:ext cx="1810512" cy="685800"/>
          </a:xfrm>
          <a:prstGeom prst="roundRect">
            <a:avLst>
              <a:gd name="adj" fmla="val 6667"/>
            </a:avLst>
          </a:prstGeom>
          <a:solidFill>
            <a:srgbClr val="F59E0B">
              <a:alpha val="1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999232" y="26334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3–5 min: ¿Cómo funciona la energía solar? ¿Qué es un motor?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926080" y="3355848"/>
            <a:ext cx="1810512" cy="0"/>
          </a:xfrm>
          <a:prstGeom prst="line">
            <a:avLst/>
          </a:prstGeom>
          <a:noFill/>
          <a:ln w="635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3401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no necesita saber robótica — el video lo guía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983480" y="1170432"/>
            <a:ext cx="1993392" cy="3703320"/>
          </a:xfrm>
          <a:prstGeom prst="roundRect">
            <a:avLst>
              <a:gd name="adj" fmla="val 3670"/>
            </a:avLst>
          </a:prstGeom>
          <a:solidFill>
            <a:srgbClr val="16A34A">
              <a:alpha val="10000"/>
            </a:srgbClr>
          </a:solidFill>
          <a:ln w="9525">
            <a:solidFill>
              <a:srgbClr val="16A34A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74920" y="1261872"/>
            <a:ext cx="438912" cy="43891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05272" y="1280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05272" y="15361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74920" y="1810512"/>
            <a:ext cx="1810512" cy="0"/>
          </a:xfrm>
          <a:prstGeom prst="line">
            <a:avLst/>
          </a:prstGeom>
          <a:noFill/>
          <a:ln w="6350">
            <a:solidFill>
              <a:srgbClr val="16A34A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1865376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construyen, programan y experimentan con su kit personal.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74920" y="2606040"/>
            <a:ext cx="1810512" cy="685800"/>
          </a:xfrm>
          <a:prstGeom prst="roundRect">
            <a:avLst>
              <a:gd name="adj" fmla="val 6667"/>
            </a:avLst>
          </a:prstGeom>
          <a:solidFill>
            <a:srgbClr val="16A34A">
              <a:alpha val="1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148072" y="26334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Ensamblaje del robot, prueba, ajustes, trabajo en equipo y registro.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74920" y="3355848"/>
            <a:ext cx="1810512" cy="0"/>
          </a:xfrm>
          <a:prstGeom prst="line">
            <a:avLst/>
          </a:prstGeom>
          <a:noFill/>
          <a:ln w="6350">
            <a:solidFill>
              <a:srgbClr val="16A34A">
                <a:alpha val="3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3401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facilita, observa y anima — no resuelve por ellos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132320" y="1170432"/>
            <a:ext cx="1993392" cy="3703320"/>
          </a:xfrm>
          <a:prstGeom prst="roundRect">
            <a:avLst>
              <a:gd name="adj" fmla="val 3670"/>
            </a:avLst>
          </a:prstGeom>
          <a:solidFill>
            <a:srgbClr val="1D4ED8">
              <a:alpha val="10000"/>
            </a:srgbClr>
          </a:solidFill>
          <a:ln w="9525">
            <a:solidFill>
              <a:srgbClr val="1D4ED8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223760" y="1261872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41" name="Text 39"/>
          <p:cNvSpPr/>
          <p:nvPr/>
        </p:nvSpPr>
        <p:spPr>
          <a:xfrm>
            <a:off x="722376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54112" y="1280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EVALÚAN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54112" y="15361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223760" y="1810512"/>
            <a:ext cx="1810512" cy="0"/>
          </a:xfrm>
          <a:prstGeom prst="line">
            <a:avLst/>
          </a:prstGeom>
          <a:noFill/>
          <a:ln w="6350">
            <a:solidFill>
              <a:srgbClr val="1D4ED8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1865376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corto en la plataforma VIRTUS + reflexión final del equipo.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23760" y="2606040"/>
            <a:ext cx="1810512" cy="685800"/>
          </a:xfrm>
          <a:prstGeom prst="roundRect">
            <a:avLst>
              <a:gd name="adj" fmla="val 6667"/>
            </a:avLst>
          </a:prstGeom>
          <a:solidFill>
            <a:srgbClr val="1D4ED8">
              <a:alpha val="1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296912" y="2633472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preguntas de comprensión + autoevaluación de la misión.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223760" y="3355848"/>
            <a:ext cx="1810512" cy="0"/>
          </a:xfrm>
          <a:prstGeom prst="line">
            <a:avLst/>
          </a:prstGeom>
          <a:noFill/>
          <a:ln w="6350">
            <a:solidFill>
              <a:srgbClr val="1D4ED8">
                <a:alpha val="3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23760" y="34015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disponibles para el docente en tiempo real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Docente Completa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nivel llega listo para enseñar — el docente recibe una planificación profesional y alineada al MINEDUC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88720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188720"/>
            <a:ext cx="73152" cy="107899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 Curricular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1554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con Ciencias Naturales, Matemáticas, Tecnología y Artes — alineado al currículo nacional.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450592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450592"/>
            <a:ext cx="73152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clase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28163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Claro, medible y en lenguaje docente. ¿Qué logrará el estudiante al final de la sesión?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3712464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712464"/>
            <a:ext cx="73152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803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+ Indicadores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" y="40782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competencia del siglo XXI listada con su indicador de logro específico y verificable.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1188720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1188720"/>
            <a:ext cx="73152" cy="107899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— Diseño Universal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38928" y="1554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Adaptaciones para distintos estilos de aprendizaje: visual, kinestésico, auditivo. Inclusión real.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450592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2450592"/>
            <a:ext cx="73152" cy="10789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materiales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38928" y="28163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exacta de lo que el docente necesita: kit, video, plataforma, imprimibles opcionales.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37760" y="3712464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3712464"/>
            <a:ext cx="73152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3803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evaluación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38928" y="40782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 la plataforma VIRTUS. 3–5 preguntas por clase. Resultados automáticos.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· Quiz · Virtualidad · RoboMisión · Seguimiento en tiempo real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Plataforma VIRTUS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ecosistema digital diseñado para que el aprendizaje no se detenga — ni en presencialidad ni en virtualidad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88720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188720"/>
            <a:ext cx="73152" cy="1078992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Proyectos documentados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1554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suben sus proyectos, fotos y videos. Portafolio digital de cada alumno visible para el docente.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450592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450592"/>
            <a:ext cx="73152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evaluación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28163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preguntas al final de cada clase. Resultados automáticos. El docente ve quién lo entendió y quién necesita ayuda.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3712464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712464"/>
            <a:ext cx="73152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803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Modo virtualidad 100%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" y="40782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de clases virtuales, todo el programa funciona online: videos, guías, proyectos y quiz accesibles desde casa.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1188720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1188720"/>
            <a:ext cx="73152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del estudiante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38928" y="1554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docente con progreso por nivel, misiones completadas y alertas de alumnos que necesitan atención.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450592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2450592"/>
            <a:ext cx="73152" cy="10789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Videos guía para docentes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38928" y="28163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tiene un video de preparación exclusivo para el docente: qué enseñar, cómo guiar, qué errores anticipar.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37760" y="3712464"/>
            <a:ext cx="4069080" cy="1078992"/>
          </a:xfrm>
          <a:prstGeom prst="roundRect">
            <a:avLst>
              <a:gd name="adj" fmla="val 67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3712464"/>
            <a:ext cx="73152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3803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 de recursos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38928" y="40782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Planificaciones descargables, guías imprimibles, fichas de trabajo y material de apoyo siempre disponibles.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RoboMisión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gamificación que convierte cada clase en una aventura de aprendizaje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2412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347472" cy="34747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" y="1463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tu misión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16550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inicio de cada clase, el estudiante lee el reto de la misión de nivel.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347472" cy="34747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21214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y experimenta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23134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con su kit para completar el objetivo de la misión.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2779776"/>
            <a:ext cx="347472" cy="34747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27797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en plataforma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2971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foto o video de su proyecto completado.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3438144"/>
            <a:ext cx="347472" cy="34747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34381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el quiz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36301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preguntas para demostrar que entendió el concepto.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096512"/>
            <a:ext cx="347472" cy="34747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" y="40965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¡Misión cumplida!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" y="42885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su insignia y sube de rango en el sistema VIRTUS.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114300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MISIONES POR NIVEL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46320" y="1417320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56048" y="1527048"/>
            <a:ext cx="274320" cy="27432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30" name="Text 28"/>
          <p:cNvSpPr/>
          <p:nvPr/>
        </p:nvSpPr>
        <p:spPr>
          <a:xfrm>
            <a:off x="5321808" y="1472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2do–3ro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321808" y="1645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Constructor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48272" y="1508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la estructura más alta sin que caiga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2020824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56048" y="213055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321808" y="20756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4to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321808" y="22494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Solar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48272" y="211226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que tu robot camine solo con energía del sol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46320" y="2624328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56048" y="2734056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0" name="Text 38"/>
          <p:cNvSpPr/>
          <p:nvPr/>
        </p:nvSpPr>
        <p:spPr>
          <a:xfrm>
            <a:off x="5321808" y="2679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5to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321808" y="2852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Piloto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48272" y="27157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 tu robot por un circuito con obstáculos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46320" y="3227832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956048" y="3337560"/>
            <a:ext cx="274320" cy="27432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45" name="Text 43"/>
          <p:cNvSpPr/>
          <p:nvPr/>
        </p:nvSpPr>
        <p:spPr>
          <a:xfrm>
            <a:off x="5321808" y="32826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6to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321808" y="34564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Dino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748272" y="33192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robot insecto más rápido del laboratorio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46320" y="3831336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956048" y="3941064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0" name="Text 48"/>
          <p:cNvSpPr/>
          <p:nvPr/>
        </p:nvSpPr>
        <p:spPr>
          <a:xfrm>
            <a:off x="5321808" y="3886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321808" y="40599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Código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48272" y="392277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que tu robot haga 3 acciones distintas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46320" y="4434840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956048" y="4544568"/>
            <a:ext cx="274320" cy="27432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55" name="Text 53"/>
          <p:cNvSpPr/>
          <p:nvPr/>
        </p:nvSpPr>
        <p:spPr>
          <a:xfrm>
            <a:off x="5321808" y="44897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8vo–10mo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321808" y="4663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Creador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748272" y="45262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Diseña, construye y presenta tu propio invento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84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KITS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niveles · 2do a 10mo Básica · Un kit personal por cada estudiante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Escalera del Ingenio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año, el niño sube un peldaño. Cada kit, un logro nuevo.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987552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3611880"/>
            <a:ext cx="914400" cy="411480"/>
          </a:xfrm>
          <a:prstGeom prst="roundRect">
            <a:avLst>
              <a:gd name="adj" fmla="val 11111"/>
            </a:avLst>
          </a:prstGeom>
          <a:solidFill>
            <a:srgbClr val="2196F3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3375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2do–3ro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CONSTRUCTORES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1773936" y="3383280"/>
            <a:ext cx="914400" cy="640080"/>
          </a:xfrm>
          <a:prstGeom prst="roundRect">
            <a:avLst>
              <a:gd name="adj" fmla="val 7143"/>
            </a:avLst>
          </a:prstGeom>
          <a:solidFill>
            <a:srgbClr val="F59E0B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73936" y="31089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73936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73936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SOLARES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862072" y="3154680"/>
            <a:ext cx="914400" cy="868680"/>
          </a:xfrm>
          <a:prstGeom prst="roundRect">
            <a:avLst>
              <a:gd name="adj" fmla="val 5263"/>
            </a:avLst>
          </a:prstGeom>
          <a:solidFill>
            <a:srgbClr val="16A34A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62072" y="28803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62072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62072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PILOTOS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3950208" y="2926080"/>
            <a:ext cx="914400" cy="1097280"/>
          </a:xfrm>
          <a:prstGeom prst="roundRect">
            <a:avLst>
              <a:gd name="adj" fmla="val 5000"/>
            </a:avLst>
          </a:prstGeom>
          <a:solidFill>
            <a:srgbClr val="9333EA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50208" y="26517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50208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50208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DINOROBÓTICA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038344" y="2697480"/>
            <a:ext cx="914400" cy="1325880"/>
          </a:xfrm>
          <a:prstGeom prst="roundRect">
            <a:avLst>
              <a:gd name="adj" fmla="val 5000"/>
            </a:avLst>
          </a:prstGeom>
          <a:solidFill>
            <a:srgbClr val="0891B2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38344" y="24231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38344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38344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CÓDIGO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6126480" y="2468880"/>
            <a:ext cx="914400" cy="1554480"/>
          </a:xfrm>
          <a:prstGeom prst="roundRect">
            <a:avLst>
              <a:gd name="adj" fmla="val 5000"/>
            </a:avLst>
          </a:prstGeom>
          <a:solidFill>
            <a:srgbClr val="FF7B42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21945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8vo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26480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MAKER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7214616" y="2240280"/>
            <a:ext cx="914400" cy="1783080"/>
          </a:xfrm>
          <a:prstGeom prst="roundRect">
            <a:avLst>
              <a:gd name="adj" fmla="val 5000"/>
            </a:avLst>
          </a:prstGeom>
          <a:solidFill>
            <a:srgbClr val="E11D48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14616" y="19659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14616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9no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214616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BRAZO ROBÓTICO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8302752" y="2011680"/>
            <a:ext cx="914400" cy="2011680"/>
          </a:xfrm>
          <a:prstGeom prst="roundRect">
            <a:avLst>
              <a:gd name="adj" fmla="val 5000"/>
            </a:avLst>
          </a:prstGeom>
          <a:solidFill>
            <a:srgbClr val="1D4ED8">
              <a:alpha val="88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302752" y="17373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02752" y="4059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302752" y="4270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BAILARÍN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685800" y="4032504"/>
            <a:ext cx="84124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Sin pantallas · Construcción física     Electrónica     Programación real     Mecatrónica →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N1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868680"/>
            <a:ext cx="301752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246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343814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493008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piezas con motor eléctrico. Engranajes grandes aptos para manos pequeñas. Sin electricidad directa, sin pantallas.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434340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3891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58368" y="45537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 – $8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212848" y="434340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2196F3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389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2212848" y="4553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 — 3ro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8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CONSTRUCTORES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piezas · Bloques motorizados STEM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espacial y diseño 3D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Motricidad fina y precisión manual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Creatividad libre: el niño decide qué construye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máquinas simples y engranajes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 y comunicación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2196F3">
              <a:alpha val="10000"/>
            </a:srgbClr>
          </a:solidFill>
          <a:ln w="9525">
            <a:solidFill>
              <a:srgbClr val="2196F3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¡construí mi propia grúa y se mueve sola!"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N2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868680"/>
            <a:ext cx="301752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246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343814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493008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piezas. 12 modelos: caminan, ruedan, giran. Panel solar incluido. Funciona también con linterna.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434340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3891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58368" y="45537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 – $6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212848" y="434340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389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2212848" y="4553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— 10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INGENIEROS SOLARES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 1 · Robot movido por el sol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renovable: el sol como fuente de poder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Ensamblaje mecánico guiado paso a paso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causa–efecto (sol → motor → movimiento)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configuraciones distintas de robot en 1 kit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Perseverancia: construir toma 1–2 horas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mi robot no necesita pilas, ¡funciona con el sol!"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N3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868680"/>
            <a:ext cx="301752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246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343814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493008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configuraciones. Control remoto incluido. El estudiante construye Y opera el robot. Motores duales.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434340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3891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58368" y="45537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 – $12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212848" y="434340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16A34A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389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2212848" y="4553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11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PILOTOS REMOTOS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en 1 · Robot con control remoto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remoto: mando, dirección, respuesta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 básica: motores, cables, receptores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control: si presiono esto, pasa aquello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modelos distintos para ensamblar en 1 kit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motora avanzada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16A34A">
              <a:alpha val="10000"/>
            </a:srgbClr>
          </a:solidFill>
          <a:ln w="9525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yo construí este robot y lo controlo con mis manos."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N4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868680"/>
            <a:ext cx="301752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246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343814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493008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ABS plástico. Motor integrado. Patas articuladas. Movimiento autónomo al encender. 4 pilas AA.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434340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3891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58368" y="45537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 – $7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212848" y="434340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9333EA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389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2212848" y="4553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12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DINOROBÓTICA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Insecto eléctrico · ABS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Biomecánica: cómo los insectos se mueven y por qué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y transmisión de fuerza mecánica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inspirado en la naturaleza (biomimética)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 básica: circuito, switch, batería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 científica: robot vs. insecto real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9333EA">
              <a:alpha val="10000"/>
            </a:srgbClr>
          </a:solidFill>
          <a:ln w="9525">
            <a:solidFill>
              <a:srgbClr val="9333EA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hice un insecto robot que camina solo en la mesa."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N5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868680"/>
            <a:ext cx="301752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246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343814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493008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micro:bit o compatible. Sensores de luz, sonido y temperatura. App gratuita. Compatible con Scratch.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434340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3891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58368" y="45537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 – $14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212848" y="434340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0891B2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389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2212848" y="4553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13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CÓDIGO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programación inicial escolar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visual (bloques tipo Scratch)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lógico: secuencias, bucles, condiciones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variables y eventos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hardware–software: mi código mueve el robot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Depuración: encontrar y corregir errores propios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0891B2">
              <a:alpha val="10000"/>
            </a:srgbClr>
          </a:solidFill>
          <a:ln w="9525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programé que la luz se encienda cuando le digo hola."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N6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868680"/>
            <a:ext cx="301752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246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343814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493008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 + 37 módulos de sensores. Cables, protoboard, LEDs, buzzer. Tutorial paso a paso.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434340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3891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58368" y="45537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 – $14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212848" y="434340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F7B42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389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2212848" y="4553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8vo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14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MAKER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 · 37 sensores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en C++ real (lenguaje profesional)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sensores: luz, temperatura, ultrasonido, humedad...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circuitos eléctricos básicos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reales: alarmas, detectores, displays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científico: hipótesis → código → prueba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FF7B42">
              <a:alpha val="10000"/>
            </a:srgbClr>
          </a:solidFill>
          <a:ln w="9525">
            <a:solidFill>
              <a:srgbClr val="FF7B42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hice un detector que suena cuando alguien se acerca."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N7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868680"/>
            <a:ext cx="301752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246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343814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493008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Brazo robótico articulado. Servomotores múltiples. Control por Arduino. Movimiento en varios ejes. Ideal para introducción a la automatización.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434340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3891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58368" y="45537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 – $18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212848" y="434340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E11D48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389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2212848" y="4553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9no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15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BRAZO ROBÓTICO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Brazo robótico · Arduino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Mecatrónica: integración de mecánica, electrónica y control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Servomotores y control de posición angular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movimientos secuenciales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sistemas articulados de precisión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equipo: división de tareas de ingeniería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E11D48">
              <a:alpha val="10000"/>
            </a:srgbClr>
          </a:solidFill>
          <a:ln w="9525">
            <a:solidFill>
              <a:srgbClr val="E11D48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mi brazo robot agarra objetos y los mueve solo."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01168"/>
            <a:ext cx="3246120" cy="475488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292608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868680"/>
            <a:ext cx="301752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246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INCLUYE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58368" y="3438144"/>
            <a:ext cx="299923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493008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humanoide bailarín con ESP32. Múltiples servomotores. Programable por app o código. Se conecta por WiFi/BT.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434340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43891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aprox.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658368" y="45537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 – $20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212848" y="434340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1D4ED8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12848" y="4389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alumno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2212848" y="4553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 – $45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97764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10mo Básica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754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— 16 años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77640" y="7132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 BAILARÍN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776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bailarín · ESP32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977640" y="1719072"/>
            <a:ext cx="49377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77640" y="1810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QUE DESARROLLA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977640" y="2139696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3" name="Text 20"/>
          <p:cNvSpPr/>
          <p:nvPr/>
        </p:nvSpPr>
        <p:spPr>
          <a:xfrm>
            <a:off x="4142232" y="20665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avanzada con ESP32 (WiFi y Bluetooth)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487168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5" name="Text 22"/>
          <p:cNvSpPr/>
          <p:nvPr/>
        </p:nvSpPr>
        <p:spPr>
          <a:xfrm>
            <a:off x="4142232" y="2414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múltiples servomotores en simultáneo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977640" y="2834640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7" name="Text 24"/>
          <p:cNvSpPr/>
          <p:nvPr/>
        </p:nvSpPr>
        <p:spPr>
          <a:xfrm>
            <a:off x="4142232" y="27614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de movimiento y secuencias creativas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977640" y="3182112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9" name="Text 26"/>
          <p:cNvSpPr/>
          <p:nvPr/>
        </p:nvSpPr>
        <p:spPr>
          <a:xfrm>
            <a:off x="4142232" y="3108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coreografías como lógica de programación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529584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1" name="Text 28"/>
          <p:cNvSpPr/>
          <p:nvPr/>
        </p:nvSpPr>
        <p:spPr>
          <a:xfrm>
            <a:off x="4142232" y="34564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sensores para respuesta en tiempo real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977640" y="384048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1D4ED8">
              <a:alpha val="10000"/>
            </a:srgbClr>
          </a:solidFill>
          <a:ln w="9525">
            <a:solidFill>
              <a:srgbClr val="1D4ED8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0" y="39044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que lo cambia todo: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14800" y="40873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"Papito, programé a mi robot para que baile al ritmo de la música."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IMPLEMENTACIÓN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Impresoras 3D · Club de Robótica · Realidad Virtual en Año 3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del Laboratorio STEAM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 no solo entrega kits — diseña e implementa el espacio donde el aprendizaje ocurre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70432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170432"/>
            <a:ext cx="73152" cy="1170432"/>
          </a:xfrm>
          <a:prstGeom prst="rect">
            <a:avLst/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de trabajo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15544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estaciones de trabajo en equipo, cada una equipada para 3–4 estudiantes con su kit y espacio de construcción.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523744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523744"/>
            <a:ext cx="73152" cy="1170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615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Ambientación VIRTUS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29077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Señalética, motivación visual, reglas del laboratorio y cartelería temática por nivel educativo.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0" y="1170432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170432"/>
            <a:ext cx="73152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8928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de presentaciones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38928" y="15544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frontal para que los equipos presenten sus proyectos, fortaleciendo comunicación y confianza.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2523744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523744"/>
            <a:ext cx="73152" cy="1170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2615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Almacenamiento organizado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38928" y="29077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cajas y estantes por nivel y grado. Los kits tienen su lugar — el orden también es parte del aprendizaje.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39136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0F2A5E">
              <a:alpha val="12000"/>
            </a:srgbClr>
          </a:solidFill>
          <a:ln w="9525">
            <a:solidFill>
              <a:srgbClr val="0F2A5E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005072"/>
            <a:ext cx="548640" cy="548640"/>
          </a:xfrm>
          <a:prstGeom prst="ellipse">
            <a:avLst/>
          </a:prstGeom>
          <a:solidFill>
            <a:srgbClr val="0F2A5E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08760" y="3977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Impresoras 3D por laboratorio: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08760" y="4224528"/>
            <a:ext cx="7242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no solo ensamblan — también diseñan e imprimen sus propias piezas. Desde 8vo básica, el laboratorio cuenta con 2 impresoras 3D que abren un universo de creación: carcasas para robots, piezas personalizadas, prototipos originales.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Allá del Aula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74980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896112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987552"/>
            <a:ext cx="457200" cy="45720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7" name="Text 5"/>
          <p:cNvSpPr/>
          <p:nvPr/>
        </p:nvSpPr>
        <p:spPr>
          <a:xfrm>
            <a:off x="1901952" y="1005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Club de Robótica VIRTUS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17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extracurricular para los estudiantes que quieren ir más lejos — sin límite de creatividad.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0116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libres con mentoría VIRTUS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2468880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3957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olimpiadas nacionales de robótica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2852928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7797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 de ciencias e innovación interna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8680" y="3236976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1638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entre grados y niveles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3621024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5478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digital para universidades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" y="4096512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FF7B42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1330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club es el semillero de los futuros innovadores de Ecuador.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896112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0F2A5E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987552"/>
            <a:ext cx="457200" cy="45720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62472" y="1005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Año 3: Realidad Virtual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1417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tercer año de alianza, VIRTUS dota el laboratorio con tecnología de realidad virtual — sin costo adicional para la institución.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2103120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21396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VR por laboratorio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66360" y="23500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Lentes de realidad virtual para exploración inmersiva en grupo.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2670048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270662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Laboratorios virtuales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66360" y="291693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Disecciones, expediciones científicas, ingeniería digital en 3D.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0" y="3236976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2735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educativos virtuales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66360" y="348386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visita el espacio, el fondo del mar, los volcanes.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0" y="3803904"/>
            <a:ext cx="3566160" cy="475488"/>
          </a:xfrm>
          <a:prstGeom prst="roundRect">
            <a:avLst>
              <a:gd name="adj" fmla="val 961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166360" y="38404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de diseño 3D + VR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66360" y="40507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diseñan entornos virtuales como proyecto final.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4407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alianza que crece contigo — cada año, más tecnología.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ACOMPAÑAMIENTO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asignado · Capacitación docente · No los dejamos solos nunca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Acompañamiento Total VIRTUS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institución tiene un Coach VIRTUS asignado — una persona real que los conoce, los visita y nunca los deja solos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430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4C1D95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5880" y="1261872"/>
            <a:ext cx="530352" cy="530352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261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93392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Coach VIRTUS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profesional asignado exclusivamente a tu institución.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2157984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08483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presenciales a las 3 sedes del colegio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68680" y="2505456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43230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directo — respuesta en menos de 24 horas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68680" y="2852928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77977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de seguimiento mensuales con coordinadores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8680" y="3200400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127248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avance por nivel y por estudiante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8680" y="3547872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4747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en problemas técnicos y pedagógicos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68680" y="3895344"/>
            <a:ext cx="91440" cy="91440"/>
          </a:xfrm>
          <a:prstGeom prst="ellipse">
            <a:avLst/>
          </a:prstGeom>
          <a:solidFill>
            <a:srgbClr val="FF7B42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382219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nunca tiene que resolver solo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68680" y="4160520"/>
            <a:ext cx="3566160" cy="0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206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capacitamos y nos vamos. Estamos aquí todo el año."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11430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1261872"/>
            <a:ext cx="530352" cy="530352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1261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53912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Capacitación Docente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Formamos a los docentes para que lideren con confianza.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213969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20848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año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03520" y="23042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completa de 2 días — pedagogía STEAM, manejo del kit, uso de la plataforma.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259689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0" y="2542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mensual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03520" y="27614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de 1 hora con novedades, tips y resolución de dudas en grupo.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0" y="305409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0" y="2999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por clase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03520" y="32186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sesión tiene un video de preparación exclusivo para el docente.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0" y="351129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0" y="34564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del docente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03520" y="36758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editable y descargable con todo lo que necesita para cada nivel.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0" y="396849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43" name="Text 41"/>
          <p:cNvSpPr/>
          <p:nvPr/>
        </p:nvSpPr>
        <p:spPr>
          <a:xfrm>
            <a:off x="5303520" y="39136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VIRTUS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03520" y="4133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docentes VIRTUS en todo Ecuador — comparten, aprenden y crecen juntos.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0" y="4325112"/>
            <a:ext cx="3566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43708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docente seguro, forma estudiantes seguros."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institución recibe el programa completo sin costo. Los kits son propiedad del estudiante.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33272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70432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2801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9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4640" y="1170432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2801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80360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 con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robótica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83480" y="1170432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2801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$40–$45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0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personal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(precio al alumno)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32320" y="1170432"/>
            <a:ext cx="1965960" cy="1572768"/>
          </a:xfrm>
          <a:prstGeom prst="roundRect">
            <a:avLst>
              <a:gd name="adj" fmla="val 581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78040" y="12801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$48,000+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178040" y="1965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anual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898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RECIBE LA INSTITUCIÓN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5800" y="3145536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32841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3101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60120" y="32735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asignado a la institución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20440" y="332841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3101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794760" y="32735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docente inicio + mensual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55080" y="3328416"/>
            <a:ext cx="182880" cy="18288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3101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629400" y="327355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presenciales a las 3 sedes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3712464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694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60120" y="3657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Planificaciones + recursos listos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520440" y="3712464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3694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794760" y="3657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 + quiz + virtualidad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55080" y="3712464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3694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629400" y="3657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RoboMisión + Club de Robótica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5800" y="4096512"/>
            <a:ext cx="182880" cy="182880"/>
          </a:xfrm>
          <a:prstGeom prst="ellipse">
            <a:avLst/>
          </a:prstGeom>
          <a:solidFill>
            <a:srgbClr val="0F2A5E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40782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60120" y="40416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impresoras 3D por laboratorio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520440" y="4096512"/>
            <a:ext cx="182880" cy="182880"/>
          </a:xfrm>
          <a:prstGeom prst="ellipse">
            <a:avLst/>
          </a:prstGeom>
          <a:solidFill>
            <a:srgbClr val="0F2A5E"/>
          </a:solidFill>
          <a:ln/>
        </p:spPr>
      </p:sp>
      <p:sp>
        <p:nvSpPr>
          <p:cNvPr id="42" name="Text 40"/>
          <p:cNvSpPr/>
          <p:nvPr/>
        </p:nvSpPr>
        <p:spPr>
          <a:xfrm>
            <a:off x="3520440" y="40782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794760" y="40416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del laboratorio STEAM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55080" y="4096512"/>
            <a:ext cx="182880" cy="182880"/>
          </a:xfrm>
          <a:prstGeom prst="ellipse">
            <a:avLst/>
          </a:prstGeom>
          <a:solidFill>
            <a:srgbClr val="0F2A5E"/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40782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629400" y="40416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3: Realidad Virtual dotada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7B42"/>
          </a:solidFill>
          <a:ln w="12700">
            <a:solidFill>
              <a:srgbClr val="FF7B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5486400" cy="5486400"/>
          </a:xfrm>
          <a:prstGeom prst="ellipse">
            <a:avLst/>
          </a:prstGeom>
          <a:solidFill>
            <a:srgbClr val="FF7B42">
              <a:alpha val="8000"/>
            </a:srgbClr>
          </a:solidFill>
          <a:ln w="12700">
            <a:solidFill>
              <a:srgbClr val="FF7B42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0" kern="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VIRTUS STEAM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1444752"/>
            <a:ext cx="8046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0F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enseñamos robótica.
</a:t>
            </a:r>
            <a:pPr indent="0" marL="0">
              <a:buNone/>
            </a:pPr>
            <a:r>
              <a:rPr lang="en-US" sz="37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Formamos </a:t>
            </a:r>
            <a:pPr indent="0" marL="0">
              <a:buNone/>
            </a:pPr>
            <a:r>
              <a:rPr lang="en-US" sz="3700" b="1" dirty="0">
                <a:solidFill>
                  <a:srgbClr val="FF7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ingenieros con alma.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685800" y="3547872"/>
            <a:ext cx="8046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6576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"Tenemos el deber urgente de permanecer profundamente humanos."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39136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 León XIV · Magnifica Humanitas · §15 ·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contacto@virtussteam.edu.ec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VIRTUS STEAM — Programa Educativo Completo</dc:title>
  <dc:subject>PptxGenJS Presentation</dc:subject>
  <dc:creator>VIRTUS STEAM</dc:creator>
  <cp:lastModifiedBy>VIRTUS STEAM</cp:lastModifiedBy>
  <cp:revision>1</cp:revision>
  <dcterms:created xsi:type="dcterms:W3CDTF">2026-06-29T21:52:13Z</dcterms:created>
  <dcterms:modified xsi:type="dcterms:W3CDTF">2026-06-29T21:52:13Z</dcterms:modified>
</cp:coreProperties>
</file>