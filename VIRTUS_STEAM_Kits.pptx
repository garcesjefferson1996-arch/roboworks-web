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188720"/>
            <a:ext cx="5303520" cy="5303520"/>
          </a:xfrm>
          <a:prstGeom prst="ellipse">
            <a:avLst/>
          </a:prstGeom>
          <a:solidFill>
            <a:srgbClr val="FF7B42">
              <a:alpha val="12000"/>
            </a:srgbClr>
          </a:solidFill>
          <a:ln w="12700">
            <a:solidFill>
              <a:srgbClr val="FF7B4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286000"/>
            <a:ext cx="4572000" cy="4572000"/>
          </a:xfrm>
          <a:prstGeom prst="ellipse">
            <a:avLst/>
          </a:prstGeom>
          <a:solidFill>
            <a:srgbClr val="4FC3F7">
              <a:alpha val="8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
</a:t>
            </a:r>
            <a:pPr indent="0" marL="0">
              <a:buNone/>
            </a:pPr>
            <a:r>
              <a:rPr lang="en-US" sz="5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Kits Educativos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niveles · 2do a 10mo de Básica · 1,200 estudiantes · Ecuador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749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123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0" y="37033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3749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88920" y="4123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92040" y="37033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749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4123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40880" y="37033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3749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$40–45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4123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personal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niño que llega a casa y le dice a su papá: yo lo hice."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Escalera del Ingenio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año, el niño sube un peldaño. Cada kit, un logro nuevo.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" y="3639312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4FC3F7">
              <a:alpha val="82000"/>
            </a:srgbClr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33467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" y="41330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2do–3ro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434340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316736" y="3401568"/>
            <a:ext cx="932688" cy="694944"/>
          </a:xfrm>
          <a:prstGeom prst="roundRect">
            <a:avLst>
              <a:gd name="adj" fmla="val 7895"/>
            </a:avLst>
          </a:prstGeom>
          <a:solidFill>
            <a:srgbClr val="FFD54F">
              <a:alpha val="82000"/>
            </a:srgbClr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16736" y="31089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16736" y="41330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16736" y="434340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SOLARES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432304" y="3163824"/>
            <a:ext cx="932688" cy="932688"/>
          </a:xfrm>
          <a:prstGeom prst="roundRect">
            <a:avLst>
              <a:gd name="adj" fmla="val 5882"/>
            </a:avLst>
          </a:prstGeom>
          <a:solidFill>
            <a:srgbClr val="81C784">
              <a:alpha val="82000"/>
            </a:srgbClr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32304" y="287121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32304" y="41330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32304" y="434340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547872" y="2926080"/>
            <a:ext cx="932688" cy="1170432"/>
          </a:xfrm>
          <a:prstGeom prst="roundRect">
            <a:avLst>
              <a:gd name="adj" fmla="val 5882"/>
            </a:avLst>
          </a:prstGeom>
          <a:solidFill>
            <a:srgbClr val="CE93D8">
              <a:alpha val="82000"/>
            </a:srgbClr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47872" y="26334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47872" y="41330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47872" y="434340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BIOROBÓTICA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63440" y="2688336"/>
            <a:ext cx="932688" cy="1408176"/>
          </a:xfrm>
          <a:prstGeom prst="roundRect">
            <a:avLst>
              <a:gd name="adj" fmla="val 5882"/>
            </a:avLst>
          </a:prstGeom>
          <a:solidFill>
            <a:srgbClr val="80CBC4">
              <a:alpha val="82000"/>
            </a:srgbClr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23957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41330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434340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CÓDIGO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779008" y="2450592"/>
            <a:ext cx="932688" cy="1645920"/>
          </a:xfrm>
          <a:prstGeom prst="roundRect">
            <a:avLst>
              <a:gd name="adj" fmla="val 5882"/>
            </a:avLst>
          </a:prstGeom>
          <a:solidFill>
            <a:srgbClr val="FF7B42">
              <a:alpha val="82000"/>
            </a:srgbClr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79008" y="215798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79008" y="41330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79008" y="434340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MAKER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894576" y="2212848"/>
            <a:ext cx="932688" cy="1883664"/>
          </a:xfrm>
          <a:prstGeom prst="roundRect">
            <a:avLst>
              <a:gd name="adj" fmla="val 5882"/>
            </a:avLst>
          </a:prstGeom>
          <a:solidFill>
            <a:srgbClr val="F48FB1">
              <a:alpha val="82000"/>
            </a:srgbClr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94576" y="192024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94576" y="41330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9no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94576" y="434340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AUTÓNOMA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8010144" y="1975104"/>
            <a:ext cx="932688" cy="2121408"/>
          </a:xfrm>
          <a:prstGeom prst="roundRect">
            <a:avLst>
              <a:gd name="adj" fmla="val 5882"/>
            </a:avLst>
          </a:prstGeom>
          <a:solidFill>
            <a:srgbClr val="90CAF9">
              <a:alpha val="82000"/>
            </a:srgbClr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10144" y="168249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10144" y="41330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10144" y="434340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01168" y="4105656"/>
            <a:ext cx="8778240" cy="0"/>
          </a:xfrm>
          <a:prstGeom prst="line">
            <a:avLst/>
          </a:prstGeom>
          <a:noFill/>
          <a:ln w="6350">
            <a:solidFill>
              <a:srgbClr val="5A608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Sin pantallas · Solo construir     Electrónica     Programación real     IoT profesional →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3291840" cy="4773168"/>
          </a:xfrm>
          <a:prstGeom prst="roundRect">
            <a:avLst>
              <a:gd name="adj" fmla="val 3333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8912"/>
            <a:ext cx="22402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" y="274320"/>
            <a:ext cx="502920" cy="50292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4048" y="28163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84048" y="3017520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piezas con motor eléctrico. Engranajes grandes aptos para manos pequeñas. Sin electricidad directa, sin pantallas.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4114800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0D0F20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41330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84048" y="43068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 – $8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938528" y="411480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4FC3F7">
              <a:alpha val="9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938528" y="413308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estudiante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938528" y="4306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201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— 3ro Básica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767328" y="4754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8 años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767328" y="7132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CONSTRUCTORES</a:t>
            </a:r>
            <a:endParaRPr lang="en-US" sz="3500" dirty="0"/>
          </a:p>
        </p:txBody>
      </p:sp>
      <p:sp>
        <p:nvSpPr>
          <p:cNvPr id="17" name="Text 14"/>
          <p:cNvSpPr/>
          <p:nvPr/>
        </p:nvSpPr>
        <p:spPr>
          <a:xfrm>
            <a:off x="3767328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piezas · Bloques motorizados STEM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67328" y="1700784"/>
            <a:ext cx="5029200" cy="0"/>
          </a:xfrm>
          <a:prstGeom prst="line">
            <a:avLst/>
          </a:prstGeom>
          <a:noFill/>
          <a:ln w="10160">
            <a:solidFill>
              <a:srgbClr val="4FC3F7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1792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67328" y="2112264"/>
            <a:ext cx="91440" cy="914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0" y="204825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espacial y diseño 3D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67328" y="2468880"/>
            <a:ext cx="91440" cy="914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3" name="Text 20"/>
          <p:cNvSpPr/>
          <p:nvPr/>
        </p:nvSpPr>
        <p:spPr>
          <a:xfrm>
            <a:off x="3931920" y="2404872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Motricidad fina y precisión manual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67328" y="2825496"/>
            <a:ext cx="91440" cy="914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5" name="Text 22"/>
          <p:cNvSpPr/>
          <p:nvPr/>
        </p:nvSpPr>
        <p:spPr>
          <a:xfrm>
            <a:off x="3931920" y="276148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libre: el niño decide qué construye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767328" y="3182112"/>
            <a:ext cx="91440" cy="914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0" y="311810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máquinas simples y engranajes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67328" y="3538728"/>
            <a:ext cx="91440" cy="914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9" name="Text 26"/>
          <p:cNvSpPr/>
          <p:nvPr/>
        </p:nvSpPr>
        <p:spPr>
          <a:xfrm>
            <a:off x="3931920" y="347472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y comunicación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767328" y="3895344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4FC3F7">
              <a:alpha val="14000"/>
            </a:srgbClr>
          </a:solidFill>
          <a:ln w="9525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04488" y="39593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904488" y="41422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¡construí mi propia grúa y se mueve sola!"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3291840" cy="4773168"/>
          </a:xfrm>
          <a:prstGeom prst="roundRect">
            <a:avLst>
              <a:gd name="adj" fmla="val 3333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8912"/>
            <a:ext cx="22402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" y="274320"/>
            <a:ext cx="502920" cy="502920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4048" y="28163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84048" y="3017520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piezas. 12 modelos: caminan, ruedan, giran. Panel solar incluido. Funciona también con linterna.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4114800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0D0F20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41330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84048" y="43068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 – $6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938528" y="411480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FFD54F">
              <a:alpha val="9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938528" y="413308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estudiante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938528" y="4306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201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 Básica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767328" y="4754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— 10 años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767328" y="7132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INGENIEROS SOLARES</a:t>
            </a:r>
            <a:endParaRPr lang="en-US" sz="3500" dirty="0"/>
          </a:p>
        </p:txBody>
      </p:sp>
      <p:sp>
        <p:nvSpPr>
          <p:cNvPr id="17" name="Text 14"/>
          <p:cNvSpPr/>
          <p:nvPr/>
        </p:nvSpPr>
        <p:spPr>
          <a:xfrm>
            <a:off x="3767328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 1 · Robot movido por el sol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67328" y="1700784"/>
            <a:ext cx="5029200" cy="0"/>
          </a:xfrm>
          <a:prstGeom prst="line">
            <a:avLst/>
          </a:prstGeom>
          <a:noFill/>
          <a:ln w="10160">
            <a:solidFill>
              <a:srgbClr val="FFD54F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1792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67328" y="2112264"/>
            <a:ext cx="91440" cy="91440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0" y="204825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renovable: el sol como fuente de poder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67328" y="2468880"/>
            <a:ext cx="91440" cy="91440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23" name="Text 20"/>
          <p:cNvSpPr/>
          <p:nvPr/>
        </p:nvSpPr>
        <p:spPr>
          <a:xfrm>
            <a:off x="3931920" y="2404872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Ensamblaje mecánico guiado paso a paso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67328" y="2825496"/>
            <a:ext cx="91440" cy="91440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25" name="Text 22"/>
          <p:cNvSpPr/>
          <p:nvPr/>
        </p:nvSpPr>
        <p:spPr>
          <a:xfrm>
            <a:off x="3931920" y="276148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causa–efecto (sol → motor → movimiento)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767328" y="3182112"/>
            <a:ext cx="91440" cy="91440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0" y="311810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configuraciones distintas de robot en 1 kit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67328" y="3538728"/>
            <a:ext cx="91440" cy="91440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29" name="Text 26"/>
          <p:cNvSpPr/>
          <p:nvPr/>
        </p:nvSpPr>
        <p:spPr>
          <a:xfrm>
            <a:off x="3931920" y="347472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Perseverancia: construir toma 1–2 horas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767328" y="3895344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D54F">
              <a:alpha val="14000"/>
            </a:srgbClr>
          </a:solidFill>
          <a:ln w="9525">
            <a:solidFill>
              <a:srgbClr val="FFD54F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04488" y="39593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904488" y="41422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mi robot no necesita pilas, ¡funciona con el sol!"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3291840" cy="4773168"/>
          </a:xfrm>
          <a:prstGeom prst="roundRect">
            <a:avLst>
              <a:gd name="adj" fmla="val 3333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8912"/>
            <a:ext cx="22402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" y="274320"/>
            <a:ext cx="502920" cy="50292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4048" y="28163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84048" y="3017520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configuraciones. Control remoto incluido. El estudiante construye Y opera el robot. Motores duales.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4114800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0D0F20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41330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84048" y="43068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 – $12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938528" y="411480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81C784">
              <a:alpha val="9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938528" y="413308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estudiante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938528" y="4306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201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 Básica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767328" y="4754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11 años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767328" y="7132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PILOTOS REMOTOS</a:t>
            </a:r>
            <a:endParaRPr lang="en-US" sz="3500" dirty="0"/>
          </a:p>
        </p:txBody>
      </p:sp>
      <p:sp>
        <p:nvSpPr>
          <p:cNvPr id="17" name="Text 14"/>
          <p:cNvSpPr/>
          <p:nvPr/>
        </p:nvSpPr>
        <p:spPr>
          <a:xfrm>
            <a:off x="3767328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en 1 · Robot con control remoto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67328" y="1700784"/>
            <a:ext cx="5029200" cy="0"/>
          </a:xfrm>
          <a:prstGeom prst="line">
            <a:avLst/>
          </a:prstGeom>
          <a:noFill/>
          <a:ln w="10160">
            <a:solidFill>
              <a:srgbClr val="81C784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1792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67328" y="2112264"/>
            <a:ext cx="91440" cy="9144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0" y="204825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remoto: mando, dirección, respuesta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67328" y="2468880"/>
            <a:ext cx="91440" cy="9144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3" name="Text 20"/>
          <p:cNvSpPr/>
          <p:nvPr/>
        </p:nvSpPr>
        <p:spPr>
          <a:xfrm>
            <a:off x="3931920" y="2404872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básica: motores, cables, receptores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67328" y="2825496"/>
            <a:ext cx="91440" cy="9144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5" name="Text 22"/>
          <p:cNvSpPr/>
          <p:nvPr/>
        </p:nvSpPr>
        <p:spPr>
          <a:xfrm>
            <a:off x="3931920" y="276148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control: si presiono esto, pasa aquello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767328" y="3182112"/>
            <a:ext cx="91440" cy="9144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0" y="311810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modelos distintos para ensamblar en 1 kit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67328" y="3538728"/>
            <a:ext cx="91440" cy="9144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9" name="Text 26"/>
          <p:cNvSpPr/>
          <p:nvPr/>
        </p:nvSpPr>
        <p:spPr>
          <a:xfrm>
            <a:off x="3931920" y="347472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motora avanzada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767328" y="3895344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81C784">
              <a:alpha val="14000"/>
            </a:srgbClr>
          </a:solidFill>
          <a:ln w="9525">
            <a:solidFill>
              <a:srgbClr val="81C784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04488" y="39593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904488" y="41422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yo construí este robot y lo controlo con mis manos."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3291840" cy="4773168"/>
          </a:xfrm>
          <a:prstGeom prst="roundRect">
            <a:avLst>
              <a:gd name="adj" fmla="val 3333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8912"/>
            <a:ext cx="22402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" y="274320"/>
            <a:ext cx="502920" cy="502920"/>
          </a:xfrm>
          <a:prstGeom prst="ellipse">
            <a:avLst/>
          </a:prstGeom>
          <a:solidFill>
            <a:srgbClr val="CE93D8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4048" y="28163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84048" y="3017520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ABS plástico. Motor integrado. Patas articuladas. Movimiento autónomo al encender. 4 pilas AA.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4114800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0D0F20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41330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84048" y="43068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 – $7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938528" y="411480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CE93D8">
              <a:alpha val="9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938528" y="413308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estudiante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938528" y="4306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201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 Básica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767328" y="4754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12 años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767328" y="7132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BIOROBÓTICA</a:t>
            </a:r>
            <a:endParaRPr lang="en-US" sz="3500" dirty="0"/>
          </a:p>
        </p:txBody>
      </p:sp>
      <p:sp>
        <p:nvSpPr>
          <p:cNvPr id="17" name="Text 14"/>
          <p:cNvSpPr/>
          <p:nvPr/>
        </p:nvSpPr>
        <p:spPr>
          <a:xfrm>
            <a:off x="3767328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Insecto eléctrico · ABS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67328" y="1700784"/>
            <a:ext cx="5029200" cy="0"/>
          </a:xfrm>
          <a:prstGeom prst="line">
            <a:avLst/>
          </a:prstGeom>
          <a:noFill/>
          <a:ln w="10160">
            <a:solidFill>
              <a:srgbClr val="CE93D8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1792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67328" y="2112264"/>
            <a:ext cx="91440" cy="91440"/>
          </a:xfrm>
          <a:prstGeom prst="ellipse">
            <a:avLst/>
          </a:prstGeom>
          <a:solidFill>
            <a:srgbClr val="CE93D8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0" y="204825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Biomecánica: cómo los insectos se mueven y por qué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67328" y="2468880"/>
            <a:ext cx="91440" cy="91440"/>
          </a:xfrm>
          <a:prstGeom prst="ellipse">
            <a:avLst/>
          </a:prstGeom>
          <a:solidFill>
            <a:srgbClr val="CE93D8"/>
          </a:solidFill>
          <a:ln/>
        </p:spPr>
      </p:sp>
      <p:sp>
        <p:nvSpPr>
          <p:cNvPr id="23" name="Text 20"/>
          <p:cNvSpPr/>
          <p:nvPr/>
        </p:nvSpPr>
        <p:spPr>
          <a:xfrm>
            <a:off x="3931920" y="2404872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y transmisión de fuerza mecánica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67328" y="2825496"/>
            <a:ext cx="91440" cy="91440"/>
          </a:xfrm>
          <a:prstGeom prst="ellipse">
            <a:avLst/>
          </a:prstGeom>
          <a:solidFill>
            <a:srgbClr val="CE93D8"/>
          </a:solidFill>
          <a:ln/>
        </p:spPr>
      </p:sp>
      <p:sp>
        <p:nvSpPr>
          <p:cNvPr id="25" name="Text 22"/>
          <p:cNvSpPr/>
          <p:nvPr/>
        </p:nvSpPr>
        <p:spPr>
          <a:xfrm>
            <a:off x="3931920" y="276148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inspirado en la naturaleza (biomimética)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767328" y="3182112"/>
            <a:ext cx="91440" cy="91440"/>
          </a:xfrm>
          <a:prstGeom prst="ellipse">
            <a:avLst/>
          </a:prstGeom>
          <a:solidFill>
            <a:srgbClr val="CE93D8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0" y="311810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básica: circuito, switch, batería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67328" y="3538728"/>
            <a:ext cx="91440" cy="91440"/>
          </a:xfrm>
          <a:prstGeom prst="ellipse">
            <a:avLst/>
          </a:prstGeom>
          <a:solidFill>
            <a:srgbClr val="CE93D8"/>
          </a:solidFill>
          <a:ln/>
        </p:spPr>
      </p:sp>
      <p:sp>
        <p:nvSpPr>
          <p:cNvPr id="29" name="Text 26"/>
          <p:cNvSpPr/>
          <p:nvPr/>
        </p:nvSpPr>
        <p:spPr>
          <a:xfrm>
            <a:off x="3931920" y="347472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científica: robot vs. insecto real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767328" y="3895344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CE93D8">
              <a:alpha val="14000"/>
            </a:srgbClr>
          </a:solidFill>
          <a:ln w="9525">
            <a:solidFill>
              <a:srgbClr val="CE93D8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04488" y="39593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904488" y="41422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hice un insecto robot que camina solo en la mesa."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3291840" cy="4773168"/>
          </a:xfrm>
          <a:prstGeom prst="roundRect">
            <a:avLst>
              <a:gd name="adj" fmla="val 3333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8912"/>
            <a:ext cx="22402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" y="274320"/>
            <a:ext cx="502920" cy="502920"/>
          </a:xfrm>
          <a:prstGeom prst="ellipse">
            <a:avLst/>
          </a:prstGeom>
          <a:solidFill>
            <a:srgbClr val="80CBC4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4048" y="28163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84048" y="3017520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micro:bit o compatible. Sensores de luz, sonido y temperatura. App gratuita. Compatible con Scratch. USB.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4114800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0D0F20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41330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84048" y="43068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 – $14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938528" y="411480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80CBC4">
              <a:alpha val="9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938528" y="413308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estudiante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938528" y="4306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201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 Básica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767328" y="4754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13 años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767328" y="7132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CÓDIGO</a:t>
            </a:r>
            <a:endParaRPr lang="en-US" sz="3500" dirty="0"/>
          </a:p>
        </p:txBody>
      </p:sp>
      <p:sp>
        <p:nvSpPr>
          <p:cNvPr id="17" name="Text 14"/>
          <p:cNvSpPr/>
          <p:nvPr/>
        </p:nvSpPr>
        <p:spPr>
          <a:xfrm>
            <a:off x="3767328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programación inicial escolar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67328" y="1700784"/>
            <a:ext cx="5029200" cy="0"/>
          </a:xfrm>
          <a:prstGeom prst="line">
            <a:avLst/>
          </a:prstGeom>
          <a:noFill/>
          <a:ln w="10160">
            <a:solidFill>
              <a:srgbClr val="80CBC4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1792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67328" y="2112264"/>
            <a:ext cx="91440" cy="91440"/>
          </a:xfrm>
          <a:prstGeom prst="ellipse">
            <a:avLst/>
          </a:prstGeom>
          <a:solidFill>
            <a:srgbClr val="80CBC4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0" y="204825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visual (bloques tipo Scratch)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67328" y="2468880"/>
            <a:ext cx="91440" cy="91440"/>
          </a:xfrm>
          <a:prstGeom prst="ellipse">
            <a:avLst/>
          </a:prstGeom>
          <a:solidFill>
            <a:srgbClr val="80CBC4"/>
          </a:solidFill>
          <a:ln/>
        </p:spPr>
      </p:sp>
      <p:sp>
        <p:nvSpPr>
          <p:cNvPr id="23" name="Text 20"/>
          <p:cNvSpPr/>
          <p:nvPr/>
        </p:nvSpPr>
        <p:spPr>
          <a:xfrm>
            <a:off x="3931920" y="2404872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lógico: secuencias, bucles, condiciones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67328" y="2825496"/>
            <a:ext cx="91440" cy="91440"/>
          </a:xfrm>
          <a:prstGeom prst="ellipse">
            <a:avLst/>
          </a:prstGeom>
          <a:solidFill>
            <a:srgbClr val="80CBC4"/>
          </a:solidFill>
          <a:ln/>
        </p:spPr>
      </p:sp>
      <p:sp>
        <p:nvSpPr>
          <p:cNvPr id="25" name="Text 22"/>
          <p:cNvSpPr/>
          <p:nvPr/>
        </p:nvSpPr>
        <p:spPr>
          <a:xfrm>
            <a:off x="3931920" y="276148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variables y eventos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767328" y="3182112"/>
            <a:ext cx="91440" cy="91440"/>
          </a:xfrm>
          <a:prstGeom prst="ellipse">
            <a:avLst/>
          </a:prstGeom>
          <a:solidFill>
            <a:srgbClr val="80CBC4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0" y="311810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hardware–software: mi código mueve el robot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67328" y="3538728"/>
            <a:ext cx="91440" cy="91440"/>
          </a:xfrm>
          <a:prstGeom prst="ellipse">
            <a:avLst/>
          </a:prstGeom>
          <a:solidFill>
            <a:srgbClr val="80CBC4"/>
          </a:solidFill>
          <a:ln/>
        </p:spPr>
      </p:sp>
      <p:sp>
        <p:nvSpPr>
          <p:cNvPr id="29" name="Text 26"/>
          <p:cNvSpPr/>
          <p:nvPr/>
        </p:nvSpPr>
        <p:spPr>
          <a:xfrm>
            <a:off x="3931920" y="347472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Depuración: encontrar y corregir errores propios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767328" y="3895344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80CBC4">
              <a:alpha val="14000"/>
            </a:srgbClr>
          </a:solidFill>
          <a:ln w="9525">
            <a:solidFill>
              <a:srgbClr val="80CBC4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04488" y="39593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904488" y="41422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programé que la luz se encienda cuando le digo hola."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3291840" cy="4773168"/>
          </a:xfrm>
          <a:prstGeom prst="roundRect">
            <a:avLst>
              <a:gd name="adj" fmla="val 3333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8912"/>
            <a:ext cx="22402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" y="274320"/>
            <a:ext cx="502920" cy="50292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4048" y="28163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84048" y="3017520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+ 37 módulos de sensores. Cables, protoboard, LEDs, buzzer. Tutorial paso a paso incluido.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4114800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0D0F20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41330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84048" y="43068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 – $14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938528" y="411480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FF7B42">
              <a:alpha val="9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938528" y="413308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estudiante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938528" y="4306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201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 Básica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767328" y="4754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14 años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767328" y="7132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MAKER</a:t>
            </a:r>
            <a:endParaRPr lang="en-US" sz="3500" dirty="0"/>
          </a:p>
        </p:txBody>
      </p:sp>
      <p:sp>
        <p:nvSpPr>
          <p:cNvPr id="17" name="Text 14"/>
          <p:cNvSpPr/>
          <p:nvPr/>
        </p:nvSpPr>
        <p:spPr>
          <a:xfrm>
            <a:off x="3767328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· 37 sensores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67328" y="1700784"/>
            <a:ext cx="5029200" cy="0"/>
          </a:xfrm>
          <a:prstGeom prst="line">
            <a:avLst/>
          </a:prstGeom>
          <a:noFill/>
          <a:ln w="10160">
            <a:solidFill>
              <a:srgbClr val="FF7B42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1792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67328" y="211226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0" y="204825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en C++ real (lenguaje profesional)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67328" y="246888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3" name="Text 20"/>
          <p:cNvSpPr/>
          <p:nvPr/>
        </p:nvSpPr>
        <p:spPr>
          <a:xfrm>
            <a:off x="3931920" y="2404872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sensores: luz, temperatura, ultrasonido, humedad...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67328" y="2825496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5" name="Text 22"/>
          <p:cNvSpPr/>
          <p:nvPr/>
        </p:nvSpPr>
        <p:spPr>
          <a:xfrm>
            <a:off x="3931920" y="276148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circuitos eléctricos básicos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767328" y="3182112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0" y="311810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reales: alarmas, detectores, displays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67328" y="3538728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9" name="Text 26"/>
          <p:cNvSpPr/>
          <p:nvPr/>
        </p:nvSpPr>
        <p:spPr>
          <a:xfrm>
            <a:off x="3931920" y="347472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científico: hipótesis → código → prueba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767328" y="3895344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7B42">
              <a:alpha val="14000"/>
            </a:srgbClr>
          </a:solidFill>
          <a:ln w="9525">
            <a:solidFill>
              <a:srgbClr val="FF7B42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04488" y="39593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904488" y="41422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hice un detector que suena cuando alguien se acerca."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3291840" cy="4773168"/>
          </a:xfrm>
          <a:prstGeom prst="roundRect">
            <a:avLst>
              <a:gd name="adj" fmla="val 3333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8912"/>
            <a:ext cx="22402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" y="274320"/>
            <a:ext cx="502920" cy="502920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4048" y="28163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84048" y="3017520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Chasis 4WD. 2 motores DC. Sensor HC-SR04 ultrasonido. Sensor IR seguidor de línea. Arduino + driver L298N.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4114800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0D0F20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41330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84048" y="43068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 – $18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938528" y="411480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F48FB1">
              <a:alpha val="9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938528" y="413308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estudiante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938528" y="4306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201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9no Básica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767328" y="4754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15 años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767328" y="7132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ROBÓTICA AUTÓNOMA</a:t>
            </a:r>
            <a:endParaRPr lang="en-US" sz="3500" dirty="0"/>
          </a:p>
        </p:txBody>
      </p:sp>
      <p:sp>
        <p:nvSpPr>
          <p:cNvPr id="17" name="Text 14"/>
          <p:cNvSpPr/>
          <p:nvPr/>
        </p:nvSpPr>
        <p:spPr>
          <a:xfrm>
            <a:off x="3767328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Robot 4WD Arduino · Autónomo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67328" y="1700784"/>
            <a:ext cx="5029200" cy="0"/>
          </a:xfrm>
          <a:prstGeom prst="line">
            <a:avLst/>
          </a:prstGeom>
          <a:noFill/>
          <a:ln w="10160">
            <a:solidFill>
              <a:srgbClr val="F48FB1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1792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67328" y="2112264"/>
            <a:ext cx="91440" cy="91440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0" y="204825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 autónoma: el robot toma sus propias decisiones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67328" y="2468880"/>
            <a:ext cx="91440" cy="91440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23" name="Text 20"/>
          <p:cNvSpPr/>
          <p:nvPr/>
        </p:nvSpPr>
        <p:spPr>
          <a:xfrm>
            <a:off x="3931920" y="2404872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ultrasónico: detección de obstáculos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67328" y="2825496"/>
            <a:ext cx="91440" cy="91440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25" name="Text 22"/>
          <p:cNvSpPr/>
          <p:nvPr/>
        </p:nvSpPr>
        <p:spPr>
          <a:xfrm>
            <a:off x="3931920" y="276148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seguidor de línea: navegación por trayectoria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767328" y="3182112"/>
            <a:ext cx="91440" cy="91440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0" y="311810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control y lógica condicional avanzada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67328" y="3538728"/>
            <a:ext cx="91440" cy="91440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29" name="Text 26"/>
          <p:cNvSpPr/>
          <p:nvPr/>
        </p:nvSpPr>
        <p:spPr>
          <a:xfrm>
            <a:off x="3931920" y="347472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total: mecánica + electrónica + código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767328" y="3895344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48FB1">
              <a:alpha val="14000"/>
            </a:srgbClr>
          </a:solidFill>
          <a:ln w="9525">
            <a:solidFill>
              <a:srgbClr val="F48FB1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04488" y="39593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904488" y="41422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mi carro robot sigue la línea y esquiva los obstáculos solo."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3291840" cy="4773168"/>
          </a:xfrm>
          <a:prstGeom prst="roundRect">
            <a:avLst>
              <a:gd name="adj" fmla="val 3333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8912"/>
            <a:ext cx="22402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" y="274320"/>
            <a:ext cx="502920" cy="502920"/>
          </a:xfrm>
          <a:prstGeom prst="ellipse">
            <a:avLst/>
          </a:prstGeom>
          <a:solidFill>
            <a:srgbClr val="90CAF9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4048" y="28163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84048" y="3017520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DevKit. Sensores DHT22, LDR. Relé para dispositivos reales. Dashboard desde navegador. Sin suscripción.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4114800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0D0F20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41330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84048" y="43068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 – $20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938528" y="411480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90CAF9">
              <a:alpha val="9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938528" y="413308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estudiante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938528" y="4306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 – $45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67328" y="201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10mo Básica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767328" y="4754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16 años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767328" y="7132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DE LAS COSAS</a:t>
            </a:r>
            <a:endParaRPr lang="en-US" sz="3500" dirty="0"/>
          </a:p>
        </p:txBody>
      </p:sp>
      <p:sp>
        <p:nvSpPr>
          <p:cNvPr id="17" name="Text 14"/>
          <p:cNvSpPr/>
          <p:nvPr/>
        </p:nvSpPr>
        <p:spPr>
          <a:xfrm>
            <a:off x="3767328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WiFi · Proyectos IoT reales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67328" y="1700784"/>
            <a:ext cx="5029200" cy="0"/>
          </a:xfrm>
          <a:prstGeom prst="line">
            <a:avLst/>
          </a:prstGeom>
          <a:noFill/>
          <a:ln w="10160">
            <a:solidFill>
              <a:srgbClr val="90CAF9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1792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67328" y="2112264"/>
            <a:ext cx="91440" cy="91440"/>
          </a:xfrm>
          <a:prstGeom prst="ellipse">
            <a:avLst/>
          </a:prstGeom>
          <a:solidFill>
            <a:srgbClr val="90CAF9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0" y="204825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 las Cosas (IoT): conectar físico a internet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67328" y="2468880"/>
            <a:ext cx="91440" cy="91440"/>
          </a:xfrm>
          <a:prstGeom prst="ellipse">
            <a:avLst/>
          </a:prstGeom>
          <a:solidFill>
            <a:srgbClr val="90CAF9"/>
          </a:solidFill>
          <a:ln/>
        </p:spPr>
      </p:sp>
      <p:sp>
        <p:nvSpPr>
          <p:cNvPr id="23" name="Text 20"/>
          <p:cNvSpPr/>
          <p:nvPr/>
        </p:nvSpPr>
        <p:spPr>
          <a:xfrm>
            <a:off x="3931920" y="2404872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WiFi y Bluetooth con ESP32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67328" y="2825496"/>
            <a:ext cx="91440" cy="91440"/>
          </a:xfrm>
          <a:prstGeom prst="ellipse">
            <a:avLst/>
          </a:prstGeom>
          <a:solidFill>
            <a:srgbClr val="90CAF9"/>
          </a:solidFill>
          <a:ln/>
        </p:spPr>
      </p:sp>
      <p:sp>
        <p:nvSpPr>
          <p:cNvPr id="25" name="Text 22"/>
          <p:cNvSpPr/>
          <p:nvPr/>
        </p:nvSpPr>
        <p:spPr>
          <a:xfrm>
            <a:off x="3931920" y="276148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 desde cualquier celular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767328" y="3182112"/>
            <a:ext cx="91440" cy="91440"/>
          </a:xfrm>
          <a:prstGeom prst="ellipse">
            <a:avLst/>
          </a:prstGeom>
          <a:solidFill>
            <a:srgbClr val="90CAF9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0" y="311810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ambientales: temperatura, humedad, luz...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67328" y="3538728"/>
            <a:ext cx="91440" cy="91440"/>
          </a:xfrm>
          <a:prstGeom prst="ellipse">
            <a:avLst/>
          </a:prstGeom>
          <a:solidFill>
            <a:srgbClr val="90CAF9"/>
          </a:solidFill>
          <a:ln/>
        </p:spPr>
      </p:sp>
      <p:sp>
        <p:nvSpPr>
          <p:cNvPr id="29" name="Text 26"/>
          <p:cNvSpPr/>
          <p:nvPr/>
        </p:nvSpPr>
        <p:spPr>
          <a:xfrm>
            <a:off x="3931920" y="347472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vida real: casa y jardín inteligente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767328" y="3895344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90CAF9">
              <a:alpha val="14000"/>
            </a:srgbClr>
          </a:solidFill>
          <a:ln w="9525">
            <a:solidFill>
              <a:srgbClr val="90CAF9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04488" y="39593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904488" y="41422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encendí la luz de tu cuarto desde mi celular."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institución recibe el programa completo sin costo. Los kits son propiedad del estudiante.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38528" cy="1572768"/>
          </a:xfrm>
          <a:prstGeom prst="roundRect">
            <a:avLst>
              <a:gd name="adj" fmla="val 5814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984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42032" y="1188720"/>
            <a:ext cx="1938528" cy="1572768"/>
          </a:xfrm>
          <a:prstGeom prst="roundRect">
            <a:avLst>
              <a:gd name="adj" fmla="val 5814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2984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87752" y="196596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con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18304" y="1188720"/>
            <a:ext cx="1938528" cy="1572768"/>
          </a:xfrm>
          <a:prstGeom prst="roundRect">
            <a:avLst>
              <a:gd name="adj" fmla="val 5814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64024" y="12984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$40–$45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64024" y="196596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personal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(precio al alumno)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94576" y="1188720"/>
            <a:ext cx="1938528" cy="1572768"/>
          </a:xfrm>
          <a:prstGeom prst="roundRect">
            <a:avLst>
              <a:gd name="adj" fmla="val 5814"/>
            </a:avLst>
          </a:prstGeom>
          <a:solidFill>
            <a:srgbClr val="1012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0296" y="12984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C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$48,000+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40296" y="196596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anual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proyectado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907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 EL PROGRAMA?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01168" cy="201168"/>
          </a:xfrm>
          <a:prstGeom prst="ellipse">
            <a:avLst/>
          </a:prstGeom>
          <a:solidFill>
            <a:srgbClr val="81C784">
              <a:alpha val="8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73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32461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inicial y continua a docentes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75888"/>
            <a:ext cx="201168" cy="201168"/>
          </a:xfrm>
          <a:prstGeom prst="ellipse">
            <a:avLst/>
          </a:prstGeom>
          <a:solidFill>
            <a:srgbClr val="81C784">
              <a:alpha val="8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57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36301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Planificaciones alineadas al currículo MINEDUC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059936"/>
            <a:ext cx="201168" cy="201168"/>
          </a:xfrm>
          <a:prstGeom prst="ellipse">
            <a:avLst/>
          </a:prstGeom>
          <a:solidFill>
            <a:srgbClr val="81C784">
              <a:alpha val="8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41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401421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presenciales a las 3 sedes con el equipo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3291840"/>
            <a:ext cx="201168" cy="201168"/>
          </a:xfrm>
          <a:prstGeom prst="ellipse">
            <a:avLst/>
          </a:prstGeom>
          <a:solidFill>
            <a:srgbClr val="FFD54F">
              <a:alpha val="8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73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0" y="32461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activo todo el año escolar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3675888"/>
            <a:ext cx="201168" cy="201168"/>
          </a:xfrm>
          <a:prstGeom prst="ellipse">
            <a:avLst/>
          </a:prstGeom>
          <a:solidFill>
            <a:srgbClr val="FFD54F">
              <a:alpha val="8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657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12080" y="36301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personal por estudiante — se lo llevan a casa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4059936"/>
            <a:ext cx="201168" cy="201168"/>
          </a:xfrm>
          <a:prstGeom prst="ellipse">
            <a:avLst/>
          </a:prstGeom>
          <a:solidFill>
            <a:srgbClr val="FFD54F">
              <a:alpha val="8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4041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2080" y="401421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proveedor para los 9 grados, sin complicaciones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914400"/>
            <a:ext cx="5669280" cy="5669280"/>
          </a:xfrm>
          <a:prstGeom prst="ellipse">
            <a:avLst/>
          </a:prstGeom>
          <a:solidFill>
            <a:srgbClr val="FF7B42">
              <a:alpha val="10000"/>
            </a:srgbClr>
          </a:solidFill>
          <a:ln w="12700">
            <a:solidFill>
              <a:srgbClr val="FF7B42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1828800"/>
            <a:ext cx="4114800" cy="4114800"/>
          </a:xfrm>
          <a:prstGeom prst="ellipse">
            <a:avLst/>
          </a:prstGeom>
          <a:solidFill>
            <a:srgbClr val="4FC3F7">
              <a:alpha val="7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enseñamos robótica.
</a:t>
            </a:r>
            <a:pPr algn="ctr" indent="0" marL="0">
              <a:buNone/>
            </a:pPr>
            <a:r>
              <a:rPr lang="en-US" sz="3800" b="1" dirty="0">
                <a:solidFill>
                  <a:srgbClr val="A0A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Formamos </a:t>
            </a:r>
            <a:pPr algn="ctr" indent="0" marL="0">
              <a:buNone/>
            </a:pPr>
            <a:r>
              <a:rPr lang="en-US" sz="38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ingenieros con alma.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30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"Tenemos el deber urgente de permanecer profundamente humanos."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4005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León XIV · Magnifica Humanitas · §15 ·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contacto@virtussteam.edu.ec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Kits Educativos — VIRTUS STEAM</dc:title>
  <dc:subject>PptxGenJS Presentation</dc:subject>
  <dc:creator>VIRTUS STEAM</dc:creator>
  <cp:lastModifiedBy>VIRTUS STEAM</cp:lastModifiedBy>
  <cp:revision>1</cp:revision>
  <dcterms:created xsi:type="dcterms:W3CDTF">2026-06-29T16:41:52Z</dcterms:created>
  <dcterms:modified xsi:type="dcterms:W3CDTF">2026-06-29T16:41:52Z</dcterms:modified>
</cp:coreProperties>
</file>