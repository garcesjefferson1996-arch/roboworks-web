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69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280160"/>
            <a:ext cx="4572000" cy="4572000"/>
          </a:xfrm>
          <a:prstGeom prst="ellipse">
            <a:avLst/>
          </a:prstGeom>
          <a:solidFill>
            <a:srgbClr val="FF7B42">
              <a:alpha val="8000"/>
            </a:srgbClr>
          </a:solidFill>
          <a:ln w="12700">
            <a:solidFill>
              <a:srgbClr val="FF7B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731520"/>
            <a:ext cx="2926080" cy="2926080"/>
          </a:xfrm>
          <a:prstGeom prst="ellipse">
            <a:avLst/>
          </a:prstGeom>
          <a:solidFill>
            <a:srgbClr val="FF7B42">
              <a:alpha val="15000"/>
            </a:srgbClr>
          </a:solidFill>
          <a:ln w="12700">
            <a:solidFill>
              <a:srgbClr val="FF7B4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261872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
</a:t>
            </a:r>
            <a:r>
              <a:rPr lang="en-US" sz="50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Kits Educativos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85800" y="30723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niveles · 2do a 10mo de Básica · 1,200 estudiantes · Ecuador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56432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07208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07208" y="4023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28616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28616" y="4023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50024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$40–45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50024" y="4023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4709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niño que llega a casa y le dice a su papá: yo lo hice."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Escalera del Ingenio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año, el niño sube un peldaño. Cada kit, un logro nuevo.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2412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630168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2196F3">
              <a:alpha val="88000"/>
            </a:srgbClr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355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2do–3ro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2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773936" y="3401568"/>
            <a:ext cx="914400" cy="640080"/>
          </a:xfrm>
          <a:prstGeom prst="roundRect">
            <a:avLst>
              <a:gd name="adj" fmla="val 7143"/>
            </a:avLst>
          </a:prstGeom>
          <a:solidFill>
            <a:srgbClr val="F59E0B">
              <a:alpha val="88000"/>
            </a:srgbClr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73936" y="3127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73936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73936" y="428853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2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SOLARES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862072" y="3172968"/>
            <a:ext cx="914400" cy="868680"/>
          </a:xfrm>
          <a:prstGeom prst="roundRect">
            <a:avLst>
              <a:gd name="adj" fmla="val 5263"/>
            </a:avLst>
          </a:prstGeom>
          <a:solidFill>
            <a:srgbClr val="16A34A">
              <a:alpha val="88000"/>
            </a:srgbClr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62072" y="2898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62072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62072" y="428853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2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950208" y="2944368"/>
            <a:ext cx="914400" cy="1097280"/>
          </a:xfrm>
          <a:prstGeom prst="roundRect">
            <a:avLst>
              <a:gd name="adj" fmla="val 5000"/>
            </a:avLst>
          </a:prstGeom>
          <a:solidFill>
            <a:srgbClr val="9333EA">
              <a:alpha val="88000"/>
            </a:srgbClr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50208" y="26700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0208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50208" y="428853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2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BIOROBÓTICA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038344" y="2715768"/>
            <a:ext cx="914400" cy="1325880"/>
          </a:xfrm>
          <a:prstGeom prst="roundRect">
            <a:avLst>
              <a:gd name="adj" fmla="val 5000"/>
            </a:avLst>
          </a:prstGeom>
          <a:solidFill>
            <a:srgbClr val="0891B2">
              <a:alpha val="88000"/>
            </a:srgbClr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38344" y="2441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38344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38344" y="428853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2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CÓDIGO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126480" y="2487168"/>
            <a:ext cx="914400" cy="1554480"/>
          </a:xfrm>
          <a:prstGeom prst="roundRect">
            <a:avLst>
              <a:gd name="adj" fmla="val 5000"/>
            </a:avLst>
          </a:prstGeom>
          <a:solidFill>
            <a:srgbClr val="FF7B42">
              <a:alpha val="88000"/>
            </a:srgbClr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212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428853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2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MAKER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7214616" y="2258568"/>
            <a:ext cx="914400" cy="1783080"/>
          </a:xfrm>
          <a:prstGeom prst="roundRect">
            <a:avLst>
              <a:gd name="adj" fmla="val 5000"/>
            </a:avLst>
          </a:prstGeom>
          <a:solidFill>
            <a:srgbClr val="E11D48">
              <a:alpha val="88000"/>
            </a:srgbClr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14616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14616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14616" y="428853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2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AUTÓNOMA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8302752" y="2029968"/>
            <a:ext cx="914400" cy="2011680"/>
          </a:xfrm>
          <a:prstGeom prst="roundRect">
            <a:avLst>
              <a:gd name="adj" fmla="val 5000"/>
            </a:avLst>
          </a:prstGeom>
          <a:solidFill>
            <a:srgbClr val="1D4ED8">
              <a:alpha val="88000"/>
            </a:srgbClr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02752" y="1755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02752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02752" y="428853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2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685800" y="4050792"/>
            <a:ext cx="84124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Construcción física     Electrónica     Programación real     IoT profesional →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con motor eléctrico. Engranajes grandes aptos para manos pequeñas. Sin electricidad directa, sin pantallas.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 – $8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— 3ro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8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CONSTRUCTORES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· Bloques motorizados STEM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espacial y diseño 3D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Motricidad fina y precisión manual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libre: el niño decide qué construye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máquinas simples y engranajes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y comunicación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2196F3">
              <a:alpha val="10000"/>
            </a:srgbClr>
          </a:solidFill>
          <a:ln w="9525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¡construí mi propia grúa y se mueve sola!"</a:t>
            </a:r>
            <a:endParaRPr lang="en-US" sz="10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D13A380-CE21-569E-288C-0B51718E3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329184"/>
            <a:ext cx="2336715" cy="23367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piezas. 12 modelos: caminan, ruedan, giran. Panel solar incluido. Funciona también con linterna.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 – $6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10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SOLARES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 1 · Robot movido por el sol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renovable: el sol como fuente de poder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Ensamblaje mecánico guiado paso a paso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causa–efecto (sol → motor → movimiento)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configuraciones distintas de robot en 1 kit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Perseverancia: construir toma 1–2 horas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robot no necesita pilas, ¡funciona con el sol!"</a:t>
            </a:r>
            <a:endParaRPr lang="en-US" sz="10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90CF303-2945-44CA-36F9-C49F47318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5628"/>
            <a:ext cx="2249593" cy="22495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configuraciones. Control remoto incluido. El estudiante construye Y opera el robot. Motores duales.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 – $12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11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PILOTOS REMOTOS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en 1 · Robot con control remoto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remoto: mando, dirección, respuesta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motores, cables, receptores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control: si presiono esto, pasa aquello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modelos distintos para ensamblar en 1 kit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motora avanzada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yo construí este robot y lo controlo con mis manos."</a:t>
            </a:r>
            <a:endParaRPr lang="en-US" sz="10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06647A8-C3BB-7CCB-2536-4AE147BCE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65929"/>
            <a:ext cx="2089404" cy="20894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ABS plástico. Motor integrado. Patas articuladas. Movimiento autónomo al encender. 4 pilas AA.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 – $7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9333EA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12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BIOROBÓTICA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Insecto eléctrico · ABS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Biomecánica: cómo los insectos se mueven y por qué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y transmisión de fuerza mecánica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inspirado en la naturaleza (biomimética)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circuito, switch, batería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científica: robot vs. insecto real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9333EA">
              <a:alpha val="10000"/>
            </a:srgbClr>
          </a:solidFill>
          <a:ln w="9525">
            <a:solidFill>
              <a:srgbClr val="9333EA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insecto robot que camina solo en la mesa."</a:t>
            </a:r>
            <a:endParaRPr lang="en-US" sz="10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9FB0221-7233-0A0C-F6EA-635AC3D7A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54584"/>
            <a:ext cx="2260600" cy="226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N5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micro:bit o compatible. Sensores de luz, sonido y temperatura. App gratuita. Compatible con Scratch.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– $14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13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CÓDIGO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programación inicial escolar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visual (bloques tipo Scratch)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lógico: secuencias, bucles, condiciones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variables y eventos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hardware–software: mi código mueve el robot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Depuración: encontrar y corregir errores propios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0891B2">
              <a:alpha val="10000"/>
            </a:srgbClr>
          </a:solidFill>
          <a:ln w="9525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programé que la luz se encienda cuando le digo hola."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N6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+ 37 módulos de sensores. Cables, protoboard, LEDs, buzzer. Tutorial paso a paso.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– $14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F7B42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14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MAKER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· 37 sensores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en C++ real (lenguaje profesional)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sensores: luz, temperatura, ultrasonido, humedad...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circuitos eléctricos básicos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reales: alarmas, detectores, displays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científico: hipótesis → código → prueba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F7B42">
              <a:alpha val="10000"/>
            </a:srgbClr>
          </a:solidFill>
          <a:ln w="9525">
            <a:solidFill>
              <a:srgbClr val="FF7B42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detector que suena cuando alguien se acerca."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N7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Chasis 4WD. 2 motores DC. Sensor HC-SR04 ultrasonido. Sensor IR seguidor de línea. Arduino + L298N.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 – $18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15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ROBÓTICA AUTÓNOMA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Robot 4WD Arduino · Autónomo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autónoma: el robot toma sus propias decisiones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ultrasónico: detección de obstáculos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seguidor de línea: navegación por trayectoria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control y lógica condicional avanzada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total: mecánica + electrónica + código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E11D48">
              <a:alpha val="10000"/>
            </a:srgbClr>
          </a:solidFill>
          <a:ln w="9525">
            <a:solidFill>
              <a:srgbClr val="E11D48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carro robot sigue la línea y esquiva obstáculos solo."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DevKit. Sensores DHT22, LDR. Relé para dispositivos reales. Dashboard desde navegador. Sin suscripción.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 – $20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 – $45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16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DE LAS COSAS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WiFi · Proyectos IoT reales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 las Cosas (IoT): conectar físico a internet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WiFi y Bluetooth con ESP32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 desde cualquier celular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ambientales: temperatura, humedad, luz...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vida real: casa y jardín inteligente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1D4ED8">
              <a:alpha val="1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encendí la luz de tu cuarto desde mi celular."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institución recibe el programa completo sin costo. Los kits son propiedad del estudiante.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3327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con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$40–$45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 al alumno)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$48,000+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7804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898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 EL PROGRAMA?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3145536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0098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82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60120" y="324612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inicial y continua a docentes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366674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484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60120" y="361188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Planificaciones alineadas al currículo MINEDUC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403250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14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60120" y="397764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presenciales a las 3 sedes con el equipo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48072" y="330098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148072" y="3282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22392" y="324612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activo todo el año escolar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48072" y="366674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148072" y="36484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22392" y="361188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 por estudiante — se lo llevan a casa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148072" y="403250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148072" y="4014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422392" y="397764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proveedor para los 9 grados, sin complicaciones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5486400" cy="5486400"/>
          </a:xfrm>
          <a:prstGeom prst="ellipse">
            <a:avLst/>
          </a:prstGeom>
          <a:solidFill>
            <a:srgbClr val="FF7B42">
              <a:alpha val="8000"/>
            </a:srgbClr>
          </a:solidFill>
          <a:ln w="12700">
            <a:solidFill>
              <a:srgbClr val="FF7B4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444752"/>
            <a:ext cx="8046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enseñamos robótica.
</a:t>
            </a:r>
            <a:r>
              <a:rPr lang="en-US" sz="37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Formamos </a:t>
            </a:r>
            <a:r>
              <a:rPr lang="en-US" sz="37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con alma.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685800" y="3547872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"Tenemos el deber urgente de permanecer profundamente humanos."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39136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León XIV · Magnifica Humanitas · §15 ·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contacto@virtussteam.edu.ec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1154</Words>
  <Application>Microsoft Office PowerPoint</Application>
  <PresentationFormat>On-screen Show (16:9)</PresentationFormat>
  <Paragraphs>235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Kits Educativos — VIRTUS STEAM</dc:title>
  <dc:subject>PptxGenJS Presentation</dc:subject>
  <dc:creator>VIRTUS STEAM</dc:creator>
  <cp:lastModifiedBy>Jeffersón Iván Garcés  Rivera</cp:lastModifiedBy>
  <cp:revision>2</cp:revision>
  <dcterms:created xsi:type="dcterms:W3CDTF">2026-06-29T16:51:14Z</dcterms:created>
  <dcterms:modified xsi:type="dcterms:W3CDTF">2026-06-29T20:35:42Z</dcterms:modified>
</cp:coreProperties>
</file>