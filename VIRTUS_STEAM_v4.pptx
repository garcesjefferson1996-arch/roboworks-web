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notesMasterIdLst>
    <p:notesMasterId r:id="rId3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eg"/><Relationship Id="rId2" Type="http://schemas.openxmlformats.org/officeDocument/2006/relationships/image" Target="../media/image-15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jpeg"/><Relationship Id="rId2" Type="http://schemas.openxmlformats.org/officeDocument/2006/relationships/image" Target="../media/image-16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jpeg"/><Relationship Id="rId2" Type="http://schemas.openxmlformats.org/officeDocument/2006/relationships/image" Target="../media/image-19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jpeg"/><Relationship Id="rId2" Type="http://schemas.openxmlformats.org/officeDocument/2006/relationships/image" Target="../media/image-20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jpeg"/><Relationship Id="rId2" Type="http://schemas.openxmlformats.org/officeDocument/2006/relationships/image" Target="../media/image-22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3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0" y="-1097280"/>
            <a:ext cx="7315200" cy="7315200"/>
          </a:xfrm>
          <a:prstGeom prst="ellipse">
            <a:avLst/>
          </a:prstGeom>
          <a:solidFill>
            <a:srgbClr val="FF7B42">
              <a:alpha val="6000"/>
            </a:srgbClr>
          </a:solidFill>
          <a:ln w="12700">
            <a:solidFill>
              <a:srgbClr val="FF7B42">
                <a:alpha val="1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0" y="-457200"/>
            <a:ext cx="5029200" cy="5029200"/>
          </a:xfrm>
          <a:prstGeom prst="ellipse">
            <a:avLst/>
          </a:prstGeom>
          <a:solidFill>
            <a:srgbClr val="FF7B42">
              <a:alpha val="10000"/>
            </a:srgbClr>
          </a:solidFill>
          <a:ln w="12700">
            <a:solidFill>
              <a:srgbClr val="FF7B42">
                <a:alpha val="1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371600" y="3200400"/>
            <a:ext cx="4114800" cy="4114800"/>
          </a:xfrm>
          <a:prstGeom prst="ellipse">
            <a:avLst/>
          </a:prstGeom>
          <a:solidFill>
            <a:srgbClr val="00A8E8">
              <a:alpha val="5000"/>
            </a:srgbClr>
          </a:solidFill>
          <a:ln w="12700">
            <a:solidFill>
              <a:srgbClr val="00A8E8">
                <a:alpha val="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347472" cy="5143500"/>
          </a:xfrm>
          <a:prstGeom prst="rect">
            <a:avLst/>
          </a:prstGeom>
          <a:solidFill>
            <a:srgbClr val="FF7B42"/>
          </a:solidFill>
          <a:ln w="12700">
            <a:solidFill>
              <a:srgbClr val="FF7B42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66928" y="256032"/>
            <a:ext cx="2560320" cy="9601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66928" y="1389888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 Educativo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66928" y="1719072"/>
            <a:ext cx="5943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Integral STEAM</a:t>
            </a:r>
            <a:endParaRPr lang="en-US" sz="5200" dirty="0"/>
          </a:p>
        </p:txBody>
      </p:sp>
      <p:sp>
        <p:nvSpPr>
          <p:cNvPr id="9" name="Text 6"/>
          <p:cNvSpPr/>
          <p:nvPr/>
        </p:nvSpPr>
        <p:spPr>
          <a:xfrm>
            <a:off x="566928" y="269748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7B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Instituciones Educativas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66928" y="3200400"/>
            <a:ext cx="5029200" cy="0"/>
          </a:xfrm>
          <a:prstGeom prst="line">
            <a:avLst/>
          </a:prstGeom>
          <a:noFill/>
          <a:ln w="9525">
            <a:solidFill>
              <a:srgbClr val="FF7B42">
                <a:alpha val="45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66928" y="3310128"/>
            <a:ext cx="5303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Tecnología que forma el alma,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566928" y="3675888"/>
            <a:ext cx="5303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7B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solo la mente.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566928" y="4224528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Robótica · Innovación · Formación humana · Ecuador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566928" y="4572000"/>
            <a:ext cx="5029200" cy="0"/>
          </a:xfrm>
          <a:prstGeom prst="line">
            <a:avLst/>
          </a:prstGeom>
          <a:noFill/>
          <a:ln w="635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66928" y="4663440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7B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roboworks.site  ·  @roboworksamb</a:t>
            </a:r>
            <a:endParaRPr lang="en-US" sz="850" dirty="0"/>
          </a:p>
        </p:txBody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120640" y="91440"/>
            <a:ext cx="3931920" cy="48920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5143500"/>
          </a:xfrm>
          <a:prstGeom prst="rect">
            <a:avLst/>
          </a:prstGeom>
          <a:solidFill>
            <a:srgbClr val="FF7B42"/>
          </a:solidFill>
          <a:ln w="12700">
            <a:solidFill>
              <a:srgbClr val="FF7B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28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0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Identidad VIRTUS STEAM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749808"/>
            <a:ext cx="822960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932688"/>
            <a:ext cx="3931920" cy="3931920"/>
          </a:xfrm>
          <a:prstGeom prst="roundRect">
            <a:avLst>
              <a:gd name="adj" fmla="val 2326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325880" y="1024128"/>
            <a:ext cx="457200" cy="457200"/>
          </a:xfrm>
          <a:prstGeom prst="ellipse">
            <a:avLst/>
          </a:prstGeom>
          <a:solidFill>
            <a:srgbClr val="FF7B42"/>
          </a:solidFill>
          <a:ln/>
        </p:spPr>
      </p:sp>
      <p:sp>
        <p:nvSpPr>
          <p:cNvPr id="7" name="Text 5"/>
          <p:cNvSpPr/>
          <p:nvPr/>
        </p:nvSpPr>
        <p:spPr>
          <a:xfrm>
            <a:off x="1325880" y="10241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901952" y="1042416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7B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MISIÓN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68680" y="1536192"/>
            <a:ext cx="35661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Transformar la educación en Ecuador integrando robótica, tecnología y valores, para que cada estudiante desarrolle las competencias del siglo XXI con acompañamiento real, planificación profesional y kits que les permitan aprender haciendo.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68680" y="3794760"/>
            <a:ext cx="356616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3858768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FF7B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 · Ingenio · Perseverancia · Colaboración · Empatía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846320" y="932688"/>
            <a:ext cx="3931920" cy="3931920"/>
          </a:xfrm>
          <a:prstGeom prst="roundRect">
            <a:avLst>
              <a:gd name="adj" fmla="val 2326"/>
            </a:avLst>
          </a:prstGeom>
          <a:solidFill>
            <a:srgbClr val="0F1035"/>
          </a:solidFill>
          <a:ln/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486400" y="1024128"/>
            <a:ext cx="457200" cy="457200"/>
          </a:xfrm>
          <a:prstGeom prst="ellipse">
            <a:avLst/>
          </a:prstGeom>
          <a:solidFill>
            <a:srgbClr val="FF7B42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0" y="10241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0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062472" y="1042416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7B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VISIÓN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029200" y="1536192"/>
            <a:ext cx="35661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 el programa educativo STEAM más completo y humano de Ecuador — donde cada institución encuentre en VIRTUS un socio real que acompaña, capacita y crece junto a sus docentes y estudiantes, construyendo la próxima generación de innovadores latinoamericanos.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029200" y="3794760"/>
            <a:ext cx="3566160" cy="0"/>
          </a:xfrm>
          <a:prstGeom prst="line">
            <a:avLst/>
          </a:prstGeom>
          <a:noFill/>
          <a:ln w="635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0" y="3858768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FF7B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"El futuro se construye hoy, en el aula, con las manos."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0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1371600"/>
            <a:ext cx="5486400" cy="5486400"/>
          </a:xfrm>
          <a:prstGeom prst="ellipse">
            <a:avLst/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09728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0000" dirty="0"/>
          </a:p>
        </p:txBody>
      </p:sp>
      <p:sp>
        <p:nvSpPr>
          <p:cNvPr id="4" name="Text 2"/>
          <p:cNvSpPr/>
          <p:nvPr/>
        </p:nvSpPr>
        <p:spPr>
          <a:xfrm>
            <a:off x="640080" y="1188720"/>
            <a:ext cx="77724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MARCO</a:t>
            </a:r>
            <a:endParaRPr lang="en-US" sz="5200" dirty="0"/>
          </a:p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PEDAGÓGICO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640080" y="32004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7B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Estándares internacionales · UNESCO · Competencias del Siglo XXI · Bloom's Taxonomy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5143500"/>
          </a:xfrm>
          <a:prstGeom prst="rect">
            <a:avLst/>
          </a:prstGeom>
          <a:solidFill>
            <a:srgbClr val="FF7B42"/>
          </a:solidFill>
          <a:ln w="12700">
            <a:solidFill>
              <a:srgbClr val="FF7B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28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0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Competencias del Siglo XXI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85800" y="69494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Alineados con UNESCO, ISTE y el Marco de Habilidades del Siglo XXI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85800" y="1005840"/>
            <a:ext cx="822960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115568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250" kern="0" dirty="0">
                <a:solidFill>
                  <a:srgbClr val="FF7B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REFERENTES INTERNACIONALES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685800" y="1389888"/>
            <a:ext cx="3913632" cy="731520"/>
          </a:xfrm>
          <a:prstGeom prst="roundRect">
            <a:avLst>
              <a:gd name="adj" fmla="val 7500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68680" y="1444752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7B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UNESCO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68680" y="1664208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"La educación debe preparar para los empleos del futuro que aún no existen." · Agenda 2030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685800" y="2258568"/>
            <a:ext cx="3913632" cy="731520"/>
          </a:xfrm>
          <a:prstGeom prst="roundRect">
            <a:avLst>
              <a:gd name="adj" fmla="val 7500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68680" y="2313432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7B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ISTE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68680" y="2532888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Estándares para estudiantes: Empoderado, Constructor, Diseñador, Comunicador, Ciudadano Digital.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85800" y="3127248"/>
            <a:ext cx="3913632" cy="731520"/>
          </a:xfrm>
          <a:prstGeom prst="roundRect">
            <a:avLst>
              <a:gd name="adj" fmla="val 7500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68680" y="3182112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7B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4Cs Framework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868680" y="3401568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Thinking · Collaboration · Communication · Creativity — las 4 habilidades clave del siglo XXI.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85800" y="3995928"/>
            <a:ext cx="3913632" cy="731520"/>
          </a:xfrm>
          <a:prstGeom prst="roundRect">
            <a:avLst>
              <a:gd name="adj" fmla="val 7500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68680" y="4050792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7B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ODS 4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68680" y="4270248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 de Desarrollo Sostenible 4: Garantizar una educación inclusiva, equitativa y de calidad.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800600" y="1115568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250" kern="0" dirty="0">
                <a:solidFill>
                  <a:srgbClr val="FF7B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VIRTUS STEAM DESARROLLA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4800600" y="1389888"/>
            <a:ext cx="1828800" cy="777240"/>
          </a:xfrm>
          <a:prstGeom prst="roundRect">
            <a:avLst>
              <a:gd name="adj" fmla="val 7059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873752" y="1463040"/>
            <a:ext cx="256032" cy="256032"/>
          </a:xfrm>
          <a:prstGeom prst="ellipse">
            <a:avLst/>
          </a:prstGeom>
          <a:solidFill>
            <a:srgbClr val="FF7B42"/>
          </a:solidFill>
          <a:ln/>
        </p:spPr>
      </p:sp>
      <p:sp>
        <p:nvSpPr>
          <p:cNvPr id="22" name="Text 20"/>
          <p:cNvSpPr/>
          <p:nvPr/>
        </p:nvSpPr>
        <p:spPr>
          <a:xfrm>
            <a:off x="4873752" y="146304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5202936" y="1463040"/>
            <a:ext cx="13533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Pensamiento Crítico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5202936" y="1709928"/>
            <a:ext cx="13533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Analizar, cuestionar y resolver problemas complejos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4800600" y="2304288"/>
            <a:ext cx="1828800" cy="777240"/>
          </a:xfrm>
          <a:prstGeom prst="roundRect">
            <a:avLst>
              <a:gd name="adj" fmla="val 7059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873752" y="2377440"/>
            <a:ext cx="256032" cy="256032"/>
          </a:xfrm>
          <a:prstGeom prst="ellipse">
            <a:avLst/>
          </a:prstGeom>
          <a:solidFill>
            <a:srgbClr val="FF7B42"/>
          </a:solidFill>
          <a:ln/>
        </p:spPr>
      </p:sp>
      <p:sp>
        <p:nvSpPr>
          <p:cNvPr id="27" name="Text 25"/>
          <p:cNvSpPr/>
          <p:nvPr/>
        </p:nvSpPr>
        <p:spPr>
          <a:xfrm>
            <a:off x="4873752" y="237744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5202936" y="2377440"/>
            <a:ext cx="13533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Colaboración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5202936" y="2624328"/>
            <a:ext cx="13533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Trabajo en equipo, roles y responsabilidad compartida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4800600" y="3218688"/>
            <a:ext cx="1828800" cy="777240"/>
          </a:xfrm>
          <a:prstGeom prst="roundRect">
            <a:avLst>
              <a:gd name="adj" fmla="val 7059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873752" y="3291840"/>
            <a:ext cx="256032" cy="256032"/>
          </a:xfrm>
          <a:prstGeom prst="ellipse">
            <a:avLst/>
          </a:prstGeom>
          <a:solidFill>
            <a:srgbClr val="FF7B42"/>
          </a:solidFill>
          <a:ln/>
        </p:spPr>
      </p:sp>
      <p:sp>
        <p:nvSpPr>
          <p:cNvPr id="32" name="Text 30"/>
          <p:cNvSpPr/>
          <p:nvPr/>
        </p:nvSpPr>
        <p:spPr>
          <a:xfrm>
            <a:off x="4873752" y="329184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5202936" y="3291840"/>
            <a:ext cx="13533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Comunicación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5202936" y="3538728"/>
            <a:ext cx="13533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Presentar ideas técnicas con claridad y confianza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6812280" y="1389888"/>
            <a:ext cx="1828800" cy="777240"/>
          </a:xfrm>
          <a:prstGeom prst="roundRect">
            <a:avLst>
              <a:gd name="adj" fmla="val 7059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885432" y="1463040"/>
            <a:ext cx="256032" cy="256032"/>
          </a:xfrm>
          <a:prstGeom prst="ellipse">
            <a:avLst/>
          </a:prstGeom>
          <a:solidFill>
            <a:srgbClr val="FF7B42"/>
          </a:solidFill>
          <a:ln/>
        </p:spPr>
      </p:sp>
      <p:sp>
        <p:nvSpPr>
          <p:cNvPr id="37" name="Text 35"/>
          <p:cNvSpPr/>
          <p:nvPr/>
        </p:nvSpPr>
        <p:spPr>
          <a:xfrm>
            <a:off x="6885432" y="146304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7214616" y="1463040"/>
            <a:ext cx="13533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Creatividad e Innovación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7214616" y="1709928"/>
            <a:ext cx="13533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Diseñar soluciones originales a retos reales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6812280" y="2304288"/>
            <a:ext cx="1828800" cy="777240"/>
          </a:xfrm>
          <a:prstGeom prst="roundRect">
            <a:avLst>
              <a:gd name="adj" fmla="val 7059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6885432" y="2377440"/>
            <a:ext cx="256032" cy="256032"/>
          </a:xfrm>
          <a:prstGeom prst="ellipse">
            <a:avLst/>
          </a:prstGeom>
          <a:solidFill>
            <a:srgbClr val="FF7B42"/>
          </a:solidFill>
          <a:ln/>
        </p:spPr>
      </p:sp>
      <p:sp>
        <p:nvSpPr>
          <p:cNvPr id="42" name="Text 40"/>
          <p:cNvSpPr/>
          <p:nvPr/>
        </p:nvSpPr>
        <p:spPr>
          <a:xfrm>
            <a:off x="6885432" y="237744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7214616" y="2377440"/>
            <a:ext cx="13533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Ciudadanía Digital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7214616" y="2624328"/>
            <a:ext cx="13533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 ético y responsable de la tecnología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6812280" y="3218688"/>
            <a:ext cx="1828800" cy="777240"/>
          </a:xfrm>
          <a:prstGeom prst="roundRect">
            <a:avLst>
              <a:gd name="adj" fmla="val 7059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6885432" y="3291840"/>
            <a:ext cx="256032" cy="256032"/>
          </a:xfrm>
          <a:prstGeom prst="ellipse">
            <a:avLst/>
          </a:prstGeom>
          <a:solidFill>
            <a:srgbClr val="FF7B42"/>
          </a:solidFill>
          <a:ln/>
        </p:spPr>
      </p:sp>
      <p:sp>
        <p:nvSpPr>
          <p:cNvPr id="47" name="Text 45"/>
          <p:cNvSpPr/>
          <p:nvPr/>
        </p:nvSpPr>
        <p:spPr>
          <a:xfrm>
            <a:off x="6885432" y="329184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7214616" y="3291840"/>
            <a:ext cx="13533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Alfabetización STEM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7214616" y="3538728"/>
            <a:ext cx="13533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Ciencia, tecnología, ingeniería y matemáticas integradas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5143500"/>
          </a:xfrm>
          <a:prstGeom prst="rect">
            <a:avLst/>
          </a:prstGeom>
          <a:solidFill>
            <a:srgbClr val="FF7B42"/>
          </a:solidFill>
          <a:ln w="12700">
            <a:solidFill>
              <a:srgbClr val="FF7B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28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0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la Comprensión a la Creación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85800" y="69494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Taxonomía de Bloom aplicada al aprendizaje STEAM — cada clase avanza por los tres niveles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85800" y="1005840"/>
            <a:ext cx="822960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1143000"/>
            <a:ext cx="2697480" cy="3749040"/>
          </a:xfrm>
          <a:prstGeom prst="roundRect">
            <a:avLst>
              <a:gd name="adj" fmla="val 3390"/>
            </a:avLst>
          </a:prstGeom>
          <a:solidFill>
            <a:srgbClr val="2196F3">
              <a:alpha val="8000"/>
            </a:srgbClr>
          </a:solidFill>
          <a:ln w="12700">
            <a:solidFill>
              <a:srgbClr val="2196F3">
                <a:alpha val="45000"/>
              </a:srgbClr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95528" y="1234440"/>
            <a:ext cx="530352" cy="530352"/>
          </a:xfrm>
          <a:prstGeom prst="ellipse">
            <a:avLst/>
          </a:prstGeom>
          <a:solidFill>
            <a:srgbClr val="2196F3"/>
          </a:solidFill>
          <a:ln/>
        </p:spPr>
      </p:sp>
      <p:sp>
        <p:nvSpPr>
          <p:cNvPr id="8" name="Text 6"/>
          <p:cNvSpPr/>
          <p:nvPr/>
        </p:nvSpPr>
        <p:spPr>
          <a:xfrm>
            <a:off x="795528" y="123444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435608" y="125272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96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COMPRENSIÓN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435608" y="1545336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Saber y entender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850392" y="1938528"/>
            <a:ext cx="91440" cy="91440"/>
          </a:xfrm>
          <a:prstGeom prst="ellipse">
            <a:avLst/>
          </a:prstGeom>
          <a:solidFill>
            <a:srgbClr val="2196F3"/>
          </a:solidFill>
          <a:ln/>
        </p:spPr>
      </p:sp>
      <p:sp>
        <p:nvSpPr>
          <p:cNvPr id="12" name="Text 10"/>
          <p:cNvSpPr/>
          <p:nvPr/>
        </p:nvSpPr>
        <p:spPr>
          <a:xfrm>
            <a:off x="1005840" y="1874520"/>
            <a:ext cx="226771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Recordar conceptos clave del nivel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850392" y="2276856"/>
            <a:ext cx="91440" cy="91440"/>
          </a:xfrm>
          <a:prstGeom prst="ellipse">
            <a:avLst/>
          </a:prstGeom>
          <a:solidFill>
            <a:srgbClr val="2196F3"/>
          </a:solidFill>
          <a:ln/>
        </p:spPr>
      </p:sp>
      <p:sp>
        <p:nvSpPr>
          <p:cNvPr id="14" name="Text 12"/>
          <p:cNvSpPr/>
          <p:nvPr/>
        </p:nvSpPr>
        <p:spPr>
          <a:xfrm>
            <a:off x="1005840" y="2212848"/>
            <a:ext cx="226771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Entender cómo funciona el mecanismo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850392" y="2615184"/>
            <a:ext cx="91440" cy="91440"/>
          </a:xfrm>
          <a:prstGeom prst="ellipse">
            <a:avLst/>
          </a:prstGeom>
          <a:solidFill>
            <a:srgbClr val="2196F3"/>
          </a:solidFill>
          <a:ln/>
        </p:spPr>
      </p:sp>
      <p:sp>
        <p:nvSpPr>
          <p:cNvPr id="16" name="Text 14"/>
          <p:cNvSpPr/>
          <p:nvPr/>
        </p:nvSpPr>
        <p:spPr>
          <a:xfrm>
            <a:off x="1005840" y="2551176"/>
            <a:ext cx="226771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Identificar las partes del kit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850392" y="2953512"/>
            <a:ext cx="91440" cy="91440"/>
          </a:xfrm>
          <a:prstGeom prst="ellipse">
            <a:avLst/>
          </a:prstGeom>
          <a:solidFill>
            <a:srgbClr val="2196F3"/>
          </a:solidFill>
          <a:ln/>
        </p:spPr>
      </p:sp>
      <p:sp>
        <p:nvSpPr>
          <p:cNvPr id="18" name="Text 16"/>
          <p:cNvSpPr/>
          <p:nvPr/>
        </p:nvSpPr>
        <p:spPr>
          <a:xfrm>
            <a:off x="1005840" y="2889504"/>
            <a:ext cx="226771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Explicar con sus propias palabras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850392" y="3291840"/>
            <a:ext cx="91440" cy="91440"/>
          </a:xfrm>
          <a:prstGeom prst="ellipse">
            <a:avLst/>
          </a:prstGeom>
          <a:solidFill>
            <a:srgbClr val="2196F3"/>
          </a:solidFill>
          <a:ln/>
        </p:spPr>
      </p:sp>
      <p:sp>
        <p:nvSpPr>
          <p:cNvPr id="20" name="Text 18"/>
          <p:cNvSpPr/>
          <p:nvPr/>
        </p:nvSpPr>
        <p:spPr>
          <a:xfrm>
            <a:off x="1005840" y="3227832"/>
            <a:ext cx="226771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Conectar con fenómenos del mundo real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850392" y="3657600"/>
            <a:ext cx="2331720" cy="0"/>
          </a:xfrm>
          <a:prstGeom prst="line">
            <a:avLst/>
          </a:prstGeom>
          <a:noFill/>
          <a:ln w="6350">
            <a:solidFill>
              <a:srgbClr val="2196F3">
                <a:alpha val="5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50392" y="3712464"/>
            <a:ext cx="2331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219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"Entiendo que el engranaje multiplica la fuerza"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3538728" y="1143000"/>
            <a:ext cx="2697480" cy="3749040"/>
          </a:xfrm>
          <a:prstGeom prst="roundRect">
            <a:avLst>
              <a:gd name="adj" fmla="val 3390"/>
            </a:avLst>
          </a:prstGeom>
          <a:solidFill>
            <a:srgbClr val="F59E0B">
              <a:alpha val="8000"/>
            </a:srgbClr>
          </a:solidFill>
          <a:ln w="12700">
            <a:solidFill>
              <a:srgbClr val="F59E0B">
                <a:alpha val="45000"/>
              </a:srgbClr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648456" y="1234440"/>
            <a:ext cx="530352" cy="530352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5" name="Text 23"/>
          <p:cNvSpPr/>
          <p:nvPr/>
        </p:nvSpPr>
        <p:spPr>
          <a:xfrm>
            <a:off x="3648456" y="123444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288536" y="125272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APLICACIÓN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288536" y="1545336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Hacer y experimentar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703320" y="1938528"/>
            <a:ext cx="91440" cy="914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9" name="Text 27"/>
          <p:cNvSpPr/>
          <p:nvPr/>
        </p:nvSpPr>
        <p:spPr>
          <a:xfrm>
            <a:off x="3858768" y="1874520"/>
            <a:ext cx="226771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Ensamblar el kit siguiendo instrucciones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703320" y="2276856"/>
            <a:ext cx="91440" cy="914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31" name="Text 29"/>
          <p:cNvSpPr/>
          <p:nvPr/>
        </p:nvSpPr>
        <p:spPr>
          <a:xfrm>
            <a:off x="3858768" y="2212848"/>
            <a:ext cx="226771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Probar distintas configuraciones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3703320" y="2615184"/>
            <a:ext cx="91440" cy="914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33" name="Text 31"/>
          <p:cNvSpPr/>
          <p:nvPr/>
        </p:nvSpPr>
        <p:spPr>
          <a:xfrm>
            <a:off x="3858768" y="2551176"/>
            <a:ext cx="226771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Identificar errores y corregirlos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3703320" y="2953512"/>
            <a:ext cx="91440" cy="914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35" name="Text 33"/>
          <p:cNvSpPr/>
          <p:nvPr/>
        </p:nvSpPr>
        <p:spPr>
          <a:xfrm>
            <a:off x="3858768" y="2889504"/>
            <a:ext cx="226771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Documentar el proceso en la plataforma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3703320" y="3291840"/>
            <a:ext cx="91440" cy="914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37" name="Text 35"/>
          <p:cNvSpPr/>
          <p:nvPr/>
        </p:nvSpPr>
        <p:spPr>
          <a:xfrm>
            <a:off x="3858768" y="3227832"/>
            <a:ext cx="226771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Colaborar con su equipo para lograrlo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3703320" y="3657600"/>
            <a:ext cx="2331720" cy="0"/>
          </a:xfrm>
          <a:prstGeom prst="line">
            <a:avLst/>
          </a:prstGeom>
          <a:noFill/>
          <a:ln w="6350">
            <a:solidFill>
              <a:srgbClr val="F59E0B">
                <a:alpha val="5000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703320" y="3712464"/>
            <a:ext cx="2331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"Construí el robot con mis manos y lo hice funcionar"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6391656" y="1143000"/>
            <a:ext cx="2697480" cy="3749040"/>
          </a:xfrm>
          <a:prstGeom prst="roundRect">
            <a:avLst>
              <a:gd name="adj" fmla="val 3390"/>
            </a:avLst>
          </a:prstGeom>
          <a:solidFill>
            <a:srgbClr val="16A34A">
              <a:alpha val="8000"/>
            </a:srgbClr>
          </a:solidFill>
          <a:ln w="12700">
            <a:solidFill>
              <a:srgbClr val="16A34A">
                <a:alpha val="45000"/>
              </a:srgbClr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6501384" y="1234440"/>
            <a:ext cx="530352" cy="530352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42" name="Text 40"/>
          <p:cNvSpPr/>
          <p:nvPr/>
        </p:nvSpPr>
        <p:spPr>
          <a:xfrm>
            <a:off x="6501384" y="123444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7141464" y="125272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A3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CREACIÓN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7141464" y="1545336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Diseñar e innovar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6556248" y="1938528"/>
            <a:ext cx="91440" cy="91440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46" name="Text 44"/>
          <p:cNvSpPr/>
          <p:nvPr/>
        </p:nvSpPr>
        <p:spPr>
          <a:xfrm>
            <a:off x="6711696" y="1874520"/>
            <a:ext cx="226771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Proponer mejoras al diseño original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6556248" y="2276856"/>
            <a:ext cx="91440" cy="91440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48" name="Text 46"/>
          <p:cNvSpPr/>
          <p:nvPr/>
        </p:nvSpPr>
        <p:spPr>
          <a:xfrm>
            <a:off x="6711696" y="2212848"/>
            <a:ext cx="226771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 su propia versión del proyecto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6556248" y="2615184"/>
            <a:ext cx="91440" cy="91440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50" name="Text 48"/>
          <p:cNvSpPr/>
          <p:nvPr/>
        </p:nvSpPr>
        <p:spPr>
          <a:xfrm>
            <a:off x="6711696" y="2551176"/>
            <a:ext cx="226771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Presentar y defender su solución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6556248" y="2953512"/>
            <a:ext cx="91440" cy="91440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52" name="Text 50"/>
          <p:cNvSpPr/>
          <p:nvPr/>
        </p:nvSpPr>
        <p:spPr>
          <a:xfrm>
            <a:off x="6711696" y="2889504"/>
            <a:ext cx="226771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Publicar en la plataforma VIRTUS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6556248" y="3291840"/>
            <a:ext cx="91440" cy="91440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54" name="Text 52"/>
          <p:cNvSpPr/>
          <p:nvPr/>
        </p:nvSpPr>
        <p:spPr>
          <a:xfrm>
            <a:off x="6711696" y="3227832"/>
            <a:ext cx="226771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RoboMisión: reto de creación libre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6556248" y="3657600"/>
            <a:ext cx="2331720" cy="0"/>
          </a:xfrm>
          <a:prstGeom prst="line">
            <a:avLst/>
          </a:prstGeom>
          <a:noFill/>
          <a:ln w="6350">
            <a:solidFill>
              <a:srgbClr val="16A34A">
                <a:alpha val="50000"/>
              </a:srgbClr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556248" y="3712464"/>
            <a:ext cx="2331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"Diseñé mi propio robot y lo programé diferente"</a:t>
            </a:r>
            <a:endParaRPr lang="en-US" sz="850" dirty="0"/>
          </a:p>
        </p:txBody>
      </p:sp>
      <p:sp>
        <p:nvSpPr>
          <p:cNvPr id="57" name="Text 55"/>
          <p:cNvSpPr/>
          <p:nvPr/>
        </p:nvSpPr>
        <p:spPr>
          <a:xfrm>
            <a:off x="3364992" y="2560320"/>
            <a:ext cx="137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7B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58" name="Text 56"/>
          <p:cNvSpPr/>
          <p:nvPr/>
        </p:nvSpPr>
        <p:spPr>
          <a:xfrm>
            <a:off x="6199632" y="2560320"/>
            <a:ext cx="137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7B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5143500"/>
          </a:xfrm>
          <a:prstGeom prst="rect">
            <a:avLst/>
          </a:prstGeom>
          <a:solidFill>
            <a:srgbClr val="FF7B42"/>
          </a:solidFill>
          <a:ln w="12700">
            <a:solidFill>
              <a:srgbClr val="FF7B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28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0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Estructura de Cada Clase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85800" y="69494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sesión está diseñada para que el docente la lidere con confianza — con o sin experiencia previa en robótica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85800" y="1005840"/>
            <a:ext cx="822960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1170432"/>
            <a:ext cx="1993392" cy="3703320"/>
          </a:xfrm>
          <a:prstGeom prst="roundRect">
            <a:avLst>
              <a:gd name="adj" fmla="val 3670"/>
            </a:avLst>
          </a:prstGeom>
          <a:solidFill>
            <a:srgbClr val="E11D48">
              <a:alpha val="10000"/>
            </a:srgbClr>
          </a:solidFill>
          <a:ln w="9525">
            <a:solidFill>
              <a:srgbClr val="E11D48">
                <a:alpha val="50000"/>
              </a:srgbClr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77240" y="1261872"/>
            <a:ext cx="438912" cy="438912"/>
          </a:xfrm>
          <a:prstGeom prst="ellipse">
            <a:avLst/>
          </a:prstGeom>
          <a:solidFill>
            <a:srgbClr val="E11D48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26187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307592" y="1280160"/>
            <a:ext cx="1261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11D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ACTIVENSE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307592" y="1536192"/>
            <a:ext cx="1261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777240" y="1810512"/>
            <a:ext cx="1810512" cy="0"/>
          </a:xfrm>
          <a:prstGeom prst="line">
            <a:avLst/>
          </a:prstGeom>
          <a:noFill/>
          <a:ln w="6350">
            <a:solidFill>
              <a:srgbClr val="E11D48">
                <a:alpha val="45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1865376"/>
            <a:ext cx="18105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docente lanza un reto o pregunta provocadora para activar la curiosidad.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777240" y="2606040"/>
            <a:ext cx="1810512" cy="685800"/>
          </a:xfrm>
          <a:prstGeom prst="roundRect">
            <a:avLst>
              <a:gd name="adj" fmla="val 6667"/>
            </a:avLst>
          </a:prstGeom>
          <a:solidFill>
            <a:srgbClr val="E11D48">
              <a:alpha val="18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850392" y="2633472"/>
            <a:ext cx="166420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0F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pasaría si pudieras construir un robot que funcione con el sol?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777240" y="3355848"/>
            <a:ext cx="1810512" cy="0"/>
          </a:xfrm>
          <a:prstGeom prst="line">
            <a:avLst/>
          </a:prstGeom>
          <a:noFill/>
          <a:ln w="6350">
            <a:solidFill>
              <a:srgbClr val="E11D48">
                <a:alpha val="35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" y="3401568"/>
            <a:ext cx="1810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de arranque disponible en la plataforma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2834640" y="1170432"/>
            <a:ext cx="1993392" cy="3703320"/>
          </a:xfrm>
          <a:prstGeom prst="roundRect">
            <a:avLst>
              <a:gd name="adj" fmla="val 3670"/>
            </a:avLst>
          </a:prstGeom>
          <a:solidFill>
            <a:srgbClr val="F59E0B">
              <a:alpha val="10000"/>
            </a:srgbClr>
          </a:solidFill>
          <a:ln w="9525">
            <a:solidFill>
              <a:srgbClr val="F59E0B">
                <a:alpha val="50000"/>
              </a:srgbClr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926080" y="1261872"/>
            <a:ext cx="438912" cy="438912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9" name="Text 17"/>
          <p:cNvSpPr/>
          <p:nvPr/>
        </p:nvSpPr>
        <p:spPr>
          <a:xfrm>
            <a:off x="2926080" y="126187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56432" y="1280160"/>
            <a:ext cx="1261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CONCEPTO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56432" y="1536192"/>
            <a:ext cx="1261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2926080" y="1810512"/>
            <a:ext cx="1810512" cy="0"/>
          </a:xfrm>
          <a:prstGeom prst="line">
            <a:avLst/>
          </a:prstGeom>
          <a:noFill/>
          <a:ln w="6350">
            <a:solidFill>
              <a:srgbClr val="F59E0B">
                <a:alpha val="45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926080" y="1865376"/>
            <a:ext cx="18105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guiado corto para el docente: explica el concepto del día de forma visual y clara.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926080" y="2606040"/>
            <a:ext cx="1810512" cy="685800"/>
          </a:xfrm>
          <a:prstGeom prst="roundRect">
            <a:avLst>
              <a:gd name="adj" fmla="val 6667"/>
            </a:avLst>
          </a:prstGeom>
          <a:solidFill>
            <a:srgbClr val="F59E0B">
              <a:alpha val="18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2999232" y="2633472"/>
            <a:ext cx="166420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0F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de 3–5 min: ¿Cómo funciona la energía solar? ¿Qué es un motor?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2926080" y="3355848"/>
            <a:ext cx="1810512" cy="0"/>
          </a:xfrm>
          <a:prstGeom prst="line">
            <a:avLst/>
          </a:prstGeom>
          <a:noFill/>
          <a:ln w="6350">
            <a:solidFill>
              <a:srgbClr val="F59E0B">
                <a:alpha val="35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926080" y="3401568"/>
            <a:ext cx="1810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docente no necesita saber robótica — el video lo guía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4983480" y="1170432"/>
            <a:ext cx="1993392" cy="3703320"/>
          </a:xfrm>
          <a:prstGeom prst="roundRect">
            <a:avLst>
              <a:gd name="adj" fmla="val 3670"/>
            </a:avLst>
          </a:prstGeom>
          <a:solidFill>
            <a:srgbClr val="16A34A">
              <a:alpha val="10000"/>
            </a:srgbClr>
          </a:solidFill>
          <a:ln w="9525">
            <a:solidFill>
              <a:srgbClr val="16A34A">
                <a:alpha val="50000"/>
              </a:srgbClr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5074920" y="1261872"/>
            <a:ext cx="438912" cy="438912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30" name="Text 28"/>
          <p:cNvSpPr/>
          <p:nvPr/>
        </p:nvSpPr>
        <p:spPr>
          <a:xfrm>
            <a:off x="5074920" y="126187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605272" y="1280160"/>
            <a:ext cx="1261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PRÁCTICA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605272" y="1536192"/>
            <a:ext cx="1261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min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5074920" y="1810512"/>
            <a:ext cx="1810512" cy="0"/>
          </a:xfrm>
          <a:prstGeom prst="line">
            <a:avLst/>
          </a:prstGeom>
          <a:noFill/>
          <a:ln w="6350">
            <a:solidFill>
              <a:srgbClr val="16A34A">
                <a:alpha val="4500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074920" y="1865376"/>
            <a:ext cx="18105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estudiantes construyen, programan y experimentan con su kit personal.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5074920" y="2606040"/>
            <a:ext cx="1810512" cy="685800"/>
          </a:xfrm>
          <a:prstGeom prst="roundRect">
            <a:avLst>
              <a:gd name="adj" fmla="val 6667"/>
            </a:avLst>
          </a:prstGeom>
          <a:solidFill>
            <a:srgbClr val="16A34A">
              <a:alpha val="18000"/>
            </a:srgbClr>
          </a:solidFill>
          <a:ln/>
        </p:spPr>
      </p:sp>
      <p:sp>
        <p:nvSpPr>
          <p:cNvPr id="36" name="Text 34"/>
          <p:cNvSpPr/>
          <p:nvPr/>
        </p:nvSpPr>
        <p:spPr>
          <a:xfrm>
            <a:off x="5148072" y="2633472"/>
            <a:ext cx="166420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0F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Ensamblaje del robot, prueba, ajustes, trabajo en equipo y registro.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5074920" y="3355848"/>
            <a:ext cx="1810512" cy="0"/>
          </a:xfrm>
          <a:prstGeom prst="line">
            <a:avLst/>
          </a:prstGeom>
          <a:noFill/>
          <a:ln w="6350">
            <a:solidFill>
              <a:srgbClr val="16A34A">
                <a:alpha val="3500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074920" y="3401568"/>
            <a:ext cx="1810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docente facilita, observa y anima — no resuelve por ellos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7132320" y="1170432"/>
            <a:ext cx="1993392" cy="3703320"/>
          </a:xfrm>
          <a:prstGeom prst="roundRect">
            <a:avLst>
              <a:gd name="adj" fmla="val 3670"/>
            </a:avLst>
          </a:prstGeom>
          <a:solidFill>
            <a:srgbClr val="1D4ED8">
              <a:alpha val="10000"/>
            </a:srgbClr>
          </a:solidFill>
          <a:ln w="9525">
            <a:solidFill>
              <a:srgbClr val="1D4ED8">
                <a:alpha val="50000"/>
              </a:srgbClr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7223760" y="1261872"/>
            <a:ext cx="438912" cy="438912"/>
          </a:xfrm>
          <a:prstGeom prst="ellipse">
            <a:avLst/>
          </a:prstGeom>
          <a:solidFill>
            <a:srgbClr val="1D4ED8"/>
          </a:solidFill>
          <a:ln/>
        </p:spPr>
      </p:sp>
      <p:sp>
        <p:nvSpPr>
          <p:cNvPr id="41" name="Text 39"/>
          <p:cNvSpPr/>
          <p:nvPr/>
        </p:nvSpPr>
        <p:spPr>
          <a:xfrm>
            <a:off x="7223760" y="126187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7754112" y="1280160"/>
            <a:ext cx="1261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4E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EVALÚAN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7754112" y="1536192"/>
            <a:ext cx="1261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7223760" y="1810512"/>
            <a:ext cx="1810512" cy="0"/>
          </a:xfrm>
          <a:prstGeom prst="line">
            <a:avLst/>
          </a:prstGeom>
          <a:noFill/>
          <a:ln w="6350">
            <a:solidFill>
              <a:srgbClr val="1D4ED8">
                <a:alpha val="4500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223760" y="1865376"/>
            <a:ext cx="18105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corto en la plataforma VIRTUS + reflexión final del equipo.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7223760" y="2606040"/>
            <a:ext cx="1810512" cy="685800"/>
          </a:xfrm>
          <a:prstGeom prst="roundRect">
            <a:avLst>
              <a:gd name="adj" fmla="val 6667"/>
            </a:avLst>
          </a:prstGeom>
          <a:solidFill>
            <a:srgbClr val="1D4ED8">
              <a:alpha val="18000"/>
            </a:srgbClr>
          </a:solidFill>
          <a:ln/>
        </p:spPr>
      </p:sp>
      <p:sp>
        <p:nvSpPr>
          <p:cNvPr id="47" name="Text 45"/>
          <p:cNvSpPr/>
          <p:nvPr/>
        </p:nvSpPr>
        <p:spPr>
          <a:xfrm>
            <a:off x="7296912" y="2633472"/>
            <a:ext cx="166420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0F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3–5 preguntas de comprensión + autoevaluación de la misión.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7223760" y="3355848"/>
            <a:ext cx="1810512" cy="0"/>
          </a:xfrm>
          <a:prstGeom prst="line">
            <a:avLst/>
          </a:prstGeom>
          <a:noFill/>
          <a:ln w="6350">
            <a:solidFill>
              <a:srgbClr val="1D4ED8">
                <a:alpha val="35000"/>
              </a:srgbClr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223760" y="3401568"/>
            <a:ext cx="1810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 disponibles para el docente en tiempo real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5143500"/>
          </a:xfrm>
          <a:prstGeom prst="rect">
            <a:avLst/>
          </a:prstGeom>
          <a:solidFill>
            <a:srgbClr val="FF7B42"/>
          </a:solidFill>
          <a:ln w="12700">
            <a:solidFill>
              <a:srgbClr val="FF7B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164592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0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Clase de 80 Minutos — Niveles N1 a N4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85800" y="62179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2do a 6to Básica · 6 a 12 años · Kits de construcción y electrónica inicial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685800" y="914400"/>
            <a:ext cx="822960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1005840"/>
            <a:ext cx="1051560" cy="292608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005840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 min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737360" y="1005840"/>
            <a:ext cx="1577340" cy="2926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737360" y="1005840"/>
            <a:ext cx="15773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 min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314700" y="1005840"/>
            <a:ext cx="4732020" cy="29260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14700" y="1005840"/>
            <a:ext cx="47320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45 min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8046720" y="1005840"/>
            <a:ext cx="1051560" cy="292608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46720" y="1005840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 min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85800" y="1389888"/>
            <a:ext cx="2011680" cy="3520440"/>
          </a:xfrm>
          <a:prstGeom prst="roundRect">
            <a:avLst>
              <a:gd name="adj" fmla="val 3636"/>
            </a:avLst>
          </a:prstGeom>
          <a:solidFill>
            <a:srgbClr val="E11D48">
              <a:alpha val="9000"/>
            </a:srgbClr>
          </a:solidFill>
          <a:ln w="9525">
            <a:solidFill>
              <a:srgbClr val="E11D48">
                <a:alpha val="52000"/>
              </a:srgbClr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77240" y="1463040"/>
            <a:ext cx="420624" cy="420624"/>
          </a:xfrm>
          <a:prstGeom prst="ellipse">
            <a:avLst/>
          </a:prstGeom>
          <a:solidFill>
            <a:srgbClr val="E11D48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14630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280160" y="1481328"/>
            <a:ext cx="13533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11D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ACTIVENSE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1280160" y="1700784"/>
            <a:ext cx="1353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Calentamos motores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777240" y="1956816"/>
            <a:ext cx="1828800" cy="0"/>
          </a:xfrm>
          <a:prstGeom prst="line">
            <a:avLst/>
          </a:prstGeom>
          <a:noFill/>
          <a:ln w="6350">
            <a:solidFill>
              <a:srgbClr val="E11D48">
                <a:alpha val="4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95528" y="2103120"/>
            <a:ext cx="91440" cy="91440"/>
          </a:xfrm>
          <a:prstGeom prst="ellipse">
            <a:avLst/>
          </a:prstGeom>
          <a:solidFill>
            <a:srgbClr val="E11D48"/>
          </a:solidFill>
          <a:ln/>
        </p:spPr>
      </p:sp>
      <p:sp>
        <p:nvSpPr>
          <p:cNvPr id="21" name="Text 19"/>
          <p:cNvSpPr/>
          <p:nvPr/>
        </p:nvSpPr>
        <p:spPr>
          <a:xfrm>
            <a:off x="941832" y="2011680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de inicio en plataforma (2 min)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795528" y="2468880"/>
            <a:ext cx="91440" cy="91440"/>
          </a:xfrm>
          <a:prstGeom prst="ellipse">
            <a:avLst/>
          </a:prstGeom>
          <a:solidFill>
            <a:srgbClr val="E11D48"/>
          </a:solidFill>
          <a:ln/>
        </p:spPr>
      </p:sp>
      <p:sp>
        <p:nvSpPr>
          <p:cNvPr id="23" name="Text 21"/>
          <p:cNvSpPr/>
          <p:nvPr/>
        </p:nvSpPr>
        <p:spPr>
          <a:xfrm>
            <a:off x="941832" y="2377440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 curiosa: ¿qué crees que va a pasar?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795528" y="2834640"/>
            <a:ext cx="91440" cy="91440"/>
          </a:xfrm>
          <a:prstGeom prst="ellipse">
            <a:avLst/>
          </a:prstGeom>
          <a:solidFill>
            <a:srgbClr val="E11D48"/>
          </a:solidFill>
          <a:ln/>
        </p:spPr>
      </p:sp>
      <p:sp>
        <p:nvSpPr>
          <p:cNvPr id="25" name="Text 23"/>
          <p:cNvSpPr/>
          <p:nvPr/>
        </p:nvSpPr>
        <p:spPr>
          <a:xfrm>
            <a:off x="941832" y="2743200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 reto físico o de predicción en equipo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795528" y="3200400"/>
            <a:ext cx="91440" cy="91440"/>
          </a:xfrm>
          <a:prstGeom prst="ellipse">
            <a:avLst/>
          </a:prstGeom>
          <a:solidFill>
            <a:srgbClr val="E11D48"/>
          </a:solidFill>
          <a:ln/>
        </p:spPr>
      </p:sp>
      <p:sp>
        <p:nvSpPr>
          <p:cNvPr id="27" name="Text 25"/>
          <p:cNvSpPr/>
          <p:nvPr/>
        </p:nvSpPr>
        <p:spPr>
          <a:xfrm>
            <a:off x="941832" y="3108960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Revisión rápida de la clase anterior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777240" y="4096512"/>
            <a:ext cx="1828800" cy="384048"/>
          </a:xfrm>
          <a:prstGeom prst="roundRect">
            <a:avLst>
              <a:gd name="adj" fmla="val 11905"/>
            </a:avLst>
          </a:prstGeom>
          <a:solidFill>
            <a:srgbClr val="E11D48">
              <a:alpha val="20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832104" y="411480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docente activa, no explica. La curiosidad lleva la sesión.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2834640" y="1389888"/>
            <a:ext cx="2011680" cy="3520440"/>
          </a:xfrm>
          <a:prstGeom prst="roundRect">
            <a:avLst>
              <a:gd name="adj" fmla="val 3636"/>
            </a:avLst>
          </a:prstGeom>
          <a:solidFill>
            <a:srgbClr val="F59E0B">
              <a:alpha val="9000"/>
            </a:srgbClr>
          </a:solidFill>
          <a:ln w="9525">
            <a:solidFill>
              <a:srgbClr val="F59E0B">
                <a:alpha val="52000"/>
              </a:srgbClr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2926080" y="1463040"/>
            <a:ext cx="420624" cy="420624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32" name="Text 30"/>
          <p:cNvSpPr/>
          <p:nvPr/>
        </p:nvSpPr>
        <p:spPr>
          <a:xfrm>
            <a:off x="2926080" y="14630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3429000" y="1481328"/>
            <a:ext cx="13533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CONCEPTO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3429000" y="1700784"/>
            <a:ext cx="1353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Aprendemos juntos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2926080" y="1956816"/>
            <a:ext cx="1828800" cy="0"/>
          </a:xfrm>
          <a:prstGeom prst="line">
            <a:avLst/>
          </a:prstGeom>
          <a:noFill/>
          <a:ln w="6350">
            <a:solidFill>
              <a:srgbClr val="F59E0B">
                <a:alpha val="45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944368" y="2103120"/>
            <a:ext cx="91440" cy="914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37" name="Text 35"/>
          <p:cNvSpPr/>
          <p:nvPr/>
        </p:nvSpPr>
        <p:spPr>
          <a:xfrm>
            <a:off x="3090672" y="2011680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guiado de la plataforma (4–5 min)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2944368" y="2468880"/>
            <a:ext cx="91440" cy="914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39" name="Text 37"/>
          <p:cNvSpPr/>
          <p:nvPr/>
        </p:nvSpPr>
        <p:spPr>
          <a:xfrm>
            <a:off x="3090672" y="2377440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docente muestra el kit y señala las partes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2944368" y="2834640"/>
            <a:ext cx="91440" cy="914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41" name="Text 39"/>
          <p:cNvSpPr/>
          <p:nvPr/>
        </p:nvSpPr>
        <p:spPr>
          <a:xfrm>
            <a:off x="3090672" y="2743200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 de comprensión al grupo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2944368" y="3200400"/>
            <a:ext cx="91440" cy="914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43" name="Text 41"/>
          <p:cNvSpPr/>
          <p:nvPr/>
        </p:nvSpPr>
        <p:spPr>
          <a:xfrm>
            <a:off x="3090672" y="3108960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Vocabulario clave del nivel en la pizarra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2926080" y="4096512"/>
            <a:ext cx="1828800" cy="384048"/>
          </a:xfrm>
          <a:prstGeom prst="roundRect">
            <a:avLst>
              <a:gd name="adj" fmla="val 11905"/>
            </a:avLst>
          </a:prstGeom>
          <a:solidFill>
            <a:srgbClr val="F59E0B">
              <a:alpha val="20000"/>
            </a:srgbClr>
          </a:solidFill>
          <a:ln/>
        </p:spPr>
      </p:sp>
      <p:sp>
        <p:nvSpPr>
          <p:cNvPr id="45" name="Text 43"/>
          <p:cNvSpPr/>
          <p:nvPr/>
        </p:nvSpPr>
        <p:spPr>
          <a:xfrm>
            <a:off x="2980944" y="411480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docente no necesita saber robótica. El video lo guía paso a paso.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4983480" y="1389888"/>
            <a:ext cx="2011680" cy="3520440"/>
          </a:xfrm>
          <a:prstGeom prst="roundRect">
            <a:avLst>
              <a:gd name="adj" fmla="val 3636"/>
            </a:avLst>
          </a:prstGeom>
          <a:solidFill>
            <a:srgbClr val="16A34A">
              <a:alpha val="9000"/>
            </a:srgbClr>
          </a:solidFill>
          <a:ln w="9525">
            <a:solidFill>
              <a:srgbClr val="16A34A">
                <a:alpha val="52000"/>
              </a:srgbClr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5074920" y="1463040"/>
            <a:ext cx="420624" cy="420624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48" name="Text 46"/>
          <p:cNvSpPr/>
          <p:nvPr/>
        </p:nvSpPr>
        <p:spPr>
          <a:xfrm>
            <a:off x="5074920" y="14630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5577840" y="1481328"/>
            <a:ext cx="13533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6A3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PRÁCTICA</a:t>
            </a:r>
            <a:endParaRPr lang="en-US" sz="1050" dirty="0"/>
          </a:p>
        </p:txBody>
      </p:sp>
      <p:sp>
        <p:nvSpPr>
          <p:cNvPr id="50" name="Text 48"/>
          <p:cNvSpPr/>
          <p:nvPr/>
        </p:nvSpPr>
        <p:spPr>
          <a:xfrm>
            <a:off x="5577840" y="1700784"/>
            <a:ext cx="1353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¡Manos a la obra!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5074920" y="1956816"/>
            <a:ext cx="1828800" cy="0"/>
          </a:xfrm>
          <a:prstGeom prst="line">
            <a:avLst/>
          </a:prstGeom>
          <a:noFill/>
          <a:ln w="6350">
            <a:solidFill>
              <a:srgbClr val="16A34A">
                <a:alpha val="4500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093208" y="2103120"/>
            <a:ext cx="91440" cy="91440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53" name="Text 51"/>
          <p:cNvSpPr/>
          <p:nvPr/>
        </p:nvSpPr>
        <p:spPr>
          <a:xfrm>
            <a:off x="5239512" y="2011680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Construcción guiada paso a paso (30 min)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5093208" y="2468880"/>
            <a:ext cx="91440" cy="91440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55" name="Text 53"/>
          <p:cNvSpPr/>
          <p:nvPr/>
        </p:nvSpPr>
        <p:spPr>
          <a:xfrm>
            <a:off x="5239512" y="2377440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muestra instrucciones visuales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5093208" y="2834640"/>
            <a:ext cx="91440" cy="91440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57" name="Text 55"/>
          <p:cNvSpPr/>
          <p:nvPr/>
        </p:nvSpPr>
        <p:spPr>
          <a:xfrm>
            <a:off x="5239512" y="2743200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Personalización del robot (10 min)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5093208" y="3200400"/>
            <a:ext cx="91440" cy="91440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59" name="Text 57"/>
          <p:cNvSpPr/>
          <p:nvPr/>
        </p:nvSpPr>
        <p:spPr>
          <a:xfrm>
            <a:off x="5239512" y="3108960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 final: ¿funciona? — registro en plataforma (5 min)</a:t>
            </a:r>
            <a:endParaRPr lang="en-US" sz="800" dirty="0"/>
          </a:p>
        </p:txBody>
      </p:sp>
      <p:sp>
        <p:nvSpPr>
          <p:cNvPr id="60" name="Shape 58"/>
          <p:cNvSpPr/>
          <p:nvPr/>
        </p:nvSpPr>
        <p:spPr>
          <a:xfrm>
            <a:off x="5074920" y="4096512"/>
            <a:ext cx="1828800" cy="384048"/>
          </a:xfrm>
          <a:prstGeom prst="roundRect">
            <a:avLst>
              <a:gd name="adj" fmla="val 11905"/>
            </a:avLst>
          </a:prstGeom>
          <a:solidFill>
            <a:srgbClr val="16A34A">
              <a:alpha val="20000"/>
            </a:srgbClr>
          </a:solidFill>
          <a:ln/>
        </p:spPr>
      </p:sp>
      <p:sp>
        <p:nvSpPr>
          <p:cNvPr id="61" name="Text 59"/>
          <p:cNvSpPr/>
          <p:nvPr/>
        </p:nvSpPr>
        <p:spPr>
          <a:xfrm>
            <a:off x="5129784" y="411480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docente facilita y anima. Los estudiantes resuelven solos.</a:t>
            </a:r>
            <a:endParaRPr lang="en-US" sz="750" dirty="0"/>
          </a:p>
        </p:txBody>
      </p:sp>
      <p:sp>
        <p:nvSpPr>
          <p:cNvPr id="62" name="Shape 60"/>
          <p:cNvSpPr/>
          <p:nvPr/>
        </p:nvSpPr>
        <p:spPr>
          <a:xfrm>
            <a:off x="7132320" y="1389888"/>
            <a:ext cx="2011680" cy="3520440"/>
          </a:xfrm>
          <a:prstGeom prst="roundRect">
            <a:avLst>
              <a:gd name="adj" fmla="val 3636"/>
            </a:avLst>
          </a:prstGeom>
          <a:solidFill>
            <a:srgbClr val="1D4ED8">
              <a:alpha val="9000"/>
            </a:srgbClr>
          </a:solidFill>
          <a:ln w="9525">
            <a:solidFill>
              <a:srgbClr val="1D4ED8">
                <a:alpha val="52000"/>
              </a:srgbClr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63" name="Shape 61"/>
          <p:cNvSpPr/>
          <p:nvPr/>
        </p:nvSpPr>
        <p:spPr>
          <a:xfrm>
            <a:off x="7223760" y="1463040"/>
            <a:ext cx="420624" cy="420624"/>
          </a:xfrm>
          <a:prstGeom prst="ellipse">
            <a:avLst/>
          </a:prstGeom>
          <a:solidFill>
            <a:srgbClr val="1D4ED8"/>
          </a:solidFill>
          <a:ln/>
        </p:spPr>
      </p:sp>
      <p:sp>
        <p:nvSpPr>
          <p:cNvPr id="64" name="Text 62"/>
          <p:cNvSpPr/>
          <p:nvPr/>
        </p:nvSpPr>
        <p:spPr>
          <a:xfrm>
            <a:off x="7223760" y="14630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000" dirty="0"/>
          </a:p>
        </p:txBody>
      </p:sp>
      <p:sp>
        <p:nvSpPr>
          <p:cNvPr id="65" name="Text 63"/>
          <p:cNvSpPr/>
          <p:nvPr/>
        </p:nvSpPr>
        <p:spPr>
          <a:xfrm>
            <a:off x="7726680" y="1481328"/>
            <a:ext cx="13533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D4E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EVALÚAN</a:t>
            </a:r>
            <a:endParaRPr lang="en-US" sz="1050" dirty="0"/>
          </a:p>
        </p:txBody>
      </p:sp>
      <p:sp>
        <p:nvSpPr>
          <p:cNvPr id="66" name="Text 64"/>
          <p:cNvSpPr/>
          <p:nvPr/>
        </p:nvSpPr>
        <p:spPr>
          <a:xfrm>
            <a:off x="7726680" y="1700784"/>
            <a:ext cx="1353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aprendimos?</a:t>
            </a:r>
            <a:endParaRPr lang="en-US" sz="850" dirty="0"/>
          </a:p>
        </p:txBody>
      </p:sp>
      <p:sp>
        <p:nvSpPr>
          <p:cNvPr id="67" name="Shape 65"/>
          <p:cNvSpPr/>
          <p:nvPr/>
        </p:nvSpPr>
        <p:spPr>
          <a:xfrm>
            <a:off x="7223760" y="1956816"/>
            <a:ext cx="1828800" cy="0"/>
          </a:xfrm>
          <a:prstGeom prst="line">
            <a:avLst/>
          </a:prstGeom>
          <a:noFill/>
          <a:ln w="6350">
            <a:solidFill>
              <a:srgbClr val="1D4ED8">
                <a:alpha val="45000"/>
              </a:srgbClr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7242048" y="2103120"/>
            <a:ext cx="91440" cy="91440"/>
          </a:xfrm>
          <a:prstGeom prst="ellipse">
            <a:avLst/>
          </a:prstGeom>
          <a:solidFill>
            <a:srgbClr val="1D4ED8"/>
          </a:solidFill>
          <a:ln/>
        </p:spPr>
      </p:sp>
      <p:sp>
        <p:nvSpPr>
          <p:cNvPr id="69" name="Text 67"/>
          <p:cNvSpPr/>
          <p:nvPr/>
        </p:nvSpPr>
        <p:spPr>
          <a:xfrm>
            <a:off x="7388352" y="2011680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visual de 3 preguntas en plataforma</a:t>
            </a:r>
            <a:endParaRPr lang="en-US" sz="800" dirty="0"/>
          </a:p>
        </p:txBody>
      </p:sp>
      <p:sp>
        <p:nvSpPr>
          <p:cNvPr id="70" name="Shape 68"/>
          <p:cNvSpPr/>
          <p:nvPr/>
        </p:nvSpPr>
        <p:spPr>
          <a:xfrm>
            <a:off x="7242048" y="2468880"/>
            <a:ext cx="91440" cy="91440"/>
          </a:xfrm>
          <a:prstGeom prst="ellipse">
            <a:avLst/>
          </a:prstGeom>
          <a:solidFill>
            <a:srgbClr val="1D4ED8"/>
          </a:solidFill>
          <a:ln/>
        </p:spPr>
      </p:sp>
      <p:sp>
        <p:nvSpPr>
          <p:cNvPr id="71" name="Text 69"/>
          <p:cNvSpPr/>
          <p:nvPr/>
        </p:nvSpPr>
        <p:spPr>
          <a:xfrm>
            <a:off x="7388352" y="2377440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equipo muestra su construcción</a:t>
            </a:r>
            <a:endParaRPr lang="en-US" sz="800" dirty="0"/>
          </a:p>
        </p:txBody>
      </p:sp>
      <p:sp>
        <p:nvSpPr>
          <p:cNvPr id="72" name="Shape 70"/>
          <p:cNvSpPr/>
          <p:nvPr/>
        </p:nvSpPr>
        <p:spPr>
          <a:xfrm>
            <a:off x="7242048" y="2834640"/>
            <a:ext cx="91440" cy="91440"/>
          </a:xfrm>
          <a:prstGeom prst="ellipse">
            <a:avLst/>
          </a:prstGeom>
          <a:solidFill>
            <a:srgbClr val="1D4ED8"/>
          </a:solidFill>
          <a:ln/>
        </p:spPr>
      </p:sp>
      <p:sp>
        <p:nvSpPr>
          <p:cNvPr id="73" name="Text 71"/>
          <p:cNvSpPr/>
          <p:nvPr/>
        </p:nvSpPr>
        <p:spPr>
          <a:xfrm>
            <a:off x="7388352" y="2743200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Reflexión: ¿qué cambiarías de tu robot?</a:t>
            </a:r>
            <a:endParaRPr lang="en-US" sz="800" dirty="0"/>
          </a:p>
        </p:txBody>
      </p:sp>
      <p:sp>
        <p:nvSpPr>
          <p:cNvPr id="74" name="Shape 72"/>
          <p:cNvSpPr/>
          <p:nvPr/>
        </p:nvSpPr>
        <p:spPr>
          <a:xfrm>
            <a:off x="7242048" y="3200400"/>
            <a:ext cx="91440" cy="91440"/>
          </a:xfrm>
          <a:prstGeom prst="ellipse">
            <a:avLst/>
          </a:prstGeom>
          <a:solidFill>
            <a:srgbClr val="1D4ED8"/>
          </a:solidFill>
          <a:ln/>
        </p:spPr>
      </p:sp>
      <p:sp>
        <p:nvSpPr>
          <p:cNvPr id="75" name="Text 73"/>
          <p:cNvSpPr/>
          <p:nvPr/>
        </p:nvSpPr>
        <p:spPr>
          <a:xfrm>
            <a:off x="7388352" y="3108960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Docente ve resultados en tiempo real</a:t>
            </a:r>
            <a:endParaRPr lang="en-US" sz="800" dirty="0"/>
          </a:p>
        </p:txBody>
      </p:sp>
      <p:sp>
        <p:nvSpPr>
          <p:cNvPr id="76" name="Shape 74"/>
          <p:cNvSpPr/>
          <p:nvPr/>
        </p:nvSpPr>
        <p:spPr>
          <a:xfrm>
            <a:off x="7223760" y="4096512"/>
            <a:ext cx="1828800" cy="384048"/>
          </a:xfrm>
          <a:prstGeom prst="roundRect">
            <a:avLst>
              <a:gd name="adj" fmla="val 11905"/>
            </a:avLst>
          </a:prstGeom>
          <a:solidFill>
            <a:srgbClr val="1D4ED8">
              <a:alpha val="20000"/>
            </a:srgbClr>
          </a:solidFill>
          <a:ln/>
        </p:spPr>
      </p:sp>
      <p:sp>
        <p:nvSpPr>
          <p:cNvPr id="77" name="Text 75"/>
          <p:cNvSpPr/>
          <p:nvPr/>
        </p:nvSpPr>
        <p:spPr>
          <a:xfrm>
            <a:off x="7278624" y="411480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 con celebración. La nota se genera automáticamente.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5143500"/>
          </a:xfrm>
          <a:prstGeom prst="rect">
            <a:avLst/>
          </a:prstGeom>
          <a:solidFill>
            <a:srgbClr val="0F2A5E"/>
          </a:solidFill>
          <a:ln w="12700">
            <a:solidFill>
              <a:srgbClr val="0F2A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164592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0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Clase de 80 Minutos — Niveles N5 a N8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85800" y="62179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7mo a 10mo Básica · 12 a 16 años · Programación, Arduino, Brazo Robótico y ESP32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685800" y="914400"/>
            <a:ext cx="822960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1005840"/>
            <a:ext cx="1051560" cy="292608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005840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 min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737360" y="1005840"/>
            <a:ext cx="2103120" cy="2926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737360" y="100584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 min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840480" y="1005840"/>
            <a:ext cx="4206240" cy="29260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40480" y="1005840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 min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8046720" y="1005840"/>
            <a:ext cx="1051560" cy="292608"/>
          </a:xfrm>
          <a:prstGeom prst="rect">
            <a:avLst/>
          </a:prstGeom>
          <a:solidFill>
            <a:srgbClr val="4C1D95"/>
          </a:solidFill>
          <a:ln w="12700">
            <a:solidFill>
              <a:srgbClr val="4C1D9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46720" y="1005840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 min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85800" y="1389888"/>
            <a:ext cx="2011680" cy="3520440"/>
          </a:xfrm>
          <a:prstGeom prst="roundRect">
            <a:avLst>
              <a:gd name="adj" fmla="val 3636"/>
            </a:avLst>
          </a:prstGeom>
          <a:solidFill>
            <a:srgbClr val="E11D48">
              <a:alpha val="9000"/>
            </a:srgbClr>
          </a:solidFill>
          <a:ln w="9525">
            <a:solidFill>
              <a:srgbClr val="E11D48">
                <a:alpha val="52000"/>
              </a:srgbClr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77240" y="1463040"/>
            <a:ext cx="420624" cy="420624"/>
          </a:xfrm>
          <a:prstGeom prst="ellipse">
            <a:avLst/>
          </a:prstGeom>
          <a:solidFill>
            <a:srgbClr val="E11D48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14630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280160" y="1481328"/>
            <a:ext cx="13533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11D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ACTIVENSE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1280160" y="1700784"/>
            <a:ext cx="1353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desafío del día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777240" y="1956816"/>
            <a:ext cx="1828800" cy="0"/>
          </a:xfrm>
          <a:prstGeom prst="line">
            <a:avLst/>
          </a:prstGeom>
          <a:noFill/>
          <a:ln w="6350">
            <a:solidFill>
              <a:srgbClr val="E11D48">
                <a:alpha val="4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95528" y="2103120"/>
            <a:ext cx="91440" cy="91440"/>
          </a:xfrm>
          <a:prstGeom prst="ellipse">
            <a:avLst/>
          </a:prstGeom>
          <a:solidFill>
            <a:srgbClr val="E11D48"/>
          </a:solidFill>
          <a:ln/>
        </p:spPr>
      </p:sp>
      <p:sp>
        <p:nvSpPr>
          <p:cNvPr id="21" name="Text 19"/>
          <p:cNvSpPr/>
          <p:nvPr/>
        </p:nvSpPr>
        <p:spPr>
          <a:xfrm>
            <a:off x="941832" y="2011680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 de problema real: presentan el caso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795528" y="2468880"/>
            <a:ext cx="91440" cy="91440"/>
          </a:xfrm>
          <a:prstGeom prst="ellipse">
            <a:avLst/>
          </a:prstGeom>
          <a:solidFill>
            <a:srgbClr val="E11D48"/>
          </a:solidFill>
          <a:ln/>
        </p:spPr>
      </p:sp>
      <p:sp>
        <p:nvSpPr>
          <p:cNvPr id="23" name="Text 21"/>
          <p:cNvSpPr/>
          <p:nvPr/>
        </p:nvSpPr>
        <p:spPr>
          <a:xfrm>
            <a:off x="941832" y="2377440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¿Cómo lo resolverías con tecnología?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795528" y="2834640"/>
            <a:ext cx="91440" cy="91440"/>
          </a:xfrm>
          <a:prstGeom prst="ellipse">
            <a:avLst/>
          </a:prstGeom>
          <a:solidFill>
            <a:srgbClr val="E11D48"/>
          </a:solidFill>
          <a:ln/>
        </p:spPr>
      </p:sp>
      <p:sp>
        <p:nvSpPr>
          <p:cNvPr id="25" name="Text 23"/>
          <p:cNvSpPr/>
          <p:nvPr/>
        </p:nvSpPr>
        <p:spPr>
          <a:xfrm>
            <a:off x="941832" y="2743200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Revisión del avance anterior (quiz verbal)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795528" y="3200400"/>
            <a:ext cx="91440" cy="91440"/>
          </a:xfrm>
          <a:prstGeom prst="ellipse">
            <a:avLst/>
          </a:prstGeom>
          <a:solidFill>
            <a:srgbClr val="E11D48"/>
          </a:solidFill>
          <a:ln/>
        </p:spPr>
      </p:sp>
      <p:sp>
        <p:nvSpPr>
          <p:cNvPr id="27" name="Text 25"/>
          <p:cNvSpPr/>
          <p:nvPr/>
        </p:nvSpPr>
        <p:spPr>
          <a:xfrm>
            <a:off x="941832" y="3108960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 define su hipótesis de trabajo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777240" y="4096512"/>
            <a:ext cx="1828800" cy="384048"/>
          </a:xfrm>
          <a:prstGeom prst="roundRect">
            <a:avLst>
              <a:gd name="adj" fmla="val 11905"/>
            </a:avLst>
          </a:prstGeom>
          <a:solidFill>
            <a:srgbClr val="E11D48">
              <a:alpha val="20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832104" y="411480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 activa con juego — se activa con un reto real que deben resolver.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2834640" y="1389888"/>
            <a:ext cx="2011680" cy="3520440"/>
          </a:xfrm>
          <a:prstGeom prst="roundRect">
            <a:avLst>
              <a:gd name="adj" fmla="val 3636"/>
            </a:avLst>
          </a:prstGeom>
          <a:solidFill>
            <a:srgbClr val="F59E0B">
              <a:alpha val="9000"/>
            </a:srgbClr>
          </a:solidFill>
          <a:ln w="9525">
            <a:solidFill>
              <a:srgbClr val="F59E0B">
                <a:alpha val="52000"/>
              </a:srgbClr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2926080" y="1463040"/>
            <a:ext cx="420624" cy="420624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32" name="Text 30"/>
          <p:cNvSpPr/>
          <p:nvPr/>
        </p:nvSpPr>
        <p:spPr>
          <a:xfrm>
            <a:off x="2926080" y="14630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3429000" y="1481328"/>
            <a:ext cx="13533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CONCEPTO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3429000" y="1700784"/>
            <a:ext cx="1353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Teoría en acción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2926080" y="1956816"/>
            <a:ext cx="1828800" cy="0"/>
          </a:xfrm>
          <a:prstGeom prst="line">
            <a:avLst/>
          </a:prstGeom>
          <a:noFill/>
          <a:ln w="6350">
            <a:solidFill>
              <a:srgbClr val="F59E0B">
                <a:alpha val="45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944368" y="2103120"/>
            <a:ext cx="91440" cy="914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37" name="Text 35"/>
          <p:cNvSpPr/>
          <p:nvPr/>
        </p:nvSpPr>
        <p:spPr>
          <a:xfrm>
            <a:off x="3090672" y="2011680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técnico de la plataforma (5–7 min)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2944368" y="2468880"/>
            <a:ext cx="91440" cy="914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39" name="Text 37"/>
          <p:cNvSpPr/>
          <p:nvPr/>
        </p:nvSpPr>
        <p:spPr>
          <a:xfrm>
            <a:off x="3090672" y="2377440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Docente explica el objetivo de código/circuito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2944368" y="2834640"/>
            <a:ext cx="91440" cy="914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41" name="Text 39"/>
          <p:cNvSpPr/>
          <p:nvPr/>
        </p:nvSpPr>
        <p:spPr>
          <a:xfrm>
            <a:off x="3090672" y="2743200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Diagrama en pizarra: flujo del programa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2944368" y="3200400"/>
            <a:ext cx="91440" cy="914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43" name="Text 41"/>
          <p:cNvSpPr/>
          <p:nvPr/>
        </p:nvSpPr>
        <p:spPr>
          <a:xfrm>
            <a:off x="3090672" y="3108960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Preguntas técnicas del grupo — discusión guiada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2926080" y="4096512"/>
            <a:ext cx="1828800" cy="384048"/>
          </a:xfrm>
          <a:prstGeom prst="roundRect">
            <a:avLst>
              <a:gd name="adj" fmla="val 11905"/>
            </a:avLst>
          </a:prstGeom>
          <a:solidFill>
            <a:srgbClr val="F59E0B">
              <a:alpha val="20000"/>
            </a:srgbClr>
          </a:solidFill>
          <a:ln/>
        </p:spPr>
      </p:sp>
      <p:sp>
        <p:nvSpPr>
          <p:cNvPr id="45" name="Text 43"/>
          <p:cNvSpPr/>
          <p:nvPr/>
        </p:nvSpPr>
        <p:spPr>
          <a:xfrm>
            <a:off x="2980944" y="411480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docente explica la lógica. Los estudiantes ya conocen el hardware.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4983480" y="1389888"/>
            <a:ext cx="2011680" cy="3520440"/>
          </a:xfrm>
          <a:prstGeom prst="roundRect">
            <a:avLst>
              <a:gd name="adj" fmla="val 3636"/>
            </a:avLst>
          </a:prstGeom>
          <a:solidFill>
            <a:srgbClr val="16A34A">
              <a:alpha val="9000"/>
            </a:srgbClr>
          </a:solidFill>
          <a:ln w="9525">
            <a:solidFill>
              <a:srgbClr val="16A34A">
                <a:alpha val="52000"/>
              </a:srgbClr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5074920" y="1463040"/>
            <a:ext cx="420624" cy="420624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48" name="Text 46"/>
          <p:cNvSpPr/>
          <p:nvPr/>
        </p:nvSpPr>
        <p:spPr>
          <a:xfrm>
            <a:off x="5074920" y="14630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5577840" y="1481328"/>
            <a:ext cx="13533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6A3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PRÁCTICA</a:t>
            </a:r>
            <a:endParaRPr lang="en-US" sz="1050" dirty="0"/>
          </a:p>
        </p:txBody>
      </p:sp>
      <p:sp>
        <p:nvSpPr>
          <p:cNvPr id="50" name="Text 48"/>
          <p:cNvSpPr/>
          <p:nvPr/>
        </p:nvSpPr>
        <p:spPr>
          <a:xfrm>
            <a:off x="5577840" y="1700784"/>
            <a:ext cx="1353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Construir · Programar · Probar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5074920" y="1956816"/>
            <a:ext cx="1828800" cy="0"/>
          </a:xfrm>
          <a:prstGeom prst="line">
            <a:avLst/>
          </a:prstGeom>
          <a:noFill/>
          <a:ln w="6350">
            <a:solidFill>
              <a:srgbClr val="16A34A">
                <a:alpha val="4500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093208" y="2103120"/>
            <a:ext cx="91440" cy="91440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53" name="Text 51"/>
          <p:cNvSpPr/>
          <p:nvPr/>
        </p:nvSpPr>
        <p:spPr>
          <a:xfrm>
            <a:off x="5239512" y="2011680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Configuración del hardware (10 min)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5093208" y="2468880"/>
            <a:ext cx="91440" cy="91440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55" name="Text 53"/>
          <p:cNvSpPr/>
          <p:nvPr/>
        </p:nvSpPr>
        <p:spPr>
          <a:xfrm>
            <a:off x="5239512" y="2377440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Programación y primeras pruebas (15 min)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5093208" y="2834640"/>
            <a:ext cx="91440" cy="91440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57" name="Text 55"/>
          <p:cNvSpPr/>
          <p:nvPr/>
        </p:nvSpPr>
        <p:spPr>
          <a:xfrm>
            <a:off x="5239512" y="2743200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Depuración: encontrar y corregir errores (10 min)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5093208" y="3200400"/>
            <a:ext cx="91440" cy="91440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59" name="Text 57"/>
          <p:cNvSpPr/>
          <p:nvPr/>
        </p:nvSpPr>
        <p:spPr>
          <a:xfrm>
            <a:off x="5239512" y="3108960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Optimización y ajuste final del proyecto (5 min)</a:t>
            </a:r>
            <a:endParaRPr lang="en-US" sz="800" dirty="0"/>
          </a:p>
        </p:txBody>
      </p:sp>
      <p:sp>
        <p:nvSpPr>
          <p:cNvPr id="60" name="Shape 58"/>
          <p:cNvSpPr/>
          <p:nvPr/>
        </p:nvSpPr>
        <p:spPr>
          <a:xfrm>
            <a:off x="5074920" y="4096512"/>
            <a:ext cx="1828800" cy="384048"/>
          </a:xfrm>
          <a:prstGeom prst="roundRect">
            <a:avLst>
              <a:gd name="adj" fmla="val 11905"/>
            </a:avLst>
          </a:prstGeom>
          <a:solidFill>
            <a:srgbClr val="16A34A">
              <a:alpha val="20000"/>
            </a:srgbClr>
          </a:solidFill>
          <a:ln/>
        </p:spPr>
      </p:sp>
      <p:sp>
        <p:nvSpPr>
          <p:cNvPr id="61" name="Text 59"/>
          <p:cNvSpPr/>
          <p:nvPr/>
        </p:nvSpPr>
        <p:spPr>
          <a:xfrm>
            <a:off x="5129784" y="411480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docente circula, hace preguntas, no da la solución. Ellos depuran.</a:t>
            </a:r>
            <a:endParaRPr lang="en-US" sz="750" dirty="0"/>
          </a:p>
        </p:txBody>
      </p:sp>
      <p:sp>
        <p:nvSpPr>
          <p:cNvPr id="62" name="Shape 60"/>
          <p:cNvSpPr/>
          <p:nvPr/>
        </p:nvSpPr>
        <p:spPr>
          <a:xfrm>
            <a:off x="7132320" y="1389888"/>
            <a:ext cx="2011680" cy="3520440"/>
          </a:xfrm>
          <a:prstGeom prst="roundRect">
            <a:avLst>
              <a:gd name="adj" fmla="val 3636"/>
            </a:avLst>
          </a:prstGeom>
          <a:solidFill>
            <a:srgbClr val="4C1D95">
              <a:alpha val="9000"/>
            </a:srgbClr>
          </a:solidFill>
          <a:ln w="9525">
            <a:solidFill>
              <a:srgbClr val="4C1D95">
                <a:alpha val="52000"/>
              </a:srgbClr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63" name="Shape 61"/>
          <p:cNvSpPr/>
          <p:nvPr/>
        </p:nvSpPr>
        <p:spPr>
          <a:xfrm>
            <a:off x="7223760" y="1463040"/>
            <a:ext cx="420624" cy="420624"/>
          </a:xfrm>
          <a:prstGeom prst="ellipse">
            <a:avLst/>
          </a:prstGeom>
          <a:solidFill>
            <a:srgbClr val="4C1D95"/>
          </a:solidFill>
          <a:ln/>
        </p:spPr>
      </p:sp>
      <p:sp>
        <p:nvSpPr>
          <p:cNvPr id="64" name="Text 62"/>
          <p:cNvSpPr/>
          <p:nvPr/>
        </p:nvSpPr>
        <p:spPr>
          <a:xfrm>
            <a:off x="7223760" y="14630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000" dirty="0"/>
          </a:p>
        </p:txBody>
      </p:sp>
      <p:sp>
        <p:nvSpPr>
          <p:cNvPr id="65" name="Text 63"/>
          <p:cNvSpPr/>
          <p:nvPr/>
        </p:nvSpPr>
        <p:spPr>
          <a:xfrm>
            <a:off x="7726680" y="1481328"/>
            <a:ext cx="13533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C1D9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EVALÚAN</a:t>
            </a:r>
            <a:endParaRPr lang="en-US" sz="1050" dirty="0"/>
          </a:p>
        </p:txBody>
      </p:sp>
      <p:sp>
        <p:nvSpPr>
          <p:cNvPr id="66" name="Text 64"/>
          <p:cNvSpPr/>
          <p:nvPr/>
        </p:nvSpPr>
        <p:spPr>
          <a:xfrm>
            <a:off x="7726680" y="1700784"/>
            <a:ext cx="1353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Presentamos y evaluamos</a:t>
            </a:r>
            <a:endParaRPr lang="en-US" sz="850" dirty="0"/>
          </a:p>
        </p:txBody>
      </p:sp>
      <p:sp>
        <p:nvSpPr>
          <p:cNvPr id="67" name="Shape 65"/>
          <p:cNvSpPr/>
          <p:nvPr/>
        </p:nvSpPr>
        <p:spPr>
          <a:xfrm>
            <a:off x="7223760" y="1956816"/>
            <a:ext cx="1828800" cy="0"/>
          </a:xfrm>
          <a:prstGeom prst="line">
            <a:avLst/>
          </a:prstGeom>
          <a:noFill/>
          <a:ln w="6350">
            <a:solidFill>
              <a:srgbClr val="4C1D95">
                <a:alpha val="45000"/>
              </a:srgbClr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7242048" y="2103120"/>
            <a:ext cx="91440" cy="91440"/>
          </a:xfrm>
          <a:prstGeom prst="ellipse">
            <a:avLst/>
          </a:prstGeom>
          <a:solidFill>
            <a:srgbClr val="4C1D95"/>
          </a:solidFill>
          <a:ln/>
        </p:spPr>
      </p:sp>
      <p:sp>
        <p:nvSpPr>
          <p:cNvPr id="69" name="Text 67"/>
          <p:cNvSpPr/>
          <p:nvPr/>
        </p:nvSpPr>
        <p:spPr>
          <a:xfrm>
            <a:off x="7388352" y="2011680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técnico de 5 preguntas en plataforma</a:t>
            </a:r>
            <a:endParaRPr lang="en-US" sz="800" dirty="0"/>
          </a:p>
        </p:txBody>
      </p:sp>
      <p:sp>
        <p:nvSpPr>
          <p:cNvPr id="70" name="Shape 68"/>
          <p:cNvSpPr/>
          <p:nvPr/>
        </p:nvSpPr>
        <p:spPr>
          <a:xfrm>
            <a:off x="7242048" y="2468880"/>
            <a:ext cx="91440" cy="91440"/>
          </a:xfrm>
          <a:prstGeom prst="ellipse">
            <a:avLst/>
          </a:prstGeom>
          <a:solidFill>
            <a:srgbClr val="4C1D95"/>
          </a:solidFill>
          <a:ln/>
        </p:spPr>
      </p:sp>
      <p:sp>
        <p:nvSpPr>
          <p:cNvPr id="71" name="Text 69"/>
          <p:cNvSpPr/>
          <p:nvPr/>
        </p:nvSpPr>
        <p:spPr>
          <a:xfrm>
            <a:off x="7388352" y="2377440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equipo presenta su solución (1–2 min)</a:t>
            </a:r>
            <a:endParaRPr lang="en-US" sz="800" dirty="0"/>
          </a:p>
        </p:txBody>
      </p:sp>
      <p:sp>
        <p:nvSpPr>
          <p:cNvPr id="72" name="Shape 70"/>
          <p:cNvSpPr/>
          <p:nvPr/>
        </p:nvSpPr>
        <p:spPr>
          <a:xfrm>
            <a:off x="7242048" y="2834640"/>
            <a:ext cx="91440" cy="91440"/>
          </a:xfrm>
          <a:prstGeom prst="ellipse">
            <a:avLst/>
          </a:prstGeom>
          <a:solidFill>
            <a:srgbClr val="4C1D95"/>
          </a:solidFill>
          <a:ln/>
        </p:spPr>
      </p:sp>
      <p:sp>
        <p:nvSpPr>
          <p:cNvPr id="73" name="Text 71"/>
          <p:cNvSpPr/>
          <p:nvPr/>
        </p:nvSpPr>
        <p:spPr>
          <a:xfrm>
            <a:off x="7388352" y="2743200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evalúa: ¿qué funciona mejor y por qué?</a:t>
            </a:r>
            <a:endParaRPr lang="en-US" sz="800" dirty="0"/>
          </a:p>
        </p:txBody>
      </p:sp>
      <p:sp>
        <p:nvSpPr>
          <p:cNvPr id="74" name="Shape 72"/>
          <p:cNvSpPr/>
          <p:nvPr/>
        </p:nvSpPr>
        <p:spPr>
          <a:xfrm>
            <a:off x="7242048" y="3200400"/>
            <a:ext cx="91440" cy="91440"/>
          </a:xfrm>
          <a:prstGeom prst="ellipse">
            <a:avLst/>
          </a:prstGeom>
          <a:solidFill>
            <a:srgbClr val="4C1D95"/>
          </a:solidFill>
          <a:ln/>
        </p:spPr>
      </p:sp>
      <p:sp>
        <p:nvSpPr>
          <p:cNvPr id="75" name="Text 73"/>
          <p:cNvSpPr/>
          <p:nvPr/>
        </p:nvSpPr>
        <p:spPr>
          <a:xfrm>
            <a:off x="7388352" y="3108960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Docente cierra con conexión al mundo real</a:t>
            </a:r>
            <a:endParaRPr lang="en-US" sz="800" dirty="0"/>
          </a:p>
        </p:txBody>
      </p:sp>
      <p:sp>
        <p:nvSpPr>
          <p:cNvPr id="76" name="Shape 74"/>
          <p:cNvSpPr/>
          <p:nvPr/>
        </p:nvSpPr>
        <p:spPr>
          <a:xfrm>
            <a:off x="7223760" y="4096512"/>
            <a:ext cx="1828800" cy="384048"/>
          </a:xfrm>
          <a:prstGeom prst="roundRect">
            <a:avLst>
              <a:gd name="adj" fmla="val 11905"/>
            </a:avLst>
          </a:prstGeom>
          <a:solidFill>
            <a:srgbClr val="4C1D95">
              <a:alpha val="20000"/>
            </a:srgbClr>
          </a:solidFill>
          <a:ln/>
        </p:spPr>
      </p:sp>
      <p:sp>
        <p:nvSpPr>
          <p:cNvPr id="77" name="Text 75"/>
          <p:cNvSpPr/>
          <p:nvPr/>
        </p:nvSpPr>
        <p:spPr>
          <a:xfrm>
            <a:off x="7278624" y="411480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presentación oral fortalece el pensamiento crítico y la comunicación.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5143500"/>
          </a:xfrm>
          <a:prstGeom prst="rect">
            <a:avLst/>
          </a:prstGeom>
          <a:solidFill>
            <a:srgbClr val="FF7B42"/>
          </a:solidFill>
          <a:ln w="12700">
            <a:solidFill>
              <a:srgbClr val="FF7B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28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0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Planificación Docente Completa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85800" y="69494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nivel llega listo para enseñar — el docente recibe una planificación profesional y alineada al MINEDUC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85800" y="1005840"/>
            <a:ext cx="822960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1188720"/>
            <a:ext cx="4069080" cy="1078992"/>
          </a:xfrm>
          <a:prstGeom prst="roundRect">
            <a:avLst>
              <a:gd name="adj" fmla="val 6780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85800" y="1188720"/>
            <a:ext cx="73152" cy="1078992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86968" y="128016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196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Eje Curricular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86968" y="1554480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Integrado con Ciencias Naturales, Matemáticas, Tecnología y Artes — alineado al currículo nacional.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685800" y="2450592"/>
            <a:ext cx="4069080" cy="1078992"/>
          </a:xfrm>
          <a:prstGeom prst="roundRect">
            <a:avLst>
              <a:gd name="adj" fmla="val 6780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85800" y="2450592"/>
            <a:ext cx="73152" cy="10789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86968" y="254203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Objetivo de la clase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86968" y="2816352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Claro, medible y en lenguaje docente. ¿Qué logrará el estudiante al final de la sesión?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85800" y="3712464"/>
            <a:ext cx="4069080" cy="1078992"/>
          </a:xfrm>
          <a:prstGeom prst="roundRect">
            <a:avLst>
              <a:gd name="adj" fmla="val 6780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85800" y="3712464"/>
            <a:ext cx="73152" cy="107899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86968" y="3803904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Competencias + Indicadores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86968" y="4078224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competencia del siglo XXI listada con su indicador de logro específico y verificable.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937760" y="1188720"/>
            <a:ext cx="4069080" cy="1078992"/>
          </a:xfrm>
          <a:prstGeom prst="roundRect">
            <a:avLst>
              <a:gd name="adj" fmla="val 6780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937760" y="1188720"/>
            <a:ext cx="73152" cy="1078992"/>
          </a:xfrm>
          <a:prstGeom prst="rect">
            <a:avLst/>
          </a:prstGeom>
          <a:solidFill>
            <a:srgbClr val="9333EA"/>
          </a:solidFill>
          <a:ln w="12700">
            <a:solidFill>
              <a:srgbClr val="9333E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138928" y="128016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333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DUA — Diseño Universal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138928" y="1554480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Adaptaciones para distintos estilos de aprendizaje: visual, kinestésico, auditivo. Inclusión real.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937760" y="2450592"/>
            <a:ext cx="4069080" cy="1078992"/>
          </a:xfrm>
          <a:prstGeom prst="roundRect">
            <a:avLst>
              <a:gd name="adj" fmla="val 6780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937760" y="2450592"/>
            <a:ext cx="73152" cy="1078992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138928" y="254203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11D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Recursos y materiales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138928" y="2816352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 exacta de lo que el docente necesita: kit, video, plataforma, imprimibles opcionales.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937760" y="3712464"/>
            <a:ext cx="4069080" cy="1078992"/>
          </a:xfrm>
          <a:prstGeom prst="roundRect">
            <a:avLst>
              <a:gd name="adj" fmla="val 6780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937760" y="3712464"/>
            <a:ext cx="73152" cy="107899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138928" y="3803904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91B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Quiz de evaluación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138928" y="4078224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Disponible en la plataforma VIRTUS. 3–5 preguntas por clase. Resultados automáticos.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3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1371600"/>
            <a:ext cx="5486400" cy="5486400"/>
          </a:xfrm>
          <a:prstGeom prst="ellipse">
            <a:avLst/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09728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0000" dirty="0"/>
          </a:p>
        </p:txBody>
      </p:sp>
      <p:sp>
        <p:nvSpPr>
          <p:cNvPr id="4" name="Text 2"/>
          <p:cNvSpPr/>
          <p:nvPr/>
        </p:nvSpPr>
        <p:spPr>
          <a:xfrm>
            <a:off x="640080" y="1188720"/>
            <a:ext cx="77724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PLATAFORMA</a:t>
            </a:r>
            <a:endParaRPr lang="en-US" sz="5200" dirty="0"/>
          </a:p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DIGITAL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640080" y="32004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7B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Proyectos · Quiz · Virtualidad · RoboMisión · Seguimiento en tiempo real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5143500"/>
          </a:xfrm>
          <a:prstGeom prst="rect">
            <a:avLst/>
          </a:prstGeom>
          <a:solidFill>
            <a:srgbClr val="0D3B2E"/>
          </a:solidFill>
          <a:ln w="12700">
            <a:solidFill>
              <a:srgbClr val="0D3B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28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0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Plataforma VIRTUS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85800" y="69494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ecosistema digital diseñado para que el aprendizaje no se detenga — ni en presencialidad ni en virtualidad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85800" y="1005840"/>
            <a:ext cx="822960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1188720"/>
            <a:ext cx="4069080" cy="1078992"/>
          </a:xfrm>
          <a:prstGeom prst="roundRect">
            <a:avLst>
              <a:gd name="adj" fmla="val 6780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85800" y="1188720"/>
            <a:ext cx="73152" cy="1078992"/>
          </a:xfrm>
          <a:prstGeom prst="rect">
            <a:avLst/>
          </a:prstGeom>
          <a:solidFill>
            <a:srgbClr val="0D3B2E"/>
          </a:solidFill>
          <a:ln w="12700">
            <a:solidFill>
              <a:srgbClr val="0D3B2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86968" y="128016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3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Proyectos documentados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86968" y="1554480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estudiantes suben sus proyectos, fotos y videos. Portafolio digital de cada alumno visible para el docente.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685800" y="2450592"/>
            <a:ext cx="4069080" cy="1078992"/>
          </a:xfrm>
          <a:prstGeom prst="roundRect">
            <a:avLst>
              <a:gd name="adj" fmla="val 6780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85800" y="2450592"/>
            <a:ext cx="73152" cy="107899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86968" y="254203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Quiz de evaluación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86968" y="2816352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3–5 preguntas al final de cada clase. Resultados automáticos. El docente ve quién lo entendió y quién necesita ayuda.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85800" y="3712464"/>
            <a:ext cx="4069080" cy="1078992"/>
          </a:xfrm>
          <a:prstGeom prst="roundRect">
            <a:avLst>
              <a:gd name="adj" fmla="val 6780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85800" y="3712464"/>
            <a:ext cx="73152" cy="107899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86968" y="3803904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91B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Modo virtualidad 100%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86968" y="4078224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caso de clases virtuales, todo el programa funciona online: videos, guías, proyectos y quiz accesibles desde casa.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937760" y="1188720"/>
            <a:ext cx="4069080" cy="1078992"/>
          </a:xfrm>
          <a:prstGeom prst="roundRect">
            <a:avLst>
              <a:gd name="adj" fmla="val 6780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937760" y="1188720"/>
            <a:ext cx="73152" cy="10789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138928" y="128016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Seguimiento del estudiante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138928" y="1554480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del docente con progreso por nivel, misiones completadas y alertas de alumnos que necesitan atención.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937760" y="2450592"/>
            <a:ext cx="4069080" cy="1078992"/>
          </a:xfrm>
          <a:prstGeom prst="roundRect">
            <a:avLst>
              <a:gd name="adj" fmla="val 6780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937760" y="2450592"/>
            <a:ext cx="73152" cy="1078992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138928" y="254203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11D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Videos guía para docentes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138928" y="2816352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clase tiene un video de preparación exclusivo para el docente: qué enseñar, cómo guiar, qué errores anticipar.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937760" y="3712464"/>
            <a:ext cx="4069080" cy="1078992"/>
          </a:xfrm>
          <a:prstGeom prst="roundRect">
            <a:avLst>
              <a:gd name="adj" fmla="val 6780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937760" y="3712464"/>
            <a:ext cx="73152" cy="107899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138928" y="3803904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Biblioteca de recursos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138928" y="4078224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Planificaciones descargables, guías imprimibles, fichas de trabajo y material de apoyo siempre disponibles.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5143500"/>
          </a:xfrm>
          <a:prstGeom prst="rect">
            <a:avLst/>
          </a:prstGeom>
          <a:solidFill>
            <a:srgbClr val="0D3B2E"/>
          </a:solidFill>
          <a:ln w="12700">
            <a:solidFill>
              <a:srgbClr val="0D3B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28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0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RoboMisión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85800" y="7132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sistema de gamificación que convierte cada clase en una aventura de aprendizaje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85800" y="1024128"/>
            <a:ext cx="822960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143000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250" kern="0" dirty="0">
                <a:solidFill>
                  <a:srgbClr val="FF7B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¿CÓMO FUNCIONA?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685800" y="1463040"/>
            <a:ext cx="347472" cy="347472"/>
          </a:xfrm>
          <a:prstGeom prst="ellipse">
            <a:avLst/>
          </a:prstGeom>
          <a:solidFill>
            <a:srgbClr val="FF7B42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14630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43000" y="146304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Recibe tu misión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143000" y="1655064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inicio de cada clase, el estudiante lee el reto de la misión de nivel.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85800" y="2121408"/>
            <a:ext cx="347472" cy="347472"/>
          </a:xfrm>
          <a:prstGeom prst="ellipse">
            <a:avLst/>
          </a:prstGeom>
          <a:solidFill>
            <a:srgbClr val="FF7B42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21214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43000" y="2121408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Construye y experimenta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143000" y="231343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Trabaja con su kit para completar el objetivo de la misión.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85800" y="2779776"/>
            <a:ext cx="347472" cy="347472"/>
          </a:xfrm>
          <a:prstGeom prst="ellipse">
            <a:avLst/>
          </a:prstGeom>
          <a:solidFill>
            <a:srgbClr val="FF7B42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" y="277977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43000" y="2779776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 en plataforma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143000" y="297180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Sube foto o video de su proyecto completado.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85800" y="3438144"/>
            <a:ext cx="347472" cy="347472"/>
          </a:xfrm>
          <a:prstGeom prst="ellipse">
            <a:avLst/>
          </a:prstGeom>
          <a:solidFill>
            <a:srgbClr val="FF7B42"/>
          </a:solidFill>
          <a:ln/>
        </p:spPr>
      </p:sp>
      <p:sp>
        <p:nvSpPr>
          <p:cNvPr id="20" name="Text 18"/>
          <p:cNvSpPr/>
          <p:nvPr/>
        </p:nvSpPr>
        <p:spPr>
          <a:xfrm>
            <a:off x="685800" y="343814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43000" y="3438144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Completa el quiz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143000" y="3630168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3–5 preguntas para demostrar que entendió el concepto.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85800" y="4096512"/>
            <a:ext cx="347472" cy="347472"/>
          </a:xfrm>
          <a:prstGeom prst="ellipse">
            <a:avLst/>
          </a:prstGeom>
          <a:solidFill>
            <a:srgbClr val="FF7B42"/>
          </a:solidFill>
          <a:ln/>
        </p:spPr>
      </p:sp>
      <p:sp>
        <p:nvSpPr>
          <p:cNvPr id="24" name="Text 22"/>
          <p:cNvSpPr/>
          <p:nvPr/>
        </p:nvSpPr>
        <p:spPr>
          <a:xfrm>
            <a:off x="685800" y="40965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43000" y="4096512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¡Misión cumplida!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143000" y="4288536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Recibe su insignia y sube de rango en el sistema VIRTUS.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846320" y="1143000"/>
            <a:ext cx="4069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250" kern="0" dirty="0">
                <a:solidFill>
                  <a:srgbClr val="FF7B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MISIONES POR NIVEL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4846320" y="1417320"/>
            <a:ext cx="4069080" cy="502920"/>
          </a:xfrm>
          <a:prstGeom prst="roundRect">
            <a:avLst>
              <a:gd name="adj" fmla="val 10909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956048" y="1527048"/>
            <a:ext cx="274320" cy="274320"/>
          </a:xfrm>
          <a:prstGeom prst="ellipse">
            <a:avLst/>
          </a:prstGeom>
          <a:solidFill>
            <a:srgbClr val="2196F3"/>
          </a:solidFill>
          <a:ln/>
        </p:spPr>
      </p:sp>
      <p:sp>
        <p:nvSpPr>
          <p:cNvPr id="30" name="Text 28"/>
          <p:cNvSpPr/>
          <p:nvPr/>
        </p:nvSpPr>
        <p:spPr>
          <a:xfrm>
            <a:off x="5321808" y="1472184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2do–3ro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5321808" y="164592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19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Misión Constructor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748272" y="150876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Construye la estructura más alta sin que caiga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4846320" y="2020824"/>
            <a:ext cx="4069080" cy="502920"/>
          </a:xfrm>
          <a:prstGeom prst="roundRect">
            <a:avLst>
              <a:gd name="adj" fmla="val 10909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956048" y="2130552"/>
            <a:ext cx="274320" cy="27432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35" name="Text 33"/>
          <p:cNvSpPr/>
          <p:nvPr/>
        </p:nvSpPr>
        <p:spPr>
          <a:xfrm>
            <a:off x="5321808" y="2075688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4to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5321808" y="2249424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Misión Solar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748272" y="2112264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Haz que tu robot camine solo con energía del sol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4846320" y="2624328"/>
            <a:ext cx="4069080" cy="502920"/>
          </a:xfrm>
          <a:prstGeom prst="roundRect">
            <a:avLst>
              <a:gd name="adj" fmla="val 10909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4956048" y="2734056"/>
            <a:ext cx="274320" cy="274320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40" name="Text 38"/>
          <p:cNvSpPr/>
          <p:nvPr/>
        </p:nvSpPr>
        <p:spPr>
          <a:xfrm>
            <a:off x="5321808" y="2679192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5to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5321808" y="2852928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Misión Piloto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6748272" y="2715768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Navega tu robot por un circuito con obstáculos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4846320" y="3227832"/>
            <a:ext cx="4069080" cy="502920"/>
          </a:xfrm>
          <a:prstGeom prst="roundRect">
            <a:avLst>
              <a:gd name="adj" fmla="val 10909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4956048" y="3337560"/>
            <a:ext cx="274320" cy="274320"/>
          </a:xfrm>
          <a:prstGeom prst="ellipse">
            <a:avLst/>
          </a:prstGeom>
          <a:solidFill>
            <a:srgbClr val="9333EA"/>
          </a:solidFill>
          <a:ln/>
        </p:spPr>
      </p:sp>
      <p:sp>
        <p:nvSpPr>
          <p:cNvPr id="45" name="Text 43"/>
          <p:cNvSpPr/>
          <p:nvPr/>
        </p:nvSpPr>
        <p:spPr>
          <a:xfrm>
            <a:off x="5321808" y="3282696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6to</a:t>
            </a:r>
            <a:endParaRPr lang="en-US" sz="750" dirty="0"/>
          </a:p>
        </p:txBody>
      </p:sp>
      <p:sp>
        <p:nvSpPr>
          <p:cNvPr id="46" name="Text 44"/>
          <p:cNvSpPr/>
          <p:nvPr/>
        </p:nvSpPr>
        <p:spPr>
          <a:xfrm>
            <a:off x="5321808" y="3456432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33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Misión Dino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6748272" y="3319272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 el robot insecto más rápido del laboratorio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4846320" y="3831336"/>
            <a:ext cx="4069080" cy="502920"/>
          </a:xfrm>
          <a:prstGeom prst="roundRect">
            <a:avLst>
              <a:gd name="adj" fmla="val 10909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4956048" y="3941064"/>
            <a:ext cx="274320" cy="27432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50" name="Text 48"/>
          <p:cNvSpPr/>
          <p:nvPr/>
        </p:nvSpPr>
        <p:spPr>
          <a:xfrm>
            <a:off x="5321808" y="3886200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7mo</a:t>
            </a:r>
            <a:endParaRPr lang="en-US" sz="750" dirty="0"/>
          </a:p>
        </p:txBody>
      </p:sp>
      <p:sp>
        <p:nvSpPr>
          <p:cNvPr id="51" name="Text 49"/>
          <p:cNvSpPr/>
          <p:nvPr/>
        </p:nvSpPr>
        <p:spPr>
          <a:xfrm>
            <a:off x="5321808" y="4059936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Misión Código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6748272" y="3922776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 que tu robot haga 3 acciones distintas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4846320" y="4434840"/>
            <a:ext cx="4069080" cy="502920"/>
          </a:xfrm>
          <a:prstGeom prst="roundRect">
            <a:avLst>
              <a:gd name="adj" fmla="val 10909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4956048" y="4544568"/>
            <a:ext cx="274320" cy="274320"/>
          </a:xfrm>
          <a:prstGeom prst="ellipse">
            <a:avLst/>
          </a:prstGeom>
          <a:solidFill>
            <a:srgbClr val="FF7B42"/>
          </a:solidFill>
          <a:ln/>
        </p:spPr>
      </p:sp>
      <p:sp>
        <p:nvSpPr>
          <p:cNvPr id="55" name="Text 53"/>
          <p:cNvSpPr/>
          <p:nvPr/>
        </p:nvSpPr>
        <p:spPr>
          <a:xfrm>
            <a:off x="5321808" y="4489704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8vo–10mo</a:t>
            </a:r>
            <a:endParaRPr lang="en-US" sz="750" dirty="0"/>
          </a:p>
        </p:txBody>
      </p:sp>
      <p:sp>
        <p:nvSpPr>
          <p:cNvPr id="56" name="Text 54"/>
          <p:cNvSpPr/>
          <p:nvPr/>
        </p:nvSpPr>
        <p:spPr>
          <a:xfrm>
            <a:off x="5321808" y="466344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7B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Misión Creador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6748272" y="452628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Diseña, construye y presenta tu propio invento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B84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1371600"/>
            <a:ext cx="5486400" cy="5486400"/>
          </a:xfrm>
          <a:prstGeom prst="ellipse">
            <a:avLst/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09728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0000" dirty="0"/>
          </a:p>
        </p:txBody>
      </p:sp>
      <p:sp>
        <p:nvSpPr>
          <p:cNvPr id="4" name="Text 2"/>
          <p:cNvSpPr/>
          <p:nvPr/>
        </p:nvSpPr>
        <p:spPr>
          <a:xfrm>
            <a:off x="640080" y="1188720"/>
            <a:ext cx="77724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PROGRAMA</a:t>
            </a:r>
            <a:endParaRPr lang="en-US" sz="5200" dirty="0"/>
          </a:p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KITS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640080" y="32004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niveles · 2do a 10mo Básica · Kit personal + Kit de Aula por laboratorio (1 por 4 estudiantes)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5143500"/>
          </a:xfrm>
          <a:prstGeom prst="rect">
            <a:avLst/>
          </a:prstGeom>
          <a:solidFill>
            <a:srgbClr val="FF7B42"/>
          </a:solidFill>
          <a:ln w="12700">
            <a:solidFill>
              <a:srgbClr val="FF7B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01168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0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Escalera del Ingenio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85800" y="68580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año, el niño sube un peldaño. Cada kit, un logro nuevo.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85800" y="987552"/>
            <a:ext cx="822960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3611880"/>
            <a:ext cx="914400" cy="411480"/>
          </a:xfrm>
          <a:prstGeom prst="roundRect">
            <a:avLst>
              <a:gd name="adj" fmla="val 11111"/>
            </a:avLst>
          </a:prstGeom>
          <a:solidFill>
            <a:srgbClr val="2196F3">
              <a:alpha val="88000"/>
            </a:srgbClr>
          </a:solidFill>
          <a:ln/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85800" y="3337560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19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85800" y="405993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F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2do–3ro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685800" y="4270248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219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CONSTRUCTORES</a:t>
            </a:r>
            <a:endParaRPr lang="en-US" sz="600" dirty="0"/>
          </a:p>
        </p:txBody>
      </p:sp>
      <p:sp>
        <p:nvSpPr>
          <p:cNvPr id="10" name="Shape 8"/>
          <p:cNvSpPr/>
          <p:nvPr/>
        </p:nvSpPr>
        <p:spPr>
          <a:xfrm>
            <a:off x="1773936" y="3383280"/>
            <a:ext cx="914400" cy="640080"/>
          </a:xfrm>
          <a:prstGeom prst="roundRect">
            <a:avLst>
              <a:gd name="adj" fmla="val 7143"/>
            </a:avLst>
          </a:prstGeom>
          <a:solidFill>
            <a:srgbClr val="F59E0B">
              <a:alpha val="88000"/>
            </a:srgbClr>
          </a:solidFill>
          <a:ln/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773936" y="3108960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773936" y="405993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F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4to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1773936" y="4270248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ING. SOLARES</a:t>
            </a:r>
            <a:endParaRPr lang="en-US" sz="600" dirty="0"/>
          </a:p>
        </p:txBody>
      </p:sp>
      <p:sp>
        <p:nvSpPr>
          <p:cNvPr id="14" name="Shape 12"/>
          <p:cNvSpPr/>
          <p:nvPr/>
        </p:nvSpPr>
        <p:spPr>
          <a:xfrm>
            <a:off x="2862072" y="3154680"/>
            <a:ext cx="914400" cy="868680"/>
          </a:xfrm>
          <a:prstGeom prst="roundRect">
            <a:avLst>
              <a:gd name="adj" fmla="val 5263"/>
            </a:avLst>
          </a:prstGeom>
          <a:solidFill>
            <a:srgbClr val="16A34A">
              <a:alpha val="88000"/>
            </a:srgbClr>
          </a:solidFill>
          <a:ln/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2862072" y="2880360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862072" y="405993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F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5to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2862072" y="4270248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PILOTOS</a:t>
            </a:r>
            <a:endParaRPr lang="en-US" sz="600" dirty="0"/>
          </a:p>
        </p:txBody>
      </p:sp>
      <p:sp>
        <p:nvSpPr>
          <p:cNvPr id="18" name="Shape 16"/>
          <p:cNvSpPr/>
          <p:nvPr/>
        </p:nvSpPr>
        <p:spPr>
          <a:xfrm>
            <a:off x="3950208" y="2926080"/>
            <a:ext cx="914400" cy="1097280"/>
          </a:xfrm>
          <a:prstGeom prst="roundRect">
            <a:avLst>
              <a:gd name="adj" fmla="val 5000"/>
            </a:avLst>
          </a:prstGeom>
          <a:solidFill>
            <a:srgbClr val="9333EA">
              <a:alpha val="88000"/>
            </a:srgbClr>
          </a:solidFill>
          <a:ln/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950208" y="2651760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33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N4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950208" y="405993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F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6to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3950208" y="4270248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933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DINOROBÓTICA</a:t>
            </a:r>
            <a:endParaRPr lang="en-US" sz="600" dirty="0"/>
          </a:p>
        </p:txBody>
      </p:sp>
      <p:sp>
        <p:nvSpPr>
          <p:cNvPr id="22" name="Shape 20"/>
          <p:cNvSpPr/>
          <p:nvPr/>
        </p:nvSpPr>
        <p:spPr>
          <a:xfrm>
            <a:off x="5038344" y="2697480"/>
            <a:ext cx="914400" cy="1325880"/>
          </a:xfrm>
          <a:prstGeom prst="roundRect">
            <a:avLst>
              <a:gd name="adj" fmla="val 5000"/>
            </a:avLst>
          </a:prstGeom>
          <a:solidFill>
            <a:srgbClr val="0891B2">
              <a:alpha val="88000"/>
            </a:srgbClr>
          </a:solidFill>
          <a:ln/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038344" y="2423160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N5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038344" y="405993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F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7mo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5038344" y="4270248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PRIMER CÓDIGO</a:t>
            </a:r>
            <a:endParaRPr lang="en-US" sz="600" dirty="0"/>
          </a:p>
        </p:txBody>
      </p:sp>
      <p:sp>
        <p:nvSpPr>
          <p:cNvPr id="26" name="Shape 24"/>
          <p:cNvSpPr/>
          <p:nvPr/>
        </p:nvSpPr>
        <p:spPr>
          <a:xfrm>
            <a:off x="6126480" y="2468880"/>
            <a:ext cx="914400" cy="1554480"/>
          </a:xfrm>
          <a:prstGeom prst="roundRect">
            <a:avLst>
              <a:gd name="adj" fmla="val 5000"/>
            </a:avLst>
          </a:prstGeom>
          <a:solidFill>
            <a:srgbClr val="FF7B42">
              <a:alpha val="88000"/>
            </a:srgbClr>
          </a:solidFill>
          <a:ln/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126480" y="2194560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7B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N6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126480" y="405993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F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8vo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6126480" y="4270248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7B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ARDUINO MAKER</a:t>
            </a:r>
            <a:endParaRPr lang="en-US" sz="600" dirty="0"/>
          </a:p>
        </p:txBody>
      </p:sp>
      <p:sp>
        <p:nvSpPr>
          <p:cNvPr id="30" name="Shape 28"/>
          <p:cNvSpPr/>
          <p:nvPr/>
        </p:nvSpPr>
        <p:spPr>
          <a:xfrm>
            <a:off x="7214616" y="2240280"/>
            <a:ext cx="914400" cy="1783080"/>
          </a:xfrm>
          <a:prstGeom prst="roundRect">
            <a:avLst>
              <a:gd name="adj" fmla="val 5000"/>
            </a:avLst>
          </a:prstGeom>
          <a:solidFill>
            <a:srgbClr val="E11D48">
              <a:alpha val="88000"/>
            </a:srgbClr>
          </a:solidFill>
          <a:ln/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7214616" y="1965960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N7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214616" y="405993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F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9no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7214616" y="4270248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BRAZO ROBÓTICO</a:t>
            </a:r>
            <a:endParaRPr lang="en-US" sz="600" dirty="0"/>
          </a:p>
        </p:txBody>
      </p:sp>
      <p:sp>
        <p:nvSpPr>
          <p:cNvPr id="34" name="Shape 32"/>
          <p:cNvSpPr/>
          <p:nvPr/>
        </p:nvSpPr>
        <p:spPr>
          <a:xfrm>
            <a:off x="8302752" y="2011680"/>
            <a:ext cx="914400" cy="2011680"/>
          </a:xfrm>
          <a:prstGeom prst="roundRect">
            <a:avLst>
              <a:gd name="adj" fmla="val 5000"/>
            </a:avLst>
          </a:prstGeom>
          <a:solidFill>
            <a:srgbClr val="1D4ED8">
              <a:alpha val="88000"/>
            </a:srgbClr>
          </a:solidFill>
          <a:ln/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8302752" y="1737360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N8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8302752" y="405993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F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10mo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8302752" y="4270248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 BAILARÍN</a:t>
            </a:r>
            <a:endParaRPr lang="en-US" sz="600" dirty="0"/>
          </a:p>
        </p:txBody>
      </p:sp>
      <p:sp>
        <p:nvSpPr>
          <p:cNvPr id="38" name="Shape 36"/>
          <p:cNvSpPr/>
          <p:nvPr/>
        </p:nvSpPr>
        <p:spPr>
          <a:xfrm>
            <a:off x="685800" y="4032504"/>
            <a:ext cx="841248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85800" y="107899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Sin pantallas · Construcción física     Electrónica     Programación real     Mecatrónica →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5143500"/>
          </a:xfrm>
          <a:prstGeom prst="rect">
            <a:avLst/>
          </a:prstGeom>
          <a:solidFill>
            <a:srgbClr val="FF7B42"/>
          </a:solidFill>
          <a:ln w="12700">
            <a:solidFill>
              <a:srgbClr val="FF7B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201168"/>
            <a:ext cx="3246120" cy="4754880"/>
          </a:xfrm>
          <a:prstGeom prst="roundRect">
            <a:avLst>
              <a:gd name="adj" fmla="val 3380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40080" y="292608"/>
            <a:ext cx="502920" cy="502920"/>
          </a:xfrm>
          <a:prstGeom prst="ellipse">
            <a:avLst/>
          </a:prstGeom>
          <a:solidFill>
            <a:srgbClr val="2196F3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926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N1</a:t>
            </a:r>
            <a:endParaRPr lang="en-US" sz="11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58368" y="868680"/>
            <a:ext cx="3017520" cy="21488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58368" y="3090672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300" kern="0" dirty="0">
                <a:solidFill>
                  <a:srgbClr val="219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 INCLUYE</a:t>
            </a:r>
            <a:endParaRPr lang="en-US" sz="700" dirty="0"/>
          </a:p>
        </p:txBody>
      </p:sp>
      <p:sp>
        <p:nvSpPr>
          <p:cNvPr id="8" name="Shape 5"/>
          <p:cNvSpPr/>
          <p:nvPr/>
        </p:nvSpPr>
        <p:spPr>
          <a:xfrm>
            <a:off x="658368" y="3273552"/>
            <a:ext cx="2999232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58368" y="3319272"/>
            <a:ext cx="29992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116 piezas con motor eléctrico. Engranajes grandes aptos para manos pequeñas. Sin electricidad directa, sin pantallas.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658368" y="3913632"/>
            <a:ext cx="3017520" cy="960120"/>
          </a:xfrm>
          <a:prstGeom prst="roundRect">
            <a:avLst>
              <a:gd name="adj" fmla="val 6667"/>
            </a:avLst>
          </a:prstGeom>
          <a:solidFill>
            <a:srgbClr val="2196F3">
              <a:alpha val="12000"/>
            </a:srgbClr>
          </a:solidFill>
          <a:ln w="9525">
            <a:solidFill>
              <a:srgbClr val="2196F3">
                <a:alpha val="45000"/>
              </a:srgbClr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2267712" y="3959352"/>
            <a:ext cx="1353312" cy="84124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77240" y="3950208"/>
            <a:ext cx="15727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spc="200" kern="0" dirty="0">
                <a:solidFill>
                  <a:srgbClr val="219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 DE AULA</a:t>
            </a:r>
            <a:endParaRPr lang="en-US" sz="650" dirty="0"/>
          </a:p>
        </p:txBody>
      </p:sp>
      <p:sp>
        <p:nvSpPr>
          <p:cNvPr id="13" name="Shape 9"/>
          <p:cNvSpPr/>
          <p:nvPr/>
        </p:nvSpPr>
        <p:spPr>
          <a:xfrm>
            <a:off x="777240" y="4133088"/>
            <a:ext cx="1417320" cy="201168"/>
          </a:xfrm>
          <a:prstGeom prst="roundRect">
            <a:avLst>
              <a:gd name="adj" fmla="val 18182"/>
            </a:avLst>
          </a:prstGeom>
          <a:solidFill>
            <a:srgbClr val="2196F3">
              <a:alpha val="75000"/>
            </a:srgbClr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795528" y="4142232"/>
            <a:ext cx="13898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por 4 estudiantes</a:t>
            </a:r>
            <a:endParaRPr lang="en-US" sz="800" dirty="0"/>
          </a:p>
        </p:txBody>
      </p:sp>
      <p:sp>
        <p:nvSpPr>
          <p:cNvPr id="15" name="Text 11"/>
          <p:cNvSpPr/>
          <p:nvPr/>
        </p:nvSpPr>
        <p:spPr>
          <a:xfrm>
            <a:off x="777240" y="4352544"/>
            <a:ext cx="15727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0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Actuadores + LEGO</a:t>
            </a:r>
            <a:endParaRPr lang="en-US" sz="950" dirty="0"/>
          </a:p>
        </p:txBody>
      </p:sp>
      <p:sp>
        <p:nvSpPr>
          <p:cNvPr id="16" name="Text 12"/>
          <p:cNvSpPr/>
          <p:nvPr/>
        </p:nvSpPr>
        <p:spPr>
          <a:xfrm>
            <a:off x="777240" y="4535424"/>
            <a:ext cx="1572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A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Construcción de máquinas simples de mayor escala con motores y actuadores integrados a piezas LEGO.</a:t>
            </a:r>
            <a:endParaRPr lang="en-US" sz="700" dirty="0"/>
          </a:p>
        </p:txBody>
      </p:sp>
      <p:sp>
        <p:nvSpPr>
          <p:cNvPr id="17" name="Text 13"/>
          <p:cNvSpPr/>
          <p:nvPr/>
        </p:nvSpPr>
        <p:spPr>
          <a:xfrm>
            <a:off x="3977640" y="164592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300" kern="0" dirty="0">
                <a:solidFill>
                  <a:srgbClr val="219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2do — 3ro Básica</a:t>
            </a:r>
            <a:endParaRPr lang="en-US" sz="950" dirty="0"/>
          </a:p>
        </p:txBody>
      </p:sp>
      <p:sp>
        <p:nvSpPr>
          <p:cNvPr id="18" name="Text 14"/>
          <p:cNvSpPr/>
          <p:nvPr/>
        </p:nvSpPr>
        <p:spPr>
          <a:xfrm>
            <a:off x="3977640" y="402336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— 8 años</a:t>
            </a:r>
            <a:endParaRPr lang="en-US" sz="900" dirty="0"/>
          </a:p>
        </p:txBody>
      </p:sp>
      <p:sp>
        <p:nvSpPr>
          <p:cNvPr id="19" name="Text 15"/>
          <p:cNvSpPr/>
          <p:nvPr/>
        </p:nvSpPr>
        <p:spPr>
          <a:xfrm>
            <a:off x="3977640" y="594360"/>
            <a:ext cx="5029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0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CONSTRUCTORES</a:t>
            </a:r>
            <a:endParaRPr lang="en-US" sz="3200" dirty="0"/>
          </a:p>
        </p:txBody>
      </p:sp>
      <p:sp>
        <p:nvSpPr>
          <p:cNvPr id="20" name="Text 16"/>
          <p:cNvSpPr/>
          <p:nvPr/>
        </p:nvSpPr>
        <p:spPr>
          <a:xfrm>
            <a:off x="3977640" y="1188720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116 piezas · Bloques motorizados STEM</a:t>
            </a:r>
            <a:endParaRPr lang="en-US" sz="950" dirty="0"/>
          </a:p>
        </p:txBody>
      </p:sp>
      <p:sp>
        <p:nvSpPr>
          <p:cNvPr id="21" name="Shape 17"/>
          <p:cNvSpPr/>
          <p:nvPr/>
        </p:nvSpPr>
        <p:spPr>
          <a:xfrm>
            <a:off x="3977640" y="1444752"/>
            <a:ext cx="4937760" cy="457200"/>
          </a:xfrm>
          <a:prstGeom prst="roundRect">
            <a:avLst>
              <a:gd name="adj" fmla="val 16000"/>
            </a:avLst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4114800" y="1545336"/>
            <a:ext cx="237744" cy="237744"/>
          </a:xfrm>
          <a:prstGeom prst="ellipse">
            <a:avLst/>
          </a:prstGeom>
          <a:solidFill>
            <a:srgbClr val="FFFFFF">
              <a:alpha val="80000"/>
            </a:srgbClr>
          </a:solidFill>
          <a:ln/>
        </p:spPr>
      </p:sp>
      <p:sp>
        <p:nvSpPr>
          <p:cNvPr id="23" name="Text 19"/>
          <p:cNvSpPr/>
          <p:nvPr/>
        </p:nvSpPr>
        <p:spPr>
          <a:xfrm>
            <a:off x="4114800" y="154533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19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900" dirty="0"/>
          </a:p>
        </p:txBody>
      </p:sp>
      <p:sp>
        <p:nvSpPr>
          <p:cNvPr id="24" name="Text 20"/>
          <p:cNvSpPr/>
          <p:nvPr/>
        </p:nvSpPr>
        <p:spPr>
          <a:xfrm>
            <a:off x="4434840" y="1481328"/>
            <a:ext cx="4370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KIT POR CADA ESTUDIANTE</a:t>
            </a:r>
            <a:endParaRPr lang="en-US" sz="1200" dirty="0"/>
          </a:p>
        </p:txBody>
      </p:sp>
      <p:sp>
        <p:nvSpPr>
          <p:cNvPr id="25" name="Text 21"/>
          <p:cNvSpPr/>
          <p:nvPr/>
        </p:nvSpPr>
        <p:spPr>
          <a:xfrm>
            <a:off x="4434840" y="1700784"/>
            <a:ext cx="43708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chico recibe su propio kit — es suyo para trabajar, explorar y llevarse a casa.</a:t>
            </a:r>
            <a:endParaRPr lang="en-US" sz="800" dirty="0"/>
          </a:p>
        </p:txBody>
      </p:sp>
      <p:sp>
        <p:nvSpPr>
          <p:cNvPr id="26" name="Shape 22"/>
          <p:cNvSpPr/>
          <p:nvPr/>
        </p:nvSpPr>
        <p:spPr>
          <a:xfrm>
            <a:off x="3977640" y="1956816"/>
            <a:ext cx="4937760" cy="457200"/>
          </a:xfrm>
          <a:prstGeom prst="roundRect">
            <a:avLst>
              <a:gd name="adj" fmla="val 16000"/>
            </a:avLst>
          </a:prstGeom>
          <a:solidFill>
            <a:srgbClr val="0F1035"/>
          </a:solidFill>
          <a:ln w="12700">
            <a:solidFill>
              <a:srgbClr val="0F103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3"/>
          <p:cNvSpPr/>
          <p:nvPr/>
        </p:nvSpPr>
        <p:spPr>
          <a:xfrm>
            <a:off x="4114800" y="2057400"/>
            <a:ext cx="237744" cy="237744"/>
          </a:xfrm>
          <a:prstGeom prst="ellipse">
            <a:avLst/>
          </a:prstGeom>
          <a:solidFill>
            <a:srgbClr val="FF7B42"/>
          </a:solidFill>
          <a:ln/>
        </p:spPr>
      </p:sp>
      <p:sp>
        <p:nvSpPr>
          <p:cNvPr id="28" name="Text 24"/>
          <p:cNvSpPr/>
          <p:nvPr/>
        </p:nvSpPr>
        <p:spPr>
          <a:xfrm>
            <a:off x="4114800" y="205740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800" dirty="0"/>
          </a:p>
        </p:txBody>
      </p:sp>
      <p:sp>
        <p:nvSpPr>
          <p:cNvPr id="29" name="Text 25"/>
          <p:cNvSpPr/>
          <p:nvPr/>
        </p:nvSpPr>
        <p:spPr>
          <a:xfrm>
            <a:off x="4434840" y="1993392"/>
            <a:ext cx="4370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CLASE GUIADA EN PLATAFORMA</a:t>
            </a:r>
            <a:endParaRPr lang="en-US" sz="1200" dirty="0"/>
          </a:p>
        </p:txBody>
      </p:sp>
      <p:sp>
        <p:nvSpPr>
          <p:cNvPr id="30" name="Text 26"/>
          <p:cNvSpPr/>
          <p:nvPr/>
        </p:nvSpPr>
        <p:spPr>
          <a:xfrm>
            <a:off x="4434840" y="2212848"/>
            <a:ext cx="43708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clase diseñada para este kit — video guiado, misión y quiz según el nivel.</a:t>
            </a:r>
            <a:endParaRPr lang="en-US" sz="800" dirty="0"/>
          </a:p>
        </p:txBody>
      </p:sp>
      <p:sp>
        <p:nvSpPr>
          <p:cNvPr id="31" name="Shape 27"/>
          <p:cNvSpPr/>
          <p:nvPr/>
        </p:nvSpPr>
        <p:spPr>
          <a:xfrm>
            <a:off x="3977640" y="2468880"/>
            <a:ext cx="493776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3977640" y="2560320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250" kern="0" dirty="0">
                <a:solidFill>
                  <a:srgbClr val="219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HABILIDADES QUE DESARROLLA</a:t>
            </a:r>
            <a:endParaRPr lang="en-US" sz="750" dirty="0"/>
          </a:p>
        </p:txBody>
      </p:sp>
      <p:sp>
        <p:nvSpPr>
          <p:cNvPr id="33" name="Shape 29"/>
          <p:cNvSpPr/>
          <p:nvPr/>
        </p:nvSpPr>
        <p:spPr>
          <a:xfrm>
            <a:off x="3977640" y="2880360"/>
            <a:ext cx="91440" cy="91440"/>
          </a:xfrm>
          <a:prstGeom prst="ellipse">
            <a:avLst/>
          </a:prstGeom>
          <a:solidFill>
            <a:srgbClr val="2196F3"/>
          </a:solidFill>
          <a:ln/>
        </p:spPr>
      </p:sp>
      <p:sp>
        <p:nvSpPr>
          <p:cNvPr id="34" name="Text 30"/>
          <p:cNvSpPr/>
          <p:nvPr/>
        </p:nvSpPr>
        <p:spPr>
          <a:xfrm>
            <a:off x="4142232" y="2816352"/>
            <a:ext cx="4754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Pensamiento espacial y diseño 3D</a:t>
            </a:r>
            <a:endParaRPr lang="en-US" sz="950" dirty="0"/>
          </a:p>
        </p:txBody>
      </p:sp>
      <p:sp>
        <p:nvSpPr>
          <p:cNvPr id="35" name="Shape 31"/>
          <p:cNvSpPr/>
          <p:nvPr/>
        </p:nvSpPr>
        <p:spPr>
          <a:xfrm>
            <a:off x="3977640" y="3154680"/>
            <a:ext cx="91440" cy="91440"/>
          </a:xfrm>
          <a:prstGeom prst="ellipse">
            <a:avLst/>
          </a:prstGeom>
          <a:solidFill>
            <a:srgbClr val="2196F3"/>
          </a:solidFill>
          <a:ln/>
        </p:spPr>
      </p:sp>
      <p:sp>
        <p:nvSpPr>
          <p:cNvPr id="36" name="Text 32"/>
          <p:cNvSpPr/>
          <p:nvPr/>
        </p:nvSpPr>
        <p:spPr>
          <a:xfrm>
            <a:off x="4142232" y="3090672"/>
            <a:ext cx="4754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Motricidad fina y precisión manual</a:t>
            </a:r>
            <a:endParaRPr lang="en-US" sz="950" dirty="0"/>
          </a:p>
        </p:txBody>
      </p:sp>
      <p:sp>
        <p:nvSpPr>
          <p:cNvPr id="37" name="Shape 33"/>
          <p:cNvSpPr/>
          <p:nvPr/>
        </p:nvSpPr>
        <p:spPr>
          <a:xfrm>
            <a:off x="3977640" y="3429000"/>
            <a:ext cx="91440" cy="91440"/>
          </a:xfrm>
          <a:prstGeom prst="ellipse">
            <a:avLst/>
          </a:prstGeom>
          <a:solidFill>
            <a:srgbClr val="2196F3"/>
          </a:solidFill>
          <a:ln/>
        </p:spPr>
      </p:sp>
      <p:sp>
        <p:nvSpPr>
          <p:cNvPr id="38" name="Text 34"/>
          <p:cNvSpPr/>
          <p:nvPr/>
        </p:nvSpPr>
        <p:spPr>
          <a:xfrm>
            <a:off x="4142232" y="3364992"/>
            <a:ext cx="4754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Creatividad libre: el niño decide qué construye</a:t>
            </a:r>
            <a:endParaRPr lang="en-US" sz="950" dirty="0"/>
          </a:p>
        </p:txBody>
      </p:sp>
      <p:sp>
        <p:nvSpPr>
          <p:cNvPr id="39" name="Shape 35"/>
          <p:cNvSpPr/>
          <p:nvPr/>
        </p:nvSpPr>
        <p:spPr>
          <a:xfrm>
            <a:off x="3977640" y="3703320"/>
            <a:ext cx="91440" cy="91440"/>
          </a:xfrm>
          <a:prstGeom prst="ellipse">
            <a:avLst/>
          </a:prstGeom>
          <a:solidFill>
            <a:srgbClr val="2196F3"/>
          </a:solidFill>
          <a:ln/>
        </p:spPr>
      </p:sp>
      <p:sp>
        <p:nvSpPr>
          <p:cNvPr id="40" name="Text 36"/>
          <p:cNvSpPr/>
          <p:nvPr/>
        </p:nvSpPr>
        <p:spPr>
          <a:xfrm>
            <a:off x="4142232" y="3639312"/>
            <a:ext cx="4754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Comprensión de máquinas simples y engranajes</a:t>
            </a:r>
            <a:endParaRPr lang="en-US" sz="950" dirty="0"/>
          </a:p>
        </p:txBody>
      </p:sp>
      <p:sp>
        <p:nvSpPr>
          <p:cNvPr id="41" name="Shape 37"/>
          <p:cNvSpPr/>
          <p:nvPr/>
        </p:nvSpPr>
        <p:spPr>
          <a:xfrm>
            <a:off x="3977640" y="3977640"/>
            <a:ext cx="91440" cy="91440"/>
          </a:xfrm>
          <a:prstGeom prst="ellipse">
            <a:avLst/>
          </a:prstGeom>
          <a:solidFill>
            <a:srgbClr val="2196F3"/>
          </a:solidFill>
          <a:ln/>
        </p:spPr>
      </p:sp>
      <p:sp>
        <p:nvSpPr>
          <p:cNvPr id="42" name="Text 38"/>
          <p:cNvSpPr/>
          <p:nvPr/>
        </p:nvSpPr>
        <p:spPr>
          <a:xfrm>
            <a:off x="4142232" y="3913632"/>
            <a:ext cx="4754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Trabajo en equipo y comunicación</a:t>
            </a:r>
            <a:endParaRPr lang="en-US" sz="950" dirty="0"/>
          </a:p>
        </p:txBody>
      </p:sp>
      <p:sp>
        <p:nvSpPr>
          <p:cNvPr id="43" name="Shape 39"/>
          <p:cNvSpPr/>
          <p:nvPr/>
        </p:nvSpPr>
        <p:spPr>
          <a:xfrm>
            <a:off x="3977640" y="4206240"/>
            <a:ext cx="4937760" cy="713232"/>
          </a:xfrm>
          <a:prstGeom prst="roundRect">
            <a:avLst>
              <a:gd name="adj" fmla="val 10256"/>
            </a:avLst>
          </a:prstGeom>
          <a:solidFill>
            <a:srgbClr val="2196F3">
              <a:alpha val="10000"/>
            </a:srgbClr>
          </a:solidFill>
          <a:ln w="9525">
            <a:solidFill>
              <a:srgbClr val="2196F3">
                <a:alpha val="60000"/>
              </a:srgbClr>
            </a:solidFill>
            <a:prstDash val="solid"/>
          </a:ln>
        </p:spPr>
      </p:sp>
      <p:sp>
        <p:nvSpPr>
          <p:cNvPr id="44" name="Text 40"/>
          <p:cNvSpPr/>
          <p:nvPr/>
        </p:nvSpPr>
        <p:spPr>
          <a:xfrm>
            <a:off x="4114800" y="4251960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219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momento que lo cambia todo:</a:t>
            </a:r>
            <a:endParaRPr lang="en-US" sz="750" dirty="0"/>
          </a:p>
        </p:txBody>
      </p:sp>
      <p:sp>
        <p:nvSpPr>
          <p:cNvPr id="45" name="Text 41"/>
          <p:cNvSpPr/>
          <p:nvPr/>
        </p:nvSpPr>
        <p:spPr>
          <a:xfrm>
            <a:off x="4114800" y="4425696"/>
            <a:ext cx="4663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F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"Papito, ¡construí mi propia grúa y se mueve sola!"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5143500"/>
          </a:xfrm>
          <a:prstGeom prst="rect">
            <a:avLst/>
          </a:prstGeom>
          <a:solidFill>
            <a:srgbClr val="FF7B42"/>
          </a:solidFill>
          <a:ln w="12700">
            <a:solidFill>
              <a:srgbClr val="FF7B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201168"/>
            <a:ext cx="3246120" cy="4754880"/>
          </a:xfrm>
          <a:prstGeom prst="roundRect">
            <a:avLst>
              <a:gd name="adj" fmla="val 3380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40080" y="292608"/>
            <a:ext cx="502920" cy="50292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926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N2</a:t>
            </a:r>
            <a:endParaRPr lang="en-US" sz="11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58368" y="868680"/>
            <a:ext cx="3017520" cy="21488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58368" y="3090672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3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 INCLUYE</a:t>
            </a:r>
            <a:endParaRPr lang="en-US" sz="700" dirty="0"/>
          </a:p>
        </p:txBody>
      </p:sp>
      <p:sp>
        <p:nvSpPr>
          <p:cNvPr id="8" name="Shape 5"/>
          <p:cNvSpPr/>
          <p:nvPr/>
        </p:nvSpPr>
        <p:spPr>
          <a:xfrm>
            <a:off x="658368" y="3273552"/>
            <a:ext cx="2999232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58368" y="3319272"/>
            <a:ext cx="29992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190 piezas. 12 modelos: caminan, ruedan, giran. Panel solar incluido. Funciona también con linterna.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658368" y="3913632"/>
            <a:ext cx="3017520" cy="960120"/>
          </a:xfrm>
          <a:prstGeom prst="roundRect">
            <a:avLst>
              <a:gd name="adj" fmla="val 6667"/>
            </a:avLst>
          </a:prstGeom>
          <a:solidFill>
            <a:srgbClr val="F59E0B">
              <a:alpha val="12000"/>
            </a:srgbClr>
          </a:solidFill>
          <a:ln w="9525">
            <a:solidFill>
              <a:srgbClr val="F59E0B">
                <a:alpha val="45000"/>
              </a:srgbClr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2267712" y="3959352"/>
            <a:ext cx="1353312" cy="84124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77240" y="3950208"/>
            <a:ext cx="15727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spc="2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 DE AULA</a:t>
            </a:r>
            <a:endParaRPr lang="en-US" sz="650" dirty="0"/>
          </a:p>
        </p:txBody>
      </p:sp>
      <p:sp>
        <p:nvSpPr>
          <p:cNvPr id="13" name="Shape 9"/>
          <p:cNvSpPr/>
          <p:nvPr/>
        </p:nvSpPr>
        <p:spPr>
          <a:xfrm>
            <a:off x="777240" y="4133088"/>
            <a:ext cx="1417320" cy="201168"/>
          </a:xfrm>
          <a:prstGeom prst="roundRect">
            <a:avLst>
              <a:gd name="adj" fmla="val 18182"/>
            </a:avLst>
          </a:prstGeom>
          <a:solidFill>
            <a:srgbClr val="F59E0B">
              <a:alpha val="75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795528" y="4142232"/>
            <a:ext cx="13898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por 4 estudiantes</a:t>
            </a:r>
            <a:endParaRPr lang="en-US" sz="800" dirty="0"/>
          </a:p>
        </p:txBody>
      </p:sp>
      <p:sp>
        <p:nvSpPr>
          <p:cNvPr id="15" name="Text 11"/>
          <p:cNvSpPr/>
          <p:nvPr/>
        </p:nvSpPr>
        <p:spPr>
          <a:xfrm>
            <a:off x="777240" y="4352544"/>
            <a:ext cx="15727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0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Actuadores + LEGO</a:t>
            </a:r>
            <a:endParaRPr lang="en-US" sz="950" dirty="0"/>
          </a:p>
        </p:txBody>
      </p:sp>
      <p:sp>
        <p:nvSpPr>
          <p:cNvPr id="16" name="Text 12"/>
          <p:cNvSpPr/>
          <p:nvPr/>
        </p:nvSpPr>
        <p:spPr>
          <a:xfrm>
            <a:off x="777240" y="4535424"/>
            <a:ext cx="1572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A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Construcción de máquinas simples de mayor escala con motores y actuadores integrados a piezas LEGO.</a:t>
            </a:r>
            <a:endParaRPr lang="en-US" sz="700" dirty="0"/>
          </a:p>
        </p:txBody>
      </p:sp>
      <p:sp>
        <p:nvSpPr>
          <p:cNvPr id="17" name="Text 13"/>
          <p:cNvSpPr/>
          <p:nvPr/>
        </p:nvSpPr>
        <p:spPr>
          <a:xfrm>
            <a:off x="3977640" y="164592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3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4to Básica</a:t>
            </a:r>
            <a:endParaRPr lang="en-US" sz="950" dirty="0"/>
          </a:p>
        </p:txBody>
      </p:sp>
      <p:sp>
        <p:nvSpPr>
          <p:cNvPr id="18" name="Text 14"/>
          <p:cNvSpPr/>
          <p:nvPr/>
        </p:nvSpPr>
        <p:spPr>
          <a:xfrm>
            <a:off x="3977640" y="402336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— 10 años</a:t>
            </a:r>
            <a:endParaRPr lang="en-US" sz="900" dirty="0"/>
          </a:p>
        </p:txBody>
      </p:sp>
      <p:sp>
        <p:nvSpPr>
          <p:cNvPr id="19" name="Text 15"/>
          <p:cNvSpPr/>
          <p:nvPr/>
        </p:nvSpPr>
        <p:spPr>
          <a:xfrm>
            <a:off x="3977640" y="594360"/>
            <a:ext cx="5029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0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INGENIEROS SOLARES</a:t>
            </a:r>
            <a:endParaRPr lang="en-US" sz="3200" dirty="0"/>
          </a:p>
        </p:txBody>
      </p:sp>
      <p:sp>
        <p:nvSpPr>
          <p:cNvPr id="20" name="Text 16"/>
          <p:cNvSpPr/>
          <p:nvPr/>
        </p:nvSpPr>
        <p:spPr>
          <a:xfrm>
            <a:off x="3977640" y="1188720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en 1 · Robot movido por el sol</a:t>
            </a:r>
            <a:endParaRPr lang="en-US" sz="950" dirty="0"/>
          </a:p>
        </p:txBody>
      </p:sp>
      <p:sp>
        <p:nvSpPr>
          <p:cNvPr id="21" name="Shape 17"/>
          <p:cNvSpPr/>
          <p:nvPr/>
        </p:nvSpPr>
        <p:spPr>
          <a:xfrm>
            <a:off x="3977640" y="1444752"/>
            <a:ext cx="4937760" cy="457200"/>
          </a:xfrm>
          <a:prstGeom prst="roundRect">
            <a:avLst>
              <a:gd name="adj" fmla="val 16000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4114800" y="1545336"/>
            <a:ext cx="237744" cy="237744"/>
          </a:xfrm>
          <a:prstGeom prst="ellipse">
            <a:avLst/>
          </a:prstGeom>
          <a:solidFill>
            <a:srgbClr val="FFFFFF">
              <a:alpha val="80000"/>
            </a:srgbClr>
          </a:solidFill>
          <a:ln/>
        </p:spPr>
      </p:sp>
      <p:sp>
        <p:nvSpPr>
          <p:cNvPr id="23" name="Text 19"/>
          <p:cNvSpPr/>
          <p:nvPr/>
        </p:nvSpPr>
        <p:spPr>
          <a:xfrm>
            <a:off x="4114800" y="154533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900" dirty="0"/>
          </a:p>
        </p:txBody>
      </p:sp>
      <p:sp>
        <p:nvSpPr>
          <p:cNvPr id="24" name="Text 20"/>
          <p:cNvSpPr/>
          <p:nvPr/>
        </p:nvSpPr>
        <p:spPr>
          <a:xfrm>
            <a:off x="4434840" y="1481328"/>
            <a:ext cx="4370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KIT POR CADA ESTUDIANTE</a:t>
            </a:r>
            <a:endParaRPr lang="en-US" sz="1200" dirty="0"/>
          </a:p>
        </p:txBody>
      </p:sp>
      <p:sp>
        <p:nvSpPr>
          <p:cNvPr id="25" name="Text 21"/>
          <p:cNvSpPr/>
          <p:nvPr/>
        </p:nvSpPr>
        <p:spPr>
          <a:xfrm>
            <a:off x="4434840" y="1700784"/>
            <a:ext cx="43708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chico recibe su propio kit — es suyo para trabajar, explorar y llevarse a casa.</a:t>
            </a:r>
            <a:endParaRPr lang="en-US" sz="800" dirty="0"/>
          </a:p>
        </p:txBody>
      </p:sp>
      <p:sp>
        <p:nvSpPr>
          <p:cNvPr id="26" name="Shape 22"/>
          <p:cNvSpPr/>
          <p:nvPr/>
        </p:nvSpPr>
        <p:spPr>
          <a:xfrm>
            <a:off x="3977640" y="1956816"/>
            <a:ext cx="4937760" cy="457200"/>
          </a:xfrm>
          <a:prstGeom prst="roundRect">
            <a:avLst>
              <a:gd name="adj" fmla="val 16000"/>
            </a:avLst>
          </a:prstGeom>
          <a:solidFill>
            <a:srgbClr val="0F1035"/>
          </a:solidFill>
          <a:ln w="12700">
            <a:solidFill>
              <a:srgbClr val="0F103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3"/>
          <p:cNvSpPr/>
          <p:nvPr/>
        </p:nvSpPr>
        <p:spPr>
          <a:xfrm>
            <a:off x="4114800" y="2057400"/>
            <a:ext cx="237744" cy="237744"/>
          </a:xfrm>
          <a:prstGeom prst="ellipse">
            <a:avLst/>
          </a:prstGeom>
          <a:solidFill>
            <a:srgbClr val="FF7B42"/>
          </a:solidFill>
          <a:ln/>
        </p:spPr>
      </p:sp>
      <p:sp>
        <p:nvSpPr>
          <p:cNvPr id="28" name="Text 24"/>
          <p:cNvSpPr/>
          <p:nvPr/>
        </p:nvSpPr>
        <p:spPr>
          <a:xfrm>
            <a:off x="4114800" y="205740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800" dirty="0"/>
          </a:p>
        </p:txBody>
      </p:sp>
      <p:sp>
        <p:nvSpPr>
          <p:cNvPr id="29" name="Text 25"/>
          <p:cNvSpPr/>
          <p:nvPr/>
        </p:nvSpPr>
        <p:spPr>
          <a:xfrm>
            <a:off x="4434840" y="1993392"/>
            <a:ext cx="4370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CLASE GUIADA EN PLATAFORMA</a:t>
            </a:r>
            <a:endParaRPr lang="en-US" sz="1200" dirty="0"/>
          </a:p>
        </p:txBody>
      </p:sp>
      <p:sp>
        <p:nvSpPr>
          <p:cNvPr id="30" name="Text 26"/>
          <p:cNvSpPr/>
          <p:nvPr/>
        </p:nvSpPr>
        <p:spPr>
          <a:xfrm>
            <a:off x="4434840" y="2212848"/>
            <a:ext cx="43708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clase diseñada para este kit — video guiado, misión y quiz según el nivel.</a:t>
            </a:r>
            <a:endParaRPr lang="en-US" sz="800" dirty="0"/>
          </a:p>
        </p:txBody>
      </p:sp>
      <p:sp>
        <p:nvSpPr>
          <p:cNvPr id="31" name="Shape 27"/>
          <p:cNvSpPr/>
          <p:nvPr/>
        </p:nvSpPr>
        <p:spPr>
          <a:xfrm>
            <a:off x="3977640" y="2468880"/>
            <a:ext cx="493776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3977640" y="2560320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25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HABILIDADES QUE DESARROLLA</a:t>
            </a:r>
            <a:endParaRPr lang="en-US" sz="750" dirty="0"/>
          </a:p>
        </p:txBody>
      </p:sp>
      <p:sp>
        <p:nvSpPr>
          <p:cNvPr id="33" name="Shape 29"/>
          <p:cNvSpPr/>
          <p:nvPr/>
        </p:nvSpPr>
        <p:spPr>
          <a:xfrm>
            <a:off x="3977640" y="2880360"/>
            <a:ext cx="91440" cy="914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34" name="Text 30"/>
          <p:cNvSpPr/>
          <p:nvPr/>
        </p:nvSpPr>
        <p:spPr>
          <a:xfrm>
            <a:off x="4142232" y="2816352"/>
            <a:ext cx="4754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Energía renovable: el sol como fuente de poder</a:t>
            </a:r>
            <a:endParaRPr lang="en-US" sz="950" dirty="0"/>
          </a:p>
        </p:txBody>
      </p:sp>
      <p:sp>
        <p:nvSpPr>
          <p:cNvPr id="35" name="Shape 31"/>
          <p:cNvSpPr/>
          <p:nvPr/>
        </p:nvSpPr>
        <p:spPr>
          <a:xfrm>
            <a:off x="3977640" y="3154680"/>
            <a:ext cx="91440" cy="914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36" name="Text 32"/>
          <p:cNvSpPr/>
          <p:nvPr/>
        </p:nvSpPr>
        <p:spPr>
          <a:xfrm>
            <a:off x="4142232" y="3090672"/>
            <a:ext cx="4754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Ensamblaje mecánico guiado paso a paso</a:t>
            </a:r>
            <a:endParaRPr lang="en-US" sz="950" dirty="0"/>
          </a:p>
        </p:txBody>
      </p:sp>
      <p:sp>
        <p:nvSpPr>
          <p:cNvPr id="37" name="Shape 33"/>
          <p:cNvSpPr/>
          <p:nvPr/>
        </p:nvSpPr>
        <p:spPr>
          <a:xfrm>
            <a:off x="3977640" y="3429000"/>
            <a:ext cx="91440" cy="914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38" name="Text 34"/>
          <p:cNvSpPr/>
          <p:nvPr/>
        </p:nvSpPr>
        <p:spPr>
          <a:xfrm>
            <a:off x="4142232" y="3364992"/>
            <a:ext cx="4754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Relación causa–efecto (sol → motor → movimiento)</a:t>
            </a:r>
            <a:endParaRPr lang="en-US" sz="950" dirty="0"/>
          </a:p>
        </p:txBody>
      </p:sp>
      <p:sp>
        <p:nvSpPr>
          <p:cNvPr id="39" name="Shape 35"/>
          <p:cNvSpPr/>
          <p:nvPr/>
        </p:nvSpPr>
        <p:spPr>
          <a:xfrm>
            <a:off x="3977640" y="3703320"/>
            <a:ext cx="91440" cy="914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40" name="Text 36"/>
          <p:cNvSpPr/>
          <p:nvPr/>
        </p:nvSpPr>
        <p:spPr>
          <a:xfrm>
            <a:off x="4142232" y="3639312"/>
            <a:ext cx="4754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configuraciones distintas de robot en 1 kit</a:t>
            </a:r>
            <a:endParaRPr lang="en-US" sz="950" dirty="0"/>
          </a:p>
        </p:txBody>
      </p:sp>
      <p:sp>
        <p:nvSpPr>
          <p:cNvPr id="41" name="Shape 37"/>
          <p:cNvSpPr/>
          <p:nvPr/>
        </p:nvSpPr>
        <p:spPr>
          <a:xfrm>
            <a:off x="3977640" y="3977640"/>
            <a:ext cx="91440" cy="914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42" name="Text 38"/>
          <p:cNvSpPr/>
          <p:nvPr/>
        </p:nvSpPr>
        <p:spPr>
          <a:xfrm>
            <a:off x="4142232" y="3913632"/>
            <a:ext cx="4754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Perseverancia: construir toma 1–2 horas</a:t>
            </a:r>
            <a:endParaRPr lang="en-US" sz="950" dirty="0"/>
          </a:p>
        </p:txBody>
      </p:sp>
      <p:sp>
        <p:nvSpPr>
          <p:cNvPr id="43" name="Shape 39"/>
          <p:cNvSpPr/>
          <p:nvPr/>
        </p:nvSpPr>
        <p:spPr>
          <a:xfrm>
            <a:off x="3977640" y="4206240"/>
            <a:ext cx="4937760" cy="713232"/>
          </a:xfrm>
          <a:prstGeom prst="roundRect">
            <a:avLst>
              <a:gd name="adj" fmla="val 10256"/>
            </a:avLst>
          </a:prstGeom>
          <a:solidFill>
            <a:srgbClr val="F59E0B">
              <a:alpha val="10000"/>
            </a:srgbClr>
          </a:solidFill>
          <a:ln w="9525">
            <a:solidFill>
              <a:srgbClr val="F59E0B">
                <a:alpha val="60000"/>
              </a:srgbClr>
            </a:solidFill>
            <a:prstDash val="solid"/>
          </a:ln>
        </p:spPr>
      </p:sp>
      <p:sp>
        <p:nvSpPr>
          <p:cNvPr id="44" name="Text 40"/>
          <p:cNvSpPr/>
          <p:nvPr/>
        </p:nvSpPr>
        <p:spPr>
          <a:xfrm>
            <a:off x="4114800" y="4251960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momento que lo cambia todo:</a:t>
            </a:r>
            <a:endParaRPr lang="en-US" sz="750" dirty="0"/>
          </a:p>
        </p:txBody>
      </p:sp>
      <p:sp>
        <p:nvSpPr>
          <p:cNvPr id="45" name="Text 41"/>
          <p:cNvSpPr/>
          <p:nvPr/>
        </p:nvSpPr>
        <p:spPr>
          <a:xfrm>
            <a:off x="4114800" y="4425696"/>
            <a:ext cx="4663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F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"Papito, mi robot no necesita pilas, ¡funciona con el sol!"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5143500"/>
          </a:xfrm>
          <a:prstGeom prst="rect">
            <a:avLst/>
          </a:prstGeom>
          <a:solidFill>
            <a:srgbClr val="FF7B42"/>
          </a:solidFill>
          <a:ln w="12700">
            <a:solidFill>
              <a:srgbClr val="FF7B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201168"/>
            <a:ext cx="3246120" cy="4754880"/>
          </a:xfrm>
          <a:prstGeom prst="roundRect">
            <a:avLst>
              <a:gd name="adj" fmla="val 3380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40080" y="292608"/>
            <a:ext cx="502920" cy="502920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926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N3</a:t>
            </a:r>
            <a:endParaRPr lang="en-US" sz="11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58368" y="868680"/>
            <a:ext cx="3017520" cy="21488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58368" y="3090672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300" kern="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 INCLUYE</a:t>
            </a:r>
            <a:endParaRPr lang="en-US" sz="700" dirty="0"/>
          </a:p>
        </p:txBody>
      </p:sp>
      <p:sp>
        <p:nvSpPr>
          <p:cNvPr id="8" name="Shape 5"/>
          <p:cNvSpPr/>
          <p:nvPr/>
        </p:nvSpPr>
        <p:spPr>
          <a:xfrm>
            <a:off x="658368" y="3273552"/>
            <a:ext cx="2999232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58368" y="3319272"/>
            <a:ext cx="29992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 configuraciones. Control remoto incluido. El estudiante construye Y opera el robot. Motores duales.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658368" y="3913632"/>
            <a:ext cx="3017520" cy="960120"/>
          </a:xfrm>
          <a:prstGeom prst="roundRect">
            <a:avLst>
              <a:gd name="adj" fmla="val 6667"/>
            </a:avLst>
          </a:prstGeom>
          <a:solidFill>
            <a:srgbClr val="16A34A">
              <a:alpha val="12000"/>
            </a:srgbClr>
          </a:solidFill>
          <a:ln w="9525">
            <a:solidFill>
              <a:srgbClr val="16A34A">
                <a:alpha val="45000"/>
              </a:srgbClr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2267712" y="3959352"/>
            <a:ext cx="1353312" cy="84124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77240" y="3950208"/>
            <a:ext cx="15727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spc="200" kern="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 DE AULA</a:t>
            </a:r>
            <a:endParaRPr lang="en-US" sz="650" dirty="0"/>
          </a:p>
        </p:txBody>
      </p:sp>
      <p:sp>
        <p:nvSpPr>
          <p:cNvPr id="13" name="Shape 9"/>
          <p:cNvSpPr/>
          <p:nvPr/>
        </p:nvSpPr>
        <p:spPr>
          <a:xfrm>
            <a:off x="777240" y="4133088"/>
            <a:ext cx="1417320" cy="201168"/>
          </a:xfrm>
          <a:prstGeom prst="roundRect">
            <a:avLst>
              <a:gd name="adj" fmla="val 18182"/>
            </a:avLst>
          </a:prstGeom>
          <a:solidFill>
            <a:srgbClr val="16A34A">
              <a:alpha val="75000"/>
            </a:srgbClr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795528" y="4142232"/>
            <a:ext cx="13898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por 4 estudiantes</a:t>
            </a:r>
            <a:endParaRPr lang="en-US" sz="800" dirty="0"/>
          </a:p>
        </p:txBody>
      </p:sp>
      <p:sp>
        <p:nvSpPr>
          <p:cNvPr id="15" name="Text 11"/>
          <p:cNvSpPr/>
          <p:nvPr/>
        </p:nvSpPr>
        <p:spPr>
          <a:xfrm>
            <a:off x="777240" y="4352544"/>
            <a:ext cx="15727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0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micro:bit + LEGO</a:t>
            </a:r>
            <a:endParaRPr lang="en-US" sz="950" dirty="0"/>
          </a:p>
        </p:txBody>
      </p:sp>
      <p:sp>
        <p:nvSpPr>
          <p:cNvPr id="16" name="Text 12"/>
          <p:cNvSpPr/>
          <p:nvPr/>
        </p:nvSpPr>
        <p:spPr>
          <a:xfrm>
            <a:off x="777240" y="4535424"/>
            <a:ext cx="1572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A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Placas micro:bit programables con estructuras LEGO. Proyectos de electrónica y construcción en equipo.</a:t>
            </a:r>
            <a:endParaRPr lang="en-US" sz="700" dirty="0"/>
          </a:p>
        </p:txBody>
      </p:sp>
      <p:sp>
        <p:nvSpPr>
          <p:cNvPr id="17" name="Text 13"/>
          <p:cNvSpPr/>
          <p:nvPr/>
        </p:nvSpPr>
        <p:spPr>
          <a:xfrm>
            <a:off x="3977640" y="164592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300" kern="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5to Básica</a:t>
            </a:r>
            <a:endParaRPr lang="en-US" sz="950" dirty="0"/>
          </a:p>
        </p:txBody>
      </p:sp>
      <p:sp>
        <p:nvSpPr>
          <p:cNvPr id="18" name="Text 14"/>
          <p:cNvSpPr/>
          <p:nvPr/>
        </p:nvSpPr>
        <p:spPr>
          <a:xfrm>
            <a:off x="3977640" y="402336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— 11 años</a:t>
            </a:r>
            <a:endParaRPr lang="en-US" sz="900" dirty="0"/>
          </a:p>
        </p:txBody>
      </p:sp>
      <p:sp>
        <p:nvSpPr>
          <p:cNvPr id="19" name="Text 15"/>
          <p:cNvSpPr/>
          <p:nvPr/>
        </p:nvSpPr>
        <p:spPr>
          <a:xfrm>
            <a:off x="3977640" y="594360"/>
            <a:ext cx="5029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0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PILOTOS REMOTOS</a:t>
            </a:r>
            <a:endParaRPr lang="en-US" sz="3200" dirty="0"/>
          </a:p>
        </p:txBody>
      </p:sp>
      <p:sp>
        <p:nvSpPr>
          <p:cNvPr id="20" name="Text 16"/>
          <p:cNvSpPr/>
          <p:nvPr/>
        </p:nvSpPr>
        <p:spPr>
          <a:xfrm>
            <a:off x="3977640" y="1188720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 en 1 · Robot con control remoto</a:t>
            </a:r>
            <a:endParaRPr lang="en-US" sz="950" dirty="0"/>
          </a:p>
        </p:txBody>
      </p:sp>
      <p:sp>
        <p:nvSpPr>
          <p:cNvPr id="21" name="Shape 17"/>
          <p:cNvSpPr/>
          <p:nvPr/>
        </p:nvSpPr>
        <p:spPr>
          <a:xfrm>
            <a:off x="3977640" y="1444752"/>
            <a:ext cx="4937760" cy="457200"/>
          </a:xfrm>
          <a:prstGeom prst="roundRect">
            <a:avLst>
              <a:gd name="adj" fmla="val 16000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4114800" y="1545336"/>
            <a:ext cx="237744" cy="237744"/>
          </a:xfrm>
          <a:prstGeom prst="ellipse">
            <a:avLst/>
          </a:prstGeom>
          <a:solidFill>
            <a:srgbClr val="FFFFFF">
              <a:alpha val="80000"/>
            </a:srgbClr>
          </a:solidFill>
          <a:ln/>
        </p:spPr>
      </p:sp>
      <p:sp>
        <p:nvSpPr>
          <p:cNvPr id="23" name="Text 19"/>
          <p:cNvSpPr/>
          <p:nvPr/>
        </p:nvSpPr>
        <p:spPr>
          <a:xfrm>
            <a:off x="4114800" y="154533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900" dirty="0"/>
          </a:p>
        </p:txBody>
      </p:sp>
      <p:sp>
        <p:nvSpPr>
          <p:cNvPr id="24" name="Text 20"/>
          <p:cNvSpPr/>
          <p:nvPr/>
        </p:nvSpPr>
        <p:spPr>
          <a:xfrm>
            <a:off x="4434840" y="1481328"/>
            <a:ext cx="4370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KIT POR CADA ESTUDIANTE</a:t>
            </a:r>
            <a:endParaRPr lang="en-US" sz="1200" dirty="0"/>
          </a:p>
        </p:txBody>
      </p:sp>
      <p:sp>
        <p:nvSpPr>
          <p:cNvPr id="25" name="Text 21"/>
          <p:cNvSpPr/>
          <p:nvPr/>
        </p:nvSpPr>
        <p:spPr>
          <a:xfrm>
            <a:off x="4434840" y="1700784"/>
            <a:ext cx="43708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chico recibe su propio kit — es suyo para trabajar, explorar y llevarse a casa.</a:t>
            </a:r>
            <a:endParaRPr lang="en-US" sz="800" dirty="0"/>
          </a:p>
        </p:txBody>
      </p:sp>
      <p:sp>
        <p:nvSpPr>
          <p:cNvPr id="26" name="Shape 22"/>
          <p:cNvSpPr/>
          <p:nvPr/>
        </p:nvSpPr>
        <p:spPr>
          <a:xfrm>
            <a:off x="3977640" y="1956816"/>
            <a:ext cx="4937760" cy="457200"/>
          </a:xfrm>
          <a:prstGeom prst="roundRect">
            <a:avLst>
              <a:gd name="adj" fmla="val 16000"/>
            </a:avLst>
          </a:prstGeom>
          <a:solidFill>
            <a:srgbClr val="0F1035"/>
          </a:solidFill>
          <a:ln w="12700">
            <a:solidFill>
              <a:srgbClr val="0F103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3"/>
          <p:cNvSpPr/>
          <p:nvPr/>
        </p:nvSpPr>
        <p:spPr>
          <a:xfrm>
            <a:off x="4114800" y="2057400"/>
            <a:ext cx="237744" cy="237744"/>
          </a:xfrm>
          <a:prstGeom prst="ellipse">
            <a:avLst/>
          </a:prstGeom>
          <a:solidFill>
            <a:srgbClr val="FF7B42"/>
          </a:solidFill>
          <a:ln/>
        </p:spPr>
      </p:sp>
      <p:sp>
        <p:nvSpPr>
          <p:cNvPr id="28" name="Text 24"/>
          <p:cNvSpPr/>
          <p:nvPr/>
        </p:nvSpPr>
        <p:spPr>
          <a:xfrm>
            <a:off x="4114800" y="205740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800" dirty="0"/>
          </a:p>
        </p:txBody>
      </p:sp>
      <p:sp>
        <p:nvSpPr>
          <p:cNvPr id="29" name="Text 25"/>
          <p:cNvSpPr/>
          <p:nvPr/>
        </p:nvSpPr>
        <p:spPr>
          <a:xfrm>
            <a:off x="4434840" y="1993392"/>
            <a:ext cx="4370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CLASE GUIADA EN PLATAFORMA</a:t>
            </a:r>
            <a:endParaRPr lang="en-US" sz="1200" dirty="0"/>
          </a:p>
        </p:txBody>
      </p:sp>
      <p:sp>
        <p:nvSpPr>
          <p:cNvPr id="30" name="Text 26"/>
          <p:cNvSpPr/>
          <p:nvPr/>
        </p:nvSpPr>
        <p:spPr>
          <a:xfrm>
            <a:off x="4434840" y="2212848"/>
            <a:ext cx="43708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clase diseñada para este kit — video guiado, misión y quiz según el nivel.</a:t>
            </a:r>
            <a:endParaRPr lang="en-US" sz="800" dirty="0"/>
          </a:p>
        </p:txBody>
      </p:sp>
      <p:sp>
        <p:nvSpPr>
          <p:cNvPr id="31" name="Shape 27"/>
          <p:cNvSpPr/>
          <p:nvPr/>
        </p:nvSpPr>
        <p:spPr>
          <a:xfrm>
            <a:off x="3977640" y="2468880"/>
            <a:ext cx="493776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3977640" y="2560320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250" kern="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HABILIDADES QUE DESARROLLA</a:t>
            </a:r>
            <a:endParaRPr lang="en-US" sz="750" dirty="0"/>
          </a:p>
        </p:txBody>
      </p:sp>
      <p:sp>
        <p:nvSpPr>
          <p:cNvPr id="33" name="Shape 29"/>
          <p:cNvSpPr/>
          <p:nvPr/>
        </p:nvSpPr>
        <p:spPr>
          <a:xfrm>
            <a:off x="3977640" y="2880360"/>
            <a:ext cx="91440" cy="91440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34" name="Text 30"/>
          <p:cNvSpPr/>
          <p:nvPr/>
        </p:nvSpPr>
        <p:spPr>
          <a:xfrm>
            <a:off x="4142232" y="2816352"/>
            <a:ext cx="4754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remoto: mando, dirección, respuesta</a:t>
            </a:r>
            <a:endParaRPr lang="en-US" sz="950" dirty="0"/>
          </a:p>
        </p:txBody>
      </p:sp>
      <p:sp>
        <p:nvSpPr>
          <p:cNvPr id="35" name="Shape 31"/>
          <p:cNvSpPr/>
          <p:nvPr/>
        </p:nvSpPr>
        <p:spPr>
          <a:xfrm>
            <a:off x="3977640" y="3154680"/>
            <a:ext cx="91440" cy="91440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36" name="Text 32"/>
          <p:cNvSpPr/>
          <p:nvPr/>
        </p:nvSpPr>
        <p:spPr>
          <a:xfrm>
            <a:off x="4142232" y="3090672"/>
            <a:ext cx="4754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Electrónica básica: motores, cables, receptores</a:t>
            </a:r>
            <a:endParaRPr lang="en-US" sz="950" dirty="0"/>
          </a:p>
        </p:txBody>
      </p:sp>
      <p:sp>
        <p:nvSpPr>
          <p:cNvPr id="37" name="Shape 33"/>
          <p:cNvSpPr/>
          <p:nvPr/>
        </p:nvSpPr>
        <p:spPr>
          <a:xfrm>
            <a:off x="3977640" y="3429000"/>
            <a:ext cx="91440" cy="91440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38" name="Text 34"/>
          <p:cNvSpPr/>
          <p:nvPr/>
        </p:nvSpPr>
        <p:spPr>
          <a:xfrm>
            <a:off x="4142232" y="3364992"/>
            <a:ext cx="4754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Lógica de control: si presiono esto, pasa aquello</a:t>
            </a:r>
            <a:endParaRPr lang="en-US" sz="950" dirty="0"/>
          </a:p>
        </p:txBody>
      </p:sp>
      <p:sp>
        <p:nvSpPr>
          <p:cNvPr id="39" name="Shape 35"/>
          <p:cNvSpPr/>
          <p:nvPr/>
        </p:nvSpPr>
        <p:spPr>
          <a:xfrm>
            <a:off x="3977640" y="3703320"/>
            <a:ext cx="91440" cy="91440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40" name="Text 36"/>
          <p:cNvSpPr/>
          <p:nvPr/>
        </p:nvSpPr>
        <p:spPr>
          <a:xfrm>
            <a:off x="4142232" y="3639312"/>
            <a:ext cx="4754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 modelos distintos para ensamblar en 1 kit</a:t>
            </a:r>
            <a:endParaRPr lang="en-US" sz="950" dirty="0"/>
          </a:p>
        </p:txBody>
      </p:sp>
      <p:sp>
        <p:nvSpPr>
          <p:cNvPr id="41" name="Shape 37"/>
          <p:cNvSpPr/>
          <p:nvPr/>
        </p:nvSpPr>
        <p:spPr>
          <a:xfrm>
            <a:off x="3977640" y="3977640"/>
            <a:ext cx="91440" cy="91440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42" name="Text 38"/>
          <p:cNvSpPr/>
          <p:nvPr/>
        </p:nvSpPr>
        <p:spPr>
          <a:xfrm>
            <a:off x="4142232" y="3913632"/>
            <a:ext cx="4754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Coordinación motora avanzada</a:t>
            </a:r>
            <a:endParaRPr lang="en-US" sz="950" dirty="0"/>
          </a:p>
        </p:txBody>
      </p:sp>
      <p:sp>
        <p:nvSpPr>
          <p:cNvPr id="43" name="Shape 39"/>
          <p:cNvSpPr/>
          <p:nvPr/>
        </p:nvSpPr>
        <p:spPr>
          <a:xfrm>
            <a:off x="3977640" y="4206240"/>
            <a:ext cx="4937760" cy="713232"/>
          </a:xfrm>
          <a:prstGeom prst="roundRect">
            <a:avLst>
              <a:gd name="adj" fmla="val 10256"/>
            </a:avLst>
          </a:prstGeom>
          <a:solidFill>
            <a:srgbClr val="16A34A">
              <a:alpha val="10000"/>
            </a:srgbClr>
          </a:solidFill>
          <a:ln w="9525">
            <a:solidFill>
              <a:srgbClr val="16A34A">
                <a:alpha val="60000"/>
              </a:srgbClr>
            </a:solidFill>
            <a:prstDash val="solid"/>
          </a:ln>
        </p:spPr>
      </p:sp>
      <p:sp>
        <p:nvSpPr>
          <p:cNvPr id="44" name="Text 40"/>
          <p:cNvSpPr/>
          <p:nvPr/>
        </p:nvSpPr>
        <p:spPr>
          <a:xfrm>
            <a:off x="4114800" y="4251960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momento que lo cambia todo:</a:t>
            </a:r>
            <a:endParaRPr lang="en-US" sz="750" dirty="0"/>
          </a:p>
        </p:txBody>
      </p:sp>
      <p:sp>
        <p:nvSpPr>
          <p:cNvPr id="45" name="Text 41"/>
          <p:cNvSpPr/>
          <p:nvPr/>
        </p:nvSpPr>
        <p:spPr>
          <a:xfrm>
            <a:off x="4114800" y="4425696"/>
            <a:ext cx="4663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F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"Papito, yo construí este robot y lo controlo con mis manos."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5143500"/>
          </a:xfrm>
          <a:prstGeom prst="rect">
            <a:avLst/>
          </a:prstGeom>
          <a:solidFill>
            <a:srgbClr val="FF7B42"/>
          </a:solidFill>
          <a:ln w="12700">
            <a:solidFill>
              <a:srgbClr val="FF7B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201168"/>
            <a:ext cx="3246120" cy="4754880"/>
          </a:xfrm>
          <a:prstGeom prst="roundRect">
            <a:avLst>
              <a:gd name="adj" fmla="val 3380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40080" y="292608"/>
            <a:ext cx="502920" cy="502920"/>
          </a:xfrm>
          <a:prstGeom prst="ellipse">
            <a:avLst/>
          </a:prstGeom>
          <a:solidFill>
            <a:srgbClr val="9333EA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926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N4</a:t>
            </a:r>
            <a:endParaRPr lang="en-US" sz="11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58368" y="868680"/>
            <a:ext cx="3017520" cy="21488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58368" y="3090672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300" kern="0" dirty="0">
                <a:solidFill>
                  <a:srgbClr val="933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 INCLUYE</a:t>
            </a:r>
            <a:endParaRPr lang="en-US" sz="700" dirty="0"/>
          </a:p>
        </p:txBody>
      </p:sp>
      <p:sp>
        <p:nvSpPr>
          <p:cNvPr id="8" name="Shape 5"/>
          <p:cNvSpPr/>
          <p:nvPr/>
        </p:nvSpPr>
        <p:spPr>
          <a:xfrm>
            <a:off x="658368" y="3273552"/>
            <a:ext cx="2999232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58368" y="3319272"/>
            <a:ext cx="29992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Cuerpo ABS plástico. Motor integrado. Patas articuladas. Movimiento autónomo al encender. 4 pilas AA.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658368" y="3913632"/>
            <a:ext cx="3017520" cy="960120"/>
          </a:xfrm>
          <a:prstGeom prst="roundRect">
            <a:avLst>
              <a:gd name="adj" fmla="val 6667"/>
            </a:avLst>
          </a:prstGeom>
          <a:solidFill>
            <a:srgbClr val="9333EA">
              <a:alpha val="12000"/>
            </a:srgbClr>
          </a:solidFill>
          <a:ln w="9525">
            <a:solidFill>
              <a:srgbClr val="9333EA">
                <a:alpha val="45000"/>
              </a:srgbClr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2267712" y="3959352"/>
            <a:ext cx="1353312" cy="84124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77240" y="3950208"/>
            <a:ext cx="15727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spc="200" kern="0" dirty="0">
                <a:solidFill>
                  <a:srgbClr val="933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 DE AULA</a:t>
            </a:r>
            <a:endParaRPr lang="en-US" sz="650" dirty="0"/>
          </a:p>
        </p:txBody>
      </p:sp>
      <p:sp>
        <p:nvSpPr>
          <p:cNvPr id="13" name="Shape 9"/>
          <p:cNvSpPr/>
          <p:nvPr/>
        </p:nvSpPr>
        <p:spPr>
          <a:xfrm>
            <a:off x="777240" y="4133088"/>
            <a:ext cx="1417320" cy="201168"/>
          </a:xfrm>
          <a:prstGeom prst="roundRect">
            <a:avLst>
              <a:gd name="adj" fmla="val 18182"/>
            </a:avLst>
          </a:prstGeom>
          <a:solidFill>
            <a:srgbClr val="9333EA">
              <a:alpha val="75000"/>
            </a:srgbClr>
          </a:solidFill>
          <a:ln w="12700">
            <a:solidFill>
              <a:srgbClr val="9333EA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795528" y="4142232"/>
            <a:ext cx="13898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por 4 estudiantes</a:t>
            </a:r>
            <a:endParaRPr lang="en-US" sz="800" dirty="0"/>
          </a:p>
        </p:txBody>
      </p:sp>
      <p:sp>
        <p:nvSpPr>
          <p:cNvPr id="15" name="Text 11"/>
          <p:cNvSpPr/>
          <p:nvPr/>
        </p:nvSpPr>
        <p:spPr>
          <a:xfrm>
            <a:off x="777240" y="4352544"/>
            <a:ext cx="15727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0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micro:bit + LEGO</a:t>
            </a:r>
            <a:endParaRPr lang="en-US" sz="950" dirty="0"/>
          </a:p>
        </p:txBody>
      </p:sp>
      <p:sp>
        <p:nvSpPr>
          <p:cNvPr id="16" name="Text 12"/>
          <p:cNvSpPr/>
          <p:nvPr/>
        </p:nvSpPr>
        <p:spPr>
          <a:xfrm>
            <a:off x="777240" y="4535424"/>
            <a:ext cx="1572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A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Placas micro:bit programables con estructuras LEGO. Proyectos de electrónica y construcción en equipo.</a:t>
            </a:r>
            <a:endParaRPr lang="en-US" sz="700" dirty="0"/>
          </a:p>
        </p:txBody>
      </p:sp>
      <p:sp>
        <p:nvSpPr>
          <p:cNvPr id="17" name="Text 13"/>
          <p:cNvSpPr/>
          <p:nvPr/>
        </p:nvSpPr>
        <p:spPr>
          <a:xfrm>
            <a:off x="3977640" y="164592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300" kern="0" dirty="0">
                <a:solidFill>
                  <a:srgbClr val="933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6to Básica</a:t>
            </a:r>
            <a:endParaRPr lang="en-US" sz="950" dirty="0"/>
          </a:p>
        </p:txBody>
      </p:sp>
      <p:sp>
        <p:nvSpPr>
          <p:cNvPr id="18" name="Text 14"/>
          <p:cNvSpPr/>
          <p:nvPr/>
        </p:nvSpPr>
        <p:spPr>
          <a:xfrm>
            <a:off x="3977640" y="402336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— 12 años</a:t>
            </a:r>
            <a:endParaRPr lang="en-US" sz="900" dirty="0"/>
          </a:p>
        </p:txBody>
      </p:sp>
      <p:sp>
        <p:nvSpPr>
          <p:cNvPr id="19" name="Text 15"/>
          <p:cNvSpPr/>
          <p:nvPr/>
        </p:nvSpPr>
        <p:spPr>
          <a:xfrm>
            <a:off x="3977640" y="594360"/>
            <a:ext cx="5029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0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DINOROBÓTICA</a:t>
            </a:r>
            <a:endParaRPr lang="en-US" sz="3200" dirty="0"/>
          </a:p>
        </p:txBody>
      </p:sp>
      <p:sp>
        <p:nvSpPr>
          <p:cNvPr id="20" name="Text 16"/>
          <p:cNvSpPr/>
          <p:nvPr/>
        </p:nvSpPr>
        <p:spPr>
          <a:xfrm>
            <a:off x="3977640" y="1188720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 Insecto eléctrico · ABS</a:t>
            </a:r>
            <a:endParaRPr lang="en-US" sz="950" dirty="0"/>
          </a:p>
        </p:txBody>
      </p:sp>
      <p:sp>
        <p:nvSpPr>
          <p:cNvPr id="21" name="Shape 17"/>
          <p:cNvSpPr/>
          <p:nvPr/>
        </p:nvSpPr>
        <p:spPr>
          <a:xfrm>
            <a:off x="3977640" y="1444752"/>
            <a:ext cx="4937760" cy="457200"/>
          </a:xfrm>
          <a:prstGeom prst="roundRect">
            <a:avLst>
              <a:gd name="adj" fmla="val 16000"/>
            </a:avLst>
          </a:prstGeom>
          <a:solidFill>
            <a:srgbClr val="9333EA"/>
          </a:solidFill>
          <a:ln w="12700">
            <a:solidFill>
              <a:srgbClr val="9333E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4114800" y="1545336"/>
            <a:ext cx="237744" cy="237744"/>
          </a:xfrm>
          <a:prstGeom prst="ellipse">
            <a:avLst/>
          </a:prstGeom>
          <a:solidFill>
            <a:srgbClr val="FFFFFF">
              <a:alpha val="80000"/>
            </a:srgbClr>
          </a:solidFill>
          <a:ln/>
        </p:spPr>
      </p:sp>
      <p:sp>
        <p:nvSpPr>
          <p:cNvPr id="23" name="Text 19"/>
          <p:cNvSpPr/>
          <p:nvPr/>
        </p:nvSpPr>
        <p:spPr>
          <a:xfrm>
            <a:off x="4114800" y="154533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33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900" dirty="0"/>
          </a:p>
        </p:txBody>
      </p:sp>
      <p:sp>
        <p:nvSpPr>
          <p:cNvPr id="24" name="Text 20"/>
          <p:cNvSpPr/>
          <p:nvPr/>
        </p:nvSpPr>
        <p:spPr>
          <a:xfrm>
            <a:off x="4434840" y="1481328"/>
            <a:ext cx="4370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KIT POR CADA ESTUDIANTE</a:t>
            </a:r>
            <a:endParaRPr lang="en-US" sz="1200" dirty="0"/>
          </a:p>
        </p:txBody>
      </p:sp>
      <p:sp>
        <p:nvSpPr>
          <p:cNvPr id="25" name="Text 21"/>
          <p:cNvSpPr/>
          <p:nvPr/>
        </p:nvSpPr>
        <p:spPr>
          <a:xfrm>
            <a:off x="4434840" y="1700784"/>
            <a:ext cx="43708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chico recibe su propio kit — es suyo para trabajar, explorar y llevarse a casa.</a:t>
            </a:r>
            <a:endParaRPr lang="en-US" sz="800" dirty="0"/>
          </a:p>
        </p:txBody>
      </p:sp>
      <p:sp>
        <p:nvSpPr>
          <p:cNvPr id="26" name="Shape 22"/>
          <p:cNvSpPr/>
          <p:nvPr/>
        </p:nvSpPr>
        <p:spPr>
          <a:xfrm>
            <a:off x="3977640" y="1956816"/>
            <a:ext cx="4937760" cy="457200"/>
          </a:xfrm>
          <a:prstGeom prst="roundRect">
            <a:avLst>
              <a:gd name="adj" fmla="val 16000"/>
            </a:avLst>
          </a:prstGeom>
          <a:solidFill>
            <a:srgbClr val="0F1035"/>
          </a:solidFill>
          <a:ln w="12700">
            <a:solidFill>
              <a:srgbClr val="0F103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3"/>
          <p:cNvSpPr/>
          <p:nvPr/>
        </p:nvSpPr>
        <p:spPr>
          <a:xfrm>
            <a:off x="4114800" y="2057400"/>
            <a:ext cx="237744" cy="237744"/>
          </a:xfrm>
          <a:prstGeom prst="ellipse">
            <a:avLst/>
          </a:prstGeom>
          <a:solidFill>
            <a:srgbClr val="FF7B42"/>
          </a:solidFill>
          <a:ln/>
        </p:spPr>
      </p:sp>
      <p:sp>
        <p:nvSpPr>
          <p:cNvPr id="28" name="Text 24"/>
          <p:cNvSpPr/>
          <p:nvPr/>
        </p:nvSpPr>
        <p:spPr>
          <a:xfrm>
            <a:off x="4114800" y="205740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800" dirty="0"/>
          </a:p>
        </p:txBody>
      </p:sp>
      <p:sp>
        <p:nvSpPr>
          <p:cNvPr id="29" name="Text 25"/>
          <p:cNvSpPr/>
          <p:nvPr/>
        </p:nvSpPr>
        <p:spPr>
          <a:xfrm>
            <a:off x="4434840" y="1993392"/>
            <a:ext cx="4370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CLASE GUIADA EN PLATAFORMA</a:t>
            </a:r>
            <a:endParaRPr lang="en-US" sz="1200" dirty="0"/>
          </a:p>
        </p:txBody>
      </p:sp>
      <p:sp>
        <p:nvSpPr>
          <p:cNvPr id="30" name="Text 26"/>
          <p:cNvSpPr/>
          <p:nvPr/>
        </p:nvSpPr>
        <p:spPr>
          <a:xfrm>
            <a:off x="4434840" y="2212848"/>
            <a:ext cx="43708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clase diseñada para este kit — video guiado, misión y quiz según el nivel.</a:t>
            </a:r>
            <a:endParaRPr lang="en-US" sz="800" dirty="0"/>
          </a:p>
        </p:txBody>
      </p:sp>
      <p:sp>
        <p:nvSpPr>
          <p:cNvPr id="31" name="Shape 27"/>
          <p:cNvSpPr/>
          <p:nvPr/>
        </p:nvSpPr>
        <p:spPr>
          <a:xfrm>
            <a:off x="3977640" y="2468880"/>
            <a:ext cx="493776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3977640" y="2560320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250" kern="0" dirty="0">
                <a:solidFill>
                  <a:srgbClr val="933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HABILIDADES QUE DESARROLLA</a:t>
            </a:r>
            <a:endParaRPr lang="en-US" sz="750" dirty="0"/>
          </a:p>
        </p:txBody>
      </p:sp>
      <p:sp>
        <p:nvSpPr>
          <p:cNvPr id="33" name="Shape 29"/>
          <p:cNvSpPr/>
          <p:nvPr/>
        </p:nvSpPr>
        <p:spPr>
          <a:xfrm>
            <a:off x="3977640" y="2880360"/>
            <a:ext cx="91440" cy="91440"/>
          </a:xfrm>
          <a:prstGeom prst="ellipse">
            <a:avLst/>
          </a:prstGeom>
          <a:solidFill>
            <a:srgbClr val="9333EA"/>
          </a:solidFill>
          <a:ln/>
        </p:spPr>
      </p:sp>
      <p:sp>
        <p:nvSpPr>
          <p:cNvPr id="34" name="Text 30"/>
          <p:cNvSpPr/>
          <p:nvPr/>
        </p:nvSpPr>
        <p:spPr>
          <a:xfrm>
            <a:off x="4142232" y="2816352"/>
            <a:ext cx="4754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Biomecánica: cómo los insectos se mueven y por qué</a:t>
            </a:r>
            <a:endParaRPr lang="en-US" sz="950" dirty="0"/>
          </a:p>
        </p:txBody>
      </p:sp>
      <p:sp>
        <p:nvSpPr>
          <p:cNvPr id="35" name="Shape 31"/>
          <p:cNvSpPr/>
          <p:nvPr/>
        </p:nvSpPr>
        <p:spPr>
          <a:xfrm>
            <a:off x="3977640" y="3154680"/>
            <a:ext cx="91440" cy="91440"/>
          </a:xfrm>
          <a:prstGeom prst="ellipse">
            <a:avLst/>
          </a:prstGeom>
          <a:solidFill>
            <a:srgbClr val="9333EA"/>
          </a:solidFill>
          <a:ln/>
        </p:spPr>
      </p:sp>
      <p:sp>
        <p:nvSpPr>
          <p:cNvPr id="36" name="Text 32"/>
          <p:cNvSpPr/>
          <p:nvPr/>
        </p:nvSpPr>
        <p:spPr>
          <a:xfrm>
            <a:off x="4142232" y="3090672"/>
            <a:ext cx="4754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Motores y transmisión de fuerza mecánica</a:t>
            </a:r>
            <a:endParaRPr lang="en-US" sz="950" dirty="0"/>
          </a:p>
        </p:txBody>
      </p:sp>
      <p:sp>
        <p:nvSpPr>
          <p:cNvPr id="37" name="Shape 33"/>
          <p:cNvSpPr/>
          <p:nvPr/>
        </p:nvSpPr>
        <p:spPr>
          <a:xfrm>
            <a:off x="3977640" y="3429000"/>
            <a:ext cx="91440" cy="91440"/>
          </a:xfrm>
          <a:prstGeom prst="ellipse">
            <a:avLst/>
          </a:prstGeom>
          <a:solidFill>
            <a:srgbClr val="9333EA"/>
          </a:solidFill>
          <a:ln/>
        </p:spPr>
      </p:sp>
      <p:sp>
        <p:nvSpPr>
          <p:cNvPr id="38" name="Text 34"/>
          <p:cNvSpPr/>
          <p:nvPr/>
        </p:nvSpPr>
        <p:spPr>
          <a:xfrm>
            <a:off x="4142232" y="3364992"/>
            <a:ext cx="4754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inspirado en la naturaleza (biomimética)</a:t>
            </a:r>
            <a:endParaRPr lang="en-US" sz="950" dirty="0"/>
          </a:p>
        </p:txBody>
      </p:sp>
      <p:sp>
        <p:nvSpPr>
          <p:cNvPr id="39" name="Shape 35"/>
          <p:cNvSpPr/>
          <p:nvPr/>
        </p:nvSpPr>
        <p:spPr>
          <a:xfrm>
            <a:off x="3977640" y="3703320"/>
            <a:ext cx="91440" cy="91440"/>
          </a:xfrm>
          <a:prstGeom prst="ellipse">
            <a:avLst/>
          </a:prstGeom>
          <a:solidFill>
            <a:srgbClr val="9333EA"/>
          </a:solidFill>
          <a:ln/>
        </p:spPr>
      </p:sp>
      <p:sp>
        <p:nvSpPr>
          <p:cNvPr id="40" name="Text 36"/>
          <p:cNvSpPr/>
          <p:nvPr/>
        </p:nvSpPr>
        <p:spPr>
          <a:xfrm>
            <a:off x="4142232" y="3639312"/>
            <a:ext cx="4754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Electrónica básica: circuito, switch, batería</a:t>
            </a:r>
            <a:endParaRPr lang="en-US" sz="950" dirty="0"/>
          </a:p>
        </p:txBody>
      </p:sp>
      <p:sp>
        <p:nvSpPr>
          <p:cNvPr id="41" name="Shape 37"/>
          <p:cNvSpPr/>
          <p:nvPr/>
        </p:nvSpPr>
        <p:spPr>
          <a:xfrm>
            <a:off x="3977640" y="3977640"/>
            <a:ext cx="91440" cy="91440"/>
          </a:xfrm>
          <a:prstGeom prst="ellipse">
            <a:avLst/>
          </a:prstGeom>
          <a:solidFill>
            <a:srgbClr val="9333EA"/>
          </a:solidFill>
          <a:ln/>
        </p:spPr>
      </p:sp>
      <p:sp>
        <p:nvSpPr>
          <p:cNvPr id="42" name="Text 38"/>
          <p:cNvSpPr/>
          <p:nvPr/>
        </p:nvSpPr>
        <p:spPr>
          <a:xfrm>
            <a:off x="4142232" y="3913632"/>
            <a:ext cx="4754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Observación científica: robot vs. insecto real</a:t>
            </a:r>
            <a:endParaRPr lang="en-US" sz="950" dirty="0"/>
          </a:p>
        </p:txBody>
      </p:sp>
      <p:sp>
        <p:nvSpPr>
          <p:cNvPr id="43" name="Shape 39"/>
          <p:cNvSpPr/>
          <p:nvPr/>
        </p:nvSpPr>
        <p:spPr>
          <a:xfrm>
            <a:off x="3977640" y="4206240"/>
            <a:ext cx="4937760" cy="713232"/>
          </a:xfrm>
          <a:prstGeom prst="roundRect">
            <a:avLst>
              <a:gd name="adj" fmla="val 10256"/>
            </a:avLst>
          </a:prstGeom>
          <a:solidFill>
            <a:srgbClr val="9333EA">
              <a:alpha val="10000"/>
            </a:srgbClr>
          </a:solidFill>
          <a:ln w="9525">
            <a:solidFill>
              <a:srgbClr val="9333EA">
                <a:alpha val="60000"/>
              </a:srgbClr>
            </a:solidFill>
            <a:prstDash val="solid"/>
          </a:ln>
        </p:spPr>
      </p:sp>
      <p:sp>
        <p:nvSpPr>
          <p:cNvPr id="44" name="Text 40"/>
          <p:cNvSpPr/>
          <p:nvPr/>
        </p:nvSpPr>
        <p:spPr>
          <a:xfrm>
            <a:off x="4114800" y="4251960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933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momento que lo cambia todo:</a:t>
            </a:r>
            <a:endParaRPr lang="en-US" sz="750" dirty="0"/>
          </a:p>
        </p:txBody>
      </p:sp>
      <p:sp>
        <p:nvSpPr>
          <p:cNvPr id="45" name="Text 41"/>
          <p:cNvSpPr/>
          <p:nvPr/>
        </p:nvSpPr>
        <p:spPr>
          <a:xfrm>
            <a:off x="4114800" y="4425696"/>
            <a:ext cx="4663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F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"Papito, hice un insecto robot que camina solo en la mesa."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5143500"/>
          </a:xfrm>
          <a:prstGeom prst="rect">
            <a:avLst/>
          </a:prstGeom>
          <a:solidFill>
            <a:srgbClr val="FF7B42"/>
          </a:solidFill>
          <a:ln w="12700">
            <a:solidFill>
              <a:srgbClr val="FF7B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201168"/>
            <a:ext cx="3246120" cy="4754880"/>
          </a:xfrm>
          <a:prstGeom prst="roundRect">
            <a:avLst>
              <a:gd name="adj" fmla="val 3380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40080" y="292608"/>
            <a:ext cx="502920" cy="50292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926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N5</a:t>
            </a:r>
            <a:endParaRPr lang="en-US" sz="11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58368" y="868680"/>
            <a:ext cx="3017520" cy="21488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58368" y="3090672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3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 INCLUYE</a:t>
            </a:r>
            <a:endParaRPr lang="en-US" sz="700" dirty="0"/>
          </a:p>
        </p:txBody>
      </p:sp>
      <p:sp>
        <p:nvSpPr>
          <p:cNvPr id="8" name="Shape 5"/>
          <p:cNvSpPr/>
          <p:nvPr/>
        </p:nvSpPr>
        <p:spPr>
          <a:xfrm>
            <a:off x="658368" y="3273552"/>
            <a:ext cx="2999232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58368" y="3319272"/>
            <a:ext cx="29992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Placa micro:bit o compatible. Sensores de luz, sonido y temperatura. App gratuita. Compatible con Scratch.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658368" y="3913632"/>
            <a:ext cx="3017520" cy="960120"/>
          </a:xfrm>
          <a:prstGeom prst="roundRect">
            <a:avLst>
              <a:gd name="adj" fmla="val 6667"/>
            </a:avLst>
          </a:prstGeom>
          <a:solidFill>
            <a:srgbClr val="0891B2">
              <a:alpha val="12000"/>
            </a:srgbClr>
          </a:solidFill>
          <a:ln w="9525">
            <a:solidFill>
              <a:srgbClr val="0891B2">
                <a:alpha val="45000"/>
              </a:srgbClr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2267712" y="3959352"/>
            <a:ext cx="1353312" cy="84124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77240" y="3950208"/>
            <a:ext cx="15727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spc="2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 DE AULA</a:t>
            </a:r>
            <a:endParaRPr lang="en-US" sz="650" dirty="0"/>
          </a:p>
        </p:txBody>
      </p:sp>
      <p:sp>
        <p:nvSpPr>
          <p:cNvPr id="13" name="Shape 9"/>
          <p:cNvSpPr/>
          <p:nvPr/>
        </p:nvSpPr>
        <p:spPr>
          <a:xfrm>
            <a:off x="777240" y="4133088"/>
            <a:ext cx="1417320" cy="201168"/>
          </a:xfrm>
          <a:prstGeom prst="roundRect">
            <a:avLst>
              <a:gd name="adj" fmla="val 18182"/>
            </a:avLst>
          </a:prstGeom>
          <a:solidFill>
            <a:srgbClr val="0891B2">
              <a:alpha val="75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795528" y="4142232"/>
            <a:ext cx="13898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por 4 estudiantes</a:t>
            </a:r>
            <a:endParaRPr lang="en-US" sz="800" dirty="0"/>
          </a:p>
        </p:txBody>
      </p:sp>
      <p:sp>
        <p:nvSpPr>
          <p:cNvPr id="15" name="Text 11"/>
          <p:cNvSpPr/>
          <p:nvPr/>
        </p:nvSpPr>
        <p:spPr>
          <a:xfrm>
            <a:off x="777240" y="4352544"/>
            <a:ext cx="15727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0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Arduino + LEGO</a:t>
            </a:r>
            <a:endParaRPr lang="en-US" sz="950" dirty="0"/>
          </a:p>
        </p:txBody>
      </p:sp>
      <p:sp>
        <p:nvSpPr>
          <p:cNvPr id="16" name="Text 12"/>
          <p:cNvSpPr/>
          <p:nvPr/>
        </p:nvSpPr>
        <p:spPr>
          <a:xfrm>
            <a:off x="777240" y="4535424"/>
            <a:ext cx="1572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A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Estación de sensores STEM con LEGO. Proyectos colaborativos de medición y control en el laboratorio.</a:t>
            </a:r>
            <a:endParaRPr lang="en-US" sz="700" dirty="0"/>
          </a:p>
        </p:txBody>
      </p:sp>
      <p:sp>
        <p:nvSpPr>
          <p:cNvPr id="17" name="Text 13"/>
          <p:cNvSpPr/>
          <p:nvPr/>
        </p:nvSpPr>
        <p:spPr>
          <a:xfrm>
            <a:off x="3977640" y="164592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3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7mo Básica</a:t>
            </a:r>
            <a:endParaRPr lang="en-US" sz="950" dirty="0"/>
          </a:p>
        </p:txBody>
      </p:sp>
      <p:sp>
        <p:nvSpPr>
          <p:cNvPr id="18" name="Text 14"/>
          <p:cNvSpPr/>
          <p:nvPr/>
        </p:nvSpPr>
        <p:spPr>
          <a:xfrm>
            <a:off x="3977640" y="402336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— 13 años</a:t>
            </a:r>
            <a:endParaRPr lang="en-US" sz="900" dirty="0"/>
          </a:p>
        </p:txBody>
      </p:sp>
      <p:sp>
        <p:nvSpPr>
          <p:cNvPr id="19" name="Text 15"/>
          <p:cNvSpPr/>
          <p:nvPr/>
        </p:nvSpPr>
        <p:spPr>
          <a:xfrm>
            <a:off x="3977640" y="594360"/>
            <a:ext cx="5029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0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PRIMER CÓDIGO</a:t>
            </a:r>
            <a:endParaRPr lang="en-US" sz="3200" dirty="0"/>
          </a:p>
        </p:txBody>
      </p:sp>
      <p:sp>
        <p:nvSpPr>
          <p:cNvPr id="20" name="Text 16"/>
          <p:cNvSpPr/>
          <p:nvPr/>
        </p:nvSpPr>
        <p:spPr>
          <a:xfrm>
            <a:off x="3977640" y="1188720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 de programación inicial escolar</a:t>
            </a:r>
            <a:endParaRPr lang="en-US" sz="950" dirty="0"/>
          </a:p>
        </p:txBody>
      </p:sp>
      <p:sp>
        <p:nvSpPr>
          <p:cNvPr id="21" name="Shape 17"/>
          <p:cNvSpPr/>
          <p:nvPr/>
        </p:nvSpPr>
        <p:spPr>
          <a:xfrm>
            <a:off x="3977640" y="1444752"/>
            <a:ext cx="4937760" cy="457200"/>
          </a:xfrm>
          <a:prstGeom prst="roundRect">
            <a:avLst>
              <a:gd name="adj" fmla="val 16000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4114800" y="1545336"/>
            <a:ext cx="237744" cy="237744"/>
          </a:xfrm>
          <a:prstGeom prst="ellipse">
            <a:avLst/>
          </a:prstGeom>
          <a:solidFill>
            <a:srgbClr val="FFFFFF">
              <a:alpha val="80000"/>
            </a:srgbClr>
          </a:solidFill>
          <a:ln/>
        </p:spPr>
      </p:sp>
      <p:sp>
        <p:nvSpPr>
          <p:cNvPr id="23" name="Text 19"/>
          <p:cNvSpPr/>
          <p:nvPr/>
        </p:nvSpPr>
        <p:spPr>
          <a:xfrm>
            <a:off x="4114800" y="154533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900" dirty="0"/>
          </a:p>
        </p:txBody>
      </p:sp>
      <p:sp>
        <p:nvSpPr>
          <p:cNvPr id="24" name="Text 20"/>
          <p:cNvSpPr/>
          <p:nvPr/>
        </p:nvSpPr>
        <p:spPr>
          <a:xfrm>
            <a:off x="4434840" y="1481328"/>
            <a:ext cx="4370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KIT POR CADA ESTUDIANTE</a:t>
            </a:r>
            <a:endParaRPr lang="en-US" sz="1200" dirty="0"/>
          </a:p>
        </p:txBody>
      </p:sp>
      <p:sp>
        <p:nvSpPr>
          <p:cNvPr id="25" name="Text 21"/>
          <p:cNvSpPr/>
          <p:nvPr/>
        </p:nvSpPr>
        <p:spPr>
          <a:xfrm>
            <a:off x="4434840" y="1700784"/>
            <a:ext cx="43708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chico recibe su propio kit — es suyo para trabajar, explorar y llevarse a casa.</a:t>
            </a:r>
            <a:endParaRPr lang="en-US" sz="800" dirty="0"/>
          </a:p>
        </p:txBody>
      </p:sp>
      <p:sp>
        <p:nvSpPr>
          <p:cNvPr id="26" name="Shape 22"/>
          <p:cNvSpPr/>
          <p:nvPr/>
        </p:nvSpPr>
        <p:spPr>
          <a:xfrm>
            <a:off x="3977640" y="1956816"/>
            <a:ext cx="4937760" cy="457200"/>
          </a:xfrm>
          <a:prstGeom prst="roundRect">
            <a:avLst>
              <a:gd name="adj" fmla="val 16000"/>
            </a:avLst>
          </a:prstGeom>
          <a:solidFill>
            <a:srgbClr val="0F1035"/>
          </a:solidFill>
          <a:ln w="12700">
            <a:solidFill>
              <a:srgbClr val="0F103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3"/>
          <p:cNvSpPr/>
          <p:nvPr/>
        </p:nvSpPr>
        <p:spPr>
          <a:xfrm>
            <a:off x="4114800" y="2057400"/>
            <a:ext cx="237744" cy="237744"/>
          </a:xfrm>
          <a:prstGeom prst="ellipse">
            <a:avLst/>
          </a:prstGeom>
          <a:solidFill>
            <a:srgbClr val="FF7B42"/>
          </a:solidFill>
          <a:ln/>
        </p:spPr>
      </p:sp>
      <p:sp>
        <p:nvSpPr>
          <p:cNvPr id="28" name="Text 24"/>
          <p:cNvSpPr/>
          <p:nvPr/>
        </p:nvSpPr>
        <p:spPr>
          <a:xfrm>
            <a:off x="4114800" y="205740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800" dirty="0"/>
          </a:p>
        </p:txBody>
      </p:sp>
      <p:sp>
        <p:nvSpPr>
          <p:cNvPr id="29" name="Text 25"/>
          <p:cNvSpPr/>
          <p:nvPr/>
        </p:nvSpPr>
        <p:spPr>
          <a:xfrm>
            <a:off x="4434840" y="1993392"/>
            <a:ext cx="4370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CLASE GUIADA EN PLATAFORMA</a:t>
            </a:r>
            <a:endParaRPr lang="en-US" sz="1200" dirty="0"/>
          </a:p>
        </p:txBody>
      </p:sp>
      <p:sp>
        <p:nvSpPr>
          <p:cNvPr id="30" name="Text 26"/>
          <p:cNvSpPr/>
          <p:nvPr/>
        </p:nvSpPr>
        <p:spPr>
          <a:xfrm>
            <a:off x="4434840" y="2212848"/>
            <a:ext cx="43708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clase diseñada para este kit — video guiado, misión y quiz según el nivel.</a:t>
            </a:r>
            <a:endParaRPr lang="en-US" sz="800" dirty="0"/>
          </a:p>
        </p:txBody>
      </p:sp>
      <p:sp>
        <p:nvSpPr>
          <p:cNvPr id="31" name="Shape 27"/>
          <p:cNvSpPr/>
          <p:nvPr/>
        </p:nvSpPr>
        <p:spPr>
          <a:xfrm>
            <a:off x="3977640" y="2468880"/>
            <a:ext cx="493776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3977640" y="2560320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25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HABILIDADES QUE DESARROLLA</a:t>
            </a:r>
            <a:endParaRPr lang="en-US" sz="750" dirty="0"/>
          </a:p>
        </p:txBody>
      </p:sp>
      <p:sp>
        <p:nvSpPr>
          <p:cNvPr id="33" name="Shape 29"/>
          <p:cNvSpPr/>
          <p:nvPr/>
        </p:nvSpPr>
        <p:spPr>
          <a:xfrm>
            <a:off x="3977640" y="2880360"/>
            <a:ext cx="91440" cy="9144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34" name="Text 30"/>
          <p:cNvSpPr/>
          <p:nvPr/>
        </p:nvSpPr>
        <p:spPr>
          <a:xfrm>
            <a:off x="4142232" y="2816352"/>
            <a:ext cx="4754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Programación visual (bloques tipo Scratch)</a:t>
            </a:r>
            <a:endParaRPr lang="en-US" sz="950" dirty="0"/>
          </a:p>
        </p:txBody>
      </p:sp>
      <p:sp>
        <p:nvSpPr>
          <p:cNvPr id="35" name="Shape 31"/>
          <p:cNvSpPr/>
          <p:nvPr/>
        </p:nvSpPr>
        <p:spPr>
          <a:xfrm>
            <a:off x="3977640" y="3154680"/>
            <a:ext cx="91440" cy="9144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36" name="Text 32"/>
          <p:cNvSpPr/>
          <p:nvPr/>
        </p:nvSpPr>
        <p:spPr>
          <a:xfrm>
            <a:off x="4142232" y="3090672"/>
            <a:ext cx="4754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Pensamiento lógico: secuencias, bucles, condiciones</a:t>
            </a:r>
            <a:endParaRPr lang="en-US" sz="950" dirty="0"/>
          </a:p>
        </p:txBody>
      </p:sp>
      <p:sp>
        <p:nvSpPr>
          <p:cNvPr id="37" name="Shape 33"/>
          <p:cNvSpPr/>
          <p:nvPr/>
        </p:nvSpPr>
        <p:spPr>
          <a:xfrm>
            <a:off x="3977640" y="3429000"/>
            <a:ext cx="91440" cy="9144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38" name="Text 34"/>
          <p:cNvSpPr/>
          <p:nvPr/>
        </p:nvSpPr>
        <p:spPr>
          <a:xfrm>
            <a:off x="4142232" y="3364992"/>
            <a:ext cx="4754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Primeras variables y eventos</a:t>
            </a:r>
            <a:endParaRPr lang="en-US" sz="950" dirty="0"/>
          </a:p>
        </p:txBody>
      </p:sp>
      <p:sp>
        <p:nvSpPr>
          <p:cNvPr id="39" name="Shape 35"/>
          <p:cNvSpPr/>
          <p:nvPr/>
        </p:nvSpPr>
        <p:spPr>
          <a:xfrm>
            <a:off x="3977640" y="3703320"/>
            <a:ext cx="91440" cy="9144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40" name="Text 36"/>
          <p:cNvSpPr/>
          <p:nvPr/>
        </p:nvSpPr>
        <p:spPr>
          <a:xfrm>
            <a:off x="4142232" y="3639312"/>
            <a:ext cx="4754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Conexión hardware–software: mi código mueve el robot</a:t>
            </a:r>
            <a:endParaRPr lang="en-US" sz="950" dirty="0"/>
          </a:p>
        </p:txBody>
      </p:sp>
      <p:sp>
        <p:nvSpPr>
          <p:cNvPr id="41" name="Shape 37"/>
          <p:cNvSpPr/>
          <p:nvPr/>
        </p:nvSpPr>
        <p:spPr>
          <a:xfrm>
            <a:off x="3977640" y="3977640"/>
            <a:ext cx="91440" cy="9144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42" name="Text 38"/>
          <p:cNvSpPr/>
          <p:nvPr/>
        </p:nvSpPr>
        <p:spPr>
          <a:xfrm>
            <a:off x="4142232" y="3913632"/>
            <a:ext cx="4754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Depuración: encontrar y corregir errores propios</a:t>
            </a:r>
            <a:endParaRPr lang="en-US" sz="950" dirty="0"/>
          </a:p>
        </p:txBody>
      </p:sp>
      <p:sp>
        <p:nvSpPr>
          <p:cNvPr id="43" name="Shape 39"/>
          <p:cNvSpPr/>
          <p:nvPr/>
        </p:nvSpPr>
        <p:spPr>
          <a:xfrm>
            <a:off x="3977640" y="4206240"/>
            <a:ext cx="4937760" cy="713232"/>
          </a:xfrm>
          <a:prstGeom prst="roundRect">
            <a:avLst>
              <a:gd name="adj" fmla="val 10256"/>
            </a:avLst>
          </a:prstGeom>
          <a:solidFill>
            <a:srgbClr val="0891B2">
              <a:alpha val="10000"/>
            </a:srgbClr>
          </a:solidFill>
          <a:ln w="9525">
            <a:solidFill>
              <a:srgbClr val="0891B2">
                <a:alpha val="60000"/>
              </a:srgbClr>
            </a:solidFill>
            <a:prstDash val="solid"/>
          </a:ln>
        </p:spPr>
      </p:sp>
      <p:sp>
        <p:nvSpPr>
          <p:cNvPr id="44" name="Text 40"/>
          <p:cNvSpPr/>
          <p:nvPr/>
        </p:nvSpPr>
        <p:spPr>
          <a:xfrm>
            <a:off x="4114800" y="4251960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momento que lo cambia todo:</a:t>
            </a:r>
            <a:endParaRPr lang="en-US" sz="750" dirty="0"/>
          </a:p>
        </p:txBody>
      </p:sp>
      <p:sp>
        <p:nvSpPr>
          <p:cNvPr id="45" name="Text 41"/>
          <p:cNvSpPr/>
          <p:nvPr/>
        </p:nvSpPr>
        <p:spPr>
          <a:xfrm>
            <a:off x="4114800" y="4425696"/>
            <a:ext cx="4663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F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"Papito, programé que la luz se encienda cuando le digo hola."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5143500"/>
          </a:xfrm>
          <a:prstGeom prst="rect">
            <a:avLst/>
          </a:prstGeom>
          <a:solidFill>
            <a:srgbClr val="FF7B42"/>
          </a:solidFill>
          <a:ln w="12700">
            <a:solidFill>
              <a:srgbClr val="FF7B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201168"/>
            <a:ext cx="3246120" cy="4754880"/>
          </a:xfrm>
          <a:prstGeom prst="roundRect">
            <a:avLst>
              <a:gd name="adj" fmla="val 3380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40080" y="292608"/>
            <a:ext cx="502920" cy="502920"/>
          </a:xfrm>
          <a:prstGeom prst="ellipse">
            <a:avLst/>
          </a:prstGeom>
          <a:solidFill>
            <a:srgbClr val="FF7B42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926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N6</a:t>
            </a:r>
            <a:endParaRPr lang="en-US" sz="11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58368" y="868680"/>
            <a:ext cx="3017520" cy="21488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58368" y="3090672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300" kern="0" dirty="0">
                <a:solidFill>
                  <a:srgbClr val="FF7B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 INCLUYE</a:t>
            </a:r>
            <a:endParaRPr lang="en-US" sz="700" dirty="0"/>
          </a:p>
        </p:txBody>
      </p:sp>
      <p:sp>
        <p:nvSpPr>
          <p:cNvPr id="8" name="Shape 5"/>
          <p:cNvSpPr/>
          <p:nvPr/>
        </p:nvSpPr>
        <p:spPr>
          <a:xfrm>
            <a:off x="658368" y="3273552"/>
            <a:ext cx="2999232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58368" y="3319272"/>
            <a:ext cx="29992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Arduino UNO R3 + 37 módulos de sensores. Cables, protoboard, LEDs, buzzer. Tutorial paso a paso.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658368" y="3913632"/>
            <a:ext cx="3017520" cy="960120"/>
          </a:xfrm>
          <a:prstGeom prst="roundRect">
            <a:avLst>
              <a:gd name="adj" fmla="val 6667"/>
            </a:avLst>
          </a:prstGeom>
          <a:solidFill>
            <a:srgbClr val="FF7B42">
              <a:alpha val="12000"/>
            </a:srgbClr>
          </a:solidFill>
          <a:ln w="9525">
            <a:solidFill>
              <a:srgbClr val="FF7B42">
                <a:alpha val="45000"/>
              </a:srgbClr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2267712" y="3959352"/>
            <a:ext cx="1353312" cy="84124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77240" y="3950208"/>
            <a:ext cx="15727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spc="200" kern="0" dirty="0">
                <a:solidFill>
                  <a:srgbClr val="FF7B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 DE AULA</a:t>
            </a:r>
            <a:endParaRPr lang="en-US" sz="650" dirty="0"/>
          </a:p>
        </p:txBody>
      </p:sp>
      <p:sp>
        <p:nvSpPr>
          <p:cNvPr id="13" name="Shape 9"/>
          <p:cNvSpPr/>
          <p:nvPr/>
        </p:nvSpPr>
        <p:spPr>
          <a:xfrm>
            <a:off x="777240" y="4133088"/>
            <a:ext cx="1417320" cy="201168"/>
          </a:xfrm>
          <a:prstGeom prst="roundRect">
            <a:avLst>
              <a:gd name="adj" fmla="val 18182"/>
            </a:avLst>
          </a:prstGeom>
          <a:solidFill>
            <a:srgbClr val="FF7B42">
              <a:alpha val="75000"/>
            </a:srgbClr>
          </a:solidFill>
          <a:ln w="12700">
            <a:solidFill>
              <a:srgbClr val="FF7B42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795528" y="4142232"/>
            <a:ext cx="13898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por 4 estudiantes</a:t>
            </a:r>
            <a:endParaRPr lang="en-US" sz="800" dirty="0"/>
          </a:p>
        </p:txBody>
      </p:sp>
      <p:sp>
        <p:nvSpPr>
          <p:cNvPr id="15" name="Text 11"/>
          <p:cNvSpPr/>
          <p:nvPr/>
        </p:nvSpPr>
        <p:spPr>
          <a:xfrm>
            <a:off x="777240" y="4352544"/>
            <a:ext cx="15727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0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Arduino + LEGO</a:t>
            </a:r>
            <a:endParaRPr lang="en-US" sz="950" dirty="0"/>
          </a:p>
        </p:txBody>
      </p:sp>
      <p:sp>
        <p:nvSpPr>
          <p:cNvPr id="16" name="Text 12"/>
          <p:cNvSpPr/>
          <p:nvPr/>
        </p:nvSpPr>
        <p:spPr>
          <a:xfrm>
            <a:off x="777240" y="4535424"/>
            <a:ext cx="1572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A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Estación de sensores STEM con LEGO. Proyectos colaborativos de medición y control en el laboratorio.</a:t>
            </a:r>
            <a:endParaRPr lang="en-US" sz="700" dirty="0"/>
          </a:p>
        </p:txBody>
      </p:sp>
      <p:sp>
        <p:nvSpPr>
          <p:cNvPr id="17" name="Text 13"/>
          <p:cNvSpPr/>
          <p:nvPr/>
        </p:nvSpPr>
        <p:spPr>
          <a:xfrm>
            <a:off x="3977640" y="164592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300" kern="0" dirty="0">
                <a:solidFill>
                  <a:srgbClr val="FF7B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8vo Básica</a:t>
            </a:r>
            <a:endParaRPr lang="en-US" sz="950" dirty="0"/>
          </a:p>
        </p:txBody>
      </p:sp>
      <p:sp>
        <p:nvSpPr>
          <p:cNvPr id="18" name="Text 14"/>
          <p:cNvSpPr/>
          <p:nvPr/>
        </p:nvSpPr>
        <p:spPr>
          <a:xfrm>
            <a:off x="3977640" y="402336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— 14 años</a:t>
            </a:r>
            <a:endParaRPr lang="en-US" sz="900" dirty="0"/>
          </a:p>
        </p:txBody>
      </p:sp>
      <p:sp>
        <p:nvSpPr>
          <p:cNvPr id="19" name="Text 15"/>
          <p:cNvSpPr/>
          <p:nvPr/>
        </p:nvSpPr>
        <p:spPr>
          <a:xfrm>
            <a:off x="3977640" y="594360"/>
            <a:ext cx="5029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0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ARDUINO MAKER</a:t>
            </a:r>
            <a:endParaRPr lang="en-US" sz="3200" dirty="0"/>
          </a:p>
        </p:txBody>
      </p:sp>
      <p:sp>
        <p:nvSpPr>
          <p:cNvPr id="20" name="Text 16"/>
          <p:cNvSpPr/>
          <p:nvPr/>
        </p:nvSpPr>
        <p:spPr>
          <a:xfrm>
            <a:off x="3977640" y="1188720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Arduino UNO R3 · 37 sensores</a:t>
            </a:r>
            <a:endParaRPr lang="en-US" sz="950" dirty="0"/>
          </a:p>
        </p:txBody>
      </p:sp>
      <p:sp>
        <p:nvSpPr>
          <p:cNvPr id="21" name="Shape 17"/>
          <p:cNvSpPr/>
          <p:nvPr/>
        </p:nvSpPr>
        <p:spPr>
          <a:xfrm>
            <a:off x="3977640" y="1444752"/>
            <a:ext cx="4937760" cy="457200"/>
          </a:xfrm>
          <a:prstGeom prst="roundRect">
            <a:avLst>
              <a:gd name="adj" fmla="val 16000"/>
            </a:avLst>
          </a:prstGeom>
          <a:solidFill>
            <a:srgbClr val="FF7B42"/>
          </a:solidFill>
          <a:ln w="12700">
            <a:solidFill>
              <a:srgbClr val="FF7B42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4114800" y="1545336"/>
            <a:ext cx="237744" cy="237744"/>
          </a:xfrm>
          <a:prstGeom prst="ellipse">
            <a:avLst/>
          </a:prstGeom>
          <a:solidFill>
            <a:srgbClr val="FFFFFF">
              <a:alpha val="80000"/>
            </a:srgbClr>
          </a:solidFill>
          <a:ln/>
        </p:spPr>
      </p:sp>
      <p:sp>
        <p:nvSpPr>
          <p:cNvPr id="23" name="Text 19"/>
          <p:cNvSpPr/>
          <p:nvPr/>
        </p:nvSpPr>
        <p:spPr>
          <a:xfrm>
            <a:off x="4114800" y="154533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7B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900" dirty="0"/>
          </a:p>
        </p:txBody>
      </p:sp>
      <p:sp>
        <p:nvSpPr>
          <p:cNvPr id="24" name="Text 20"/>
          <p:cNvSpPr/>
          <p:nvPr/>
        </p:nvSpPr>
        <p:spPr>
          <a:xfrm>
            <a:off x="4434840" y="1481328"/>
            <a:ext cx="4370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KIT POR CADA ESTUDIANTE</a:t>
            </a:r>
            <a:endParaRPr lang="en-US" sz="1200" dirty="0"/>
          </a:p>
        </p:txBody>
      </p:sp>
      <p:sp>
        <p:nvSpPr>
          <p:cNvPr id="25" name="Text 21"/>
          <p:cNvSpPr/>
          <p:nvPr/>
        </p:nvSpPr>
        <p:spPr>
          <a:xfrm>
            <a:off x="4434840" y="1700784"/>
            <a:ext cx="43708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chico recibe su propio kit — es suyo para trabajar, explorar y llevarse a casa.</a:t>
            </a:r>
            <a:endParaRPr lang="en-US" sz="800" dirty="0"/>
          </a:p>
        </p:txBody>
      </p:sp>
      <p:sp>
        <p:nvSpPr>
          <p:cNvPr id="26" name="Shape 22"/>
          <p:cNvSpPr/>
          <p:nvPr/>
        </p:nvSpPr>
        <p:spPr>
          <a:xfrm>
            <a:off x="3977640" y="1956816"/>
            <a:ext cx="4937760" cy="457200"/>
          </a:xfrm>
          <a:prstGeom prst="roundRect">
            <a:avLst>
              <a:gd name="adj" fmla="val 16000"/>
            </a:avLst>
          </a:prstGeom>
          <a:solidFill>
            <a:srgbClr val="0F1035"/>
          </a:solidFill>
          <a:ln w="12700">
            <a:solidFill>
              <a:srgbClr val="0F103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3"/>
          <p:cNvSpPr/>
          <p:nvPr/>
        </p:nvSpPr>
        <p:spPr>
          <a:xfrm>
            <a:off x="4114800" y="2057400"/>
            <a:ext cx="237744" cy="237744"/>
          </a:xfrm>
          <a:prstGeom prst="ellipse">
            <a:avLst/>
          </a:prstGeom>
          <a:solidFill>
            <a:srgbClr val="FF7B42"/>
          </a:solidFill>
          <a:ln/>
        </p:spPr>
      </p:sp>
      <p:sp>
        <p:nvSpPr>
          <p:cNvPr id="28" name="Text 24"/>
          <p:cNvSpPr/>
          <p:nvPr/>
        </p:nvSpPr>
        <p:spPr>
          <a:xfrm>
            <a:off x="4114800" y="205740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800" dirty="0"/>
          </a:p>
        </p:txBody>
      </p:sp>
      <p:sp>
        <p:nvSpPr>
          <p:cNvPr id="29" name="Text 25"/>
          <p:cNvSpPr/>
          <p:nvPr/>
        </p:nvSpPr>
        <p:spPr>
          <a:xfrm>
            <a:off x="4434840" y="1993392"/>
            <a:ext cx="4370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CLASE GUIADA EN PLATAFORMA</a:t>
            </a:r>
            <a:endParaRPr lang="en-US" sz="1200" dirty="0"/>
          </a:p>
        </p:txBody>
      </p:sp>
      <p:sp>
        <p:nvSpPr>
          <p:cNvPr id="30" name="Text 26"/>
          <p:cNvSpPr/>
          <p:nvPr/>
        </p:nvSpPr>
        <p:spPr>
          <a:xfrm>
            <a:off x="4434840" y="2212848"/>
            <a:ext cx="43708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clase diseñada para este kit — video guiado, misión y quiz según el nivel.</a:t>
            </a:r>
            <a:endParaRPr lang="en-US" sz="800" dirty="0"/>
          </a:p>
        </p:txBody>
      </p:sp>
      <p:sp>
        <p:nvSpPr>
          <p:cNvPr id="31" name="Shape 27"/>
          <p:cNvSpPr/>
          <p:nvPr/>
        </p:nvSpPr>
        <p:spPr>
          <a:xfrm>
            <a:off x="3977640" y="2468880"/>
            <a:ext cx="493776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3977640" y="2560320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250" kern="0" dirty="0">
                <a:solidFill>
                  <a:srgbClr val="FF7B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HABILIDADES QUE DESARROLLA</a:t>
            </a:r>
            <a:endParaRPr lang="en-US" sz="750" dirty="0"/>
          </a:p>
        </p:txBody>
      </p:sp>
      <p:sp>
        <p:nvSpPr>
          <p:cNvPr id="33" name="Shape 29"/>
          <p:cNvSpPr/>
          <p:nvPr/>
        </p:nvSpPr>
        <p:spPr>
          <a:xfrm>
            <a:off x="3977640" y="2880360"/>
            <a:ext cx="91440" cy="91440"/>
          </a:xfrm>
          <a:prstGeom prst="ellipse">
            <a:avLst/>
          </a:prstGeom>
          <a:solidFill>
            <a:srgbClr val="FF7B42"/>
          </a:solidFill>
          <a:ln/>
        </p:spPr>
      </p:sp>
      <p:sp>
        <p:nvSpPr>
          <p:cNvPr id="34" name="Text 30"/>
          <p:cNvSpPr/>
          <p:nvPr/>
        </p:nvSpPr>
        <p:spPr>
          <a:xfrm>
            <a:off x="4142232" y="2816352"/>
            <a:ext cx="4754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Programación en C++ real (lenguaje profesional)</a:t>
            </a:r>
            <a:endParaRPr lang="en-US" sz="950" dirty="0"/>
          </a:p>
        </p:txBody>
      </p:sp>
      <p:sp>
        <p:nvSpPr>
          <p:cNvPr id="35" name="Shape 31"/>
          <p:cNvSpPr/>
          <p:nvPr/>
        </p:nvSpPr>
        <p:spPr>
          <a:xfrm>
            <a:off x="3977640" y="3154680"/>
            <a:ext cx="91440" cy="91440"/>
          </a:xfrm>
          <a:prstGeom prst="ellipse">
            <a:avLst/>
          </a:prstGeom>
          <a:solidFill>
            <a:srgbClr val="FF7B42"/>
          </a:solidFill>
          <a:ln/>
        </p:spPr>
      </p:sp>
      <p:sp>
        <p:nvSpPr>
          <p:cNvPr id="36" name="Text 32"/>
          <p:cNvSpPr/>
          <p:nvPr/>
        </p:nvSpPr>
        <p:spPr>
          <a:xfrm>
            <a:off x="4142232" y="3090672"/>
            <a:ext cx="4754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 sensores: luz, temperatura, ultrasonido, humedad...</a:t>
            </a:r>
            <a:endParaRPr lang="en-US" sz="950" dirty="0"/>
          </a:p>
        </p:txBody>
      </p:sp>
      <p:sp>
        <p:nvSpPr>
          <p:cNvPr id="37" name="Shape 33"/>
          <p:cNvSpPr/>
          <p:nvPr/>
        </p:nvSpPr>
        <p:spPr>
          <a:xfrm>
            <a:off x="3977640" y="3429000"/>
            <a:ext cx="91440" cy="91440"/>
          </a:xfrm>
          <a:prstGeom prst="ellipse">
            <a:avLst/>
          </a:prstGeom>
          <a:solidFill>
            <a:srgbClr val="FF7B42"/>
          </a:solidFill>
          <a:ln/>
        </p:spPr>
      </p:sp>
      <p:sp>
        <p:nvSpPr>
          <p:cNvPr id="38" name="Text 34"/>
          <p:cNvSpPr/>
          <p:nvPr/>
        </p:nvSpPr>
        <p:spPr>
          <a:xfrm>
            <a:off x="4142232" y="3364992"/>
            <a:ext cx="4754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Comprensión de circuitos eléctricos básicos</a:t>
            </a:r>
            <a:endParaRPr lang="en-US" sz="950" dirty="0"/>
          </a:p>
        </p:txBody>
      </p:sp>
      <p:sp>
        <p:nvSpPr>
          <p:cNvPr id="39" name="Shape 35"/>
          <p:cNvSpPr/>
          <p:nvPr/>
        </p:nvSpPr>
        <p:spPr>
          <a:xfrm>
            <a:off x="3977640" y="3703320"/>
            <a:ext cx="91440" cy="91440"/>
          </a:xfrm>
          <a:prstGeom prst="ellipse">
            <a:avLst/>
          </a:prstGeom>
          <a:solidFill>
            <a:srgbClr val="FF7B42"/>
          </a:solidFill>
          <a:ln/>
        </p:spPr>
      </p:sp>
      <p:sp>
        <p:nvSpPr>
          <p:cNvPr id="40" name="Text 36"/>
          <p:cNvSpPr/>
          <p:nvPr/>
        </p:nvSpPr>
        <p:spPr>
          <a:xfrm>
            <a:off x="4142232" y="3639312"/>
            <a:ext cx="4754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Proyectos reales: alarmas, detectores, displays</a:t>
            </a:r>
            <a:endParaRPr lang="en-US" sz="950" dirty="0"/>
          </a:p>
        </p:txBody>
      </p:sp>
      <p:sp>
        <p:nvSpPr>
          <p:cNvPr id="41" name="Shape 37"/>
          <p:cNvSpPr/>
          <p:nvPr/>
        </p:nvSpPr>
        <p:spPr>
          <a:xfrm>
            <a:off x="3977640" y="3977640"/>
            <a:ext cx="91440" cy="91440"/>
          </a:xfrm>
          <a:prstGeom prst="ellipse">
            <a:avLst/>
          </a:prstGeom>
          <a:solidFill>
            <a:srgbClr val="FF7B42"/>
          </a:solidFill>
          <a:ln/>
        </p:spPr>
      </p:sp>
      <p:sp>
        <p:nvSpPr>
          <p:cNvPr id="42" name="Text 38"/>
          <p:cNvSpPr/>
          <p:nvPr/>
        </p:nvSpPr>
        <p:spPr>
          <a:xfrm>
            <a:off x="4142232" y="3913632"/>
            <a:ext cx="4754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 científico: hipótesis → código → prueba</a:t>
            </a:r>
            <a:endParaRPr lang="en-US" sz="950" dirty="0"/>
          </a:p>
        </p:txBody>
      </p:sp>
      <p:sp>
        <p:nvSpPr>
          <p:cNvPr id="43" name="Shape 39"/>
          <p:cNvSpPr/>
          <p:nvPr/>
        </p:nvSpPr>
        <p:spPr>
          <a:xfrm>
            <a:off x="3977640" y="4206240"/>
            <a:ext cx="4937760" cy="713232"/>
          </a:xfrm>
          <a:prstGeom prst="roundRect">
            <a:avLst>
              <a:gd name="adj" fmla="val 10256"/>
            </a:avLst>
          </a:prstGeom>
          <a:solidFill>
            <a:srgbClr val="FF7B42">
              <a:alpha val="10000"/>
            </a:srgbClr>
          </a:solidFill>
          <a:ln w="9525">
            <a:solidFill>
              <a:srgbClr val="FF7B42">
                <a:alpha val="60000"/>
              </a:srgbClr>
            </a:solidFill>
            <a:prstDash val="solid"/>
          </a:ln>
        </p:spPr>
      </p:sp>
      <p:sp>
        <p:nvSpPr>
          <p:cNvPr id="44" name="Text 40"/>
          <p:cNvSpPr/>
          <p:nvPr/>
        </p:nvSpPr>
        <p:spPr>
          <a:xfrm>
            <a:off x="4114800" y="4251960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FF7B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momento que lo cambia todo:</a:t>
            </a:r>
            <a:endParaRPr lang="en-US" sz="750" dirty="0"/>
          </a:p>
        </p:txBody>
      </p:sp>
      <p:sp>
        <p:nvSpPr>
          <p:cNvPr id="45" name="Text 41"/>
          <p:cNvSpPr/>
          <p:nvPr/>
        </p:nvSpPr>
        <p:spPr>
          <a:xfrm>
            <a:off x="4114800" y="4425696"/>
            <a:ext cx="4663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F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"Papito, hice un detector que suena cuando alguien se acerca."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5143500"/>
          </a:xfrm>
          <a:prstGeom prst="rect">
            <a:avLst/>
          </a:prstGeom>
          <a:solidFill>
            <a:srgbClr val="FF7B42"/>
          </a:solidFill>
          <a:ln w="12700">
            <a:solidFill>
              <a:srgbClr val="FF7B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201168"/>
            <a:ext cx="3246120" cy="4754880"/>
          </a:xfrm>
          <a:prstGeom prst="roundRect">
            <a:avLst>
              <a:gd name="adj" fmla="val 3380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40080" y="292608"/>
            <a:ext cx="502920" cy="502920"/>
          </a:xfrm>
          <a:prstGeom prst="ellipse">
            <a:avLst/>
          </a:prstGeom>
          <a:solidFill>
            <a:srgbClr val="E11D48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926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N7</a:t>
            </a:r>
            <a:endParaRPr lang="en-US" sz="11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58368" y="868680"/>
            <a:ext cx="3017520" cy="21488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58368" y="3090672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300" kern="0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 INCLUYE</a:t>
            </a:r>
            <a:endParaRPr lang="en-US" sz="700" dirty="0"/>
          </a:p>
        </p:txBody>
      </p:sp>
      <p:sp>
        <p:nvSpPr>
          <p:cNvPr id="8" name="Shape 5"/>
          <p:cNvSpPr/>
          <p:nvPr/>
        </p:nvSpPr>
        <p:spPr>
          <a:xfrm>
            <a:off x="658368" y="3273552"/>
            <a:ext cx="2999232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58368" y="3319272"/>
            <a:ext cx="29992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Brazo robótico articulado. Servomotores múltiples. Control por Arduino. Movimiento en varios ejes.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658368" y="3913632"/>
            <a:ext cx="3017520" cy="960120"/>
          </a:xfrm>
          <a:prstGeom prst="roundRect">
            <a:avLst>
              <a:gd name="adj" fmla="val 6667"/>
            </a:avLst>
          </a:prstGeom>
          <a:solidFill>
            <a:srgbClr val="E11D48">
              <a:alpha val="12000"/>
            </a:srgbClr>
          </a:solidFill>
          <a:ln w="9525">
            <a:solidFill>
              <a:srgbClr val="E11D48">
                <a:alpha val="45000"/>
              </a:srgbClr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2267712" y="3959352"/>
            <a:ext cx="1353312" cy="84124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77240" y="3950208"/>
            <a:ext cx="15727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spc="200" kern="0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 DE AULA</a:t>
            </a:r>
            <a:endParaRPr lang="en-US" sz="650" dirty="0"/>
          </a:p>
        </p:txBody>
      </p:sp>
      <p:sp>
        <p:nvSpPr>
          <p:cNvPr id="13" name="Shape 9"/>
          <p:cNvSpPr/>
          <p:nvPr/>
        </p:nvSpPr>
        <p:spPr>
          <a:xfrm>
            <a:off x="777240" y="4133088"/>
            <a:ext cx="1417320" cy="201168"/>
          </a:xfrm>
          <a:prstGeom prst="roundRect">
            <a:avLst>
              <a:gd name="adj" fmla="val 18182"/>
            </a:avLst>
          </a:prstGeom>
          <a:solidFill>
            <a:srgbClr val="E11D48">
              <a:alpha val="75000"/>
            </a:srgbClr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795528" y="4142232"/>
            <a:ext cx="13898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por 4 estudiantes</a:t>
            </a:r>
            <a:endParaRPr lang="en-US" sz="800" dirty="0"/>
          </a:p>
        </p:txBody>
      </p:sp>
      <p:sp>
        <p:nvSpPr>
          <p:cNvPr id="15" name="Text 11"/>
          <p:cNvSpPr/>
          <p:nvPr/>
        </p:nvSpPr>
        <p:spPr>
          <a:xfrm>
            <a:off x="777240" y="4352544"/>
            <a:ext cx="15727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0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ESP32 + LEGO</a:t>
            </a:r>
            <a:endParaRPr lang="en-US" sz="950" dirty="0"/>
          </a:p>
        </p:txBody>
      </p:sp>
      <p:sp>
        <p:nvSpPr>
          <p:cNvPr id="16" name="Text 12"/>
          <p:cNvSpPr/>
          <p:nvPr/>
        </p:nvSpPr>
        <p:spPr>
          <a:xfrm>
            <a:off x="777240" y="4535424"/>
            <a:ext cx="1572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A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Programación avanzada con LEGO. Mecatrónica e IoT colaborativo: el equipo diseña, construye y conecta.</a:t>
            </a:r>
            <a:endParaRPr lang="en-US" sz="700" dirty="0"/>
          </a:p>
        </p:txBody>
      </p:sp>
      <p:sp>
        <p:nvSpPr>
          <p:cNvPr id="17" name="Text 13"/>
          <p:cNvSpPr/>
          <p:nvPr/>
        </p:nvSpPr>
        <p:spPr>
          <a:xfrm>
            <a:off x="3977640" y="164592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300" kern="0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9no Básica</a:t>
            </a:r>
            <a:endParaRPr lang="en-US" sz="950" dirty="0"/>
          </a:p>
        </p:txBody>
      </p:sp>
      <p:sp>
        <p:nvSpPr>
          <p:cNvPr id="18" name="Text 14"/>
          <p:cNvSpPr/>
          <p:nvPr/>
        </p:nvSpPr>
        <p:spPr>
          <a:xfrm>
            <a:off x="3977640" y="402336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— 15 años</a:t>
            </a:r>
            <a:endParaRPr lang="en-US" sz="900" dirty="0"/>
          </a:p>
        </p:txBody>
      </p:sp>
      <p:sp>
        <p:nvSpPr>
          <p:cNvPr id="19" name="Text 15"/>
          <p:cNvSpPr/>
          <p:nvPr/>
        </p:nvSpPr>
        <p:spPr>
          <a:xfrm>
            <a:off x="3977640" y="594360"/>
            <a:ext cx="5029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0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BRAZO ROBÓTICO</a:t>
            </a:r>
            <a:endParaRPr lang="en-US" sz="3200" dirty="0"/>
          </a:p>
        </p:txBody>
      </p:sp>
      <p:sp>
        <p:nvSpPr>
          <p:cNvPr id="20" name="Text 16"/>
          <p:cNvSpPr/>
          <p:nvPr/>
        </p:nvSpPr>
        <p:spPr>
          <a:xfrm>
            <a:off x="3977640" y="1188720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Brazo robótico · Arduino</a:t>
            </a:r>
            <a:endParaRPr lang="en-US" sz="950" dirty="0"/>
          </a:p>
        </p:txBody>
      </p:sp>
      <p:sp>
        <p:nvSpPr>
          <p:cNvPr id="21" name="Shape 17"/>
          <p:cNvSpPr/>
          <p:nvPr/>
        </p:nvSpPr>
        <p:spPr>
          <a:xfrm>
            <a:off x="3977640" y="1444752"/>
            <a:ext cx="4937760" cy="457200"/>
          </a:xfrm>
          <a:prstGeom prst="roundRect">
            <a:avLst>
              <a:gd name="adj" fmla="val 16000"/>
            </a:avLst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4114800" y="1545336"/>
            <a:ext cx="237744" cy="237744"/>
          </a:xfrm>
          <a:prstGeom prst="ellipse">
            <a:avLst/>
          </a:prstGeom>
          <a:solidFill>
            <a:srgbClr val="FFFFFF">
              <a:alpha val="80000"/>
            </a:srgbClr>
          </a:solidFill>
          <a:ln/>
        </p:spPr>
      </p:sp>
      <p:sp>
        <p:nvSpPr>
          <p:cNvPr id="23" name="Text 19"/>
          <p:cNvSpPr/>
          <p:nvPr/>
        </p:nvSpPr>
        <p:spPr>
          <a:xfrm>
            <a:off x="4114800" y="154533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900" dirty="0"/>
          </a:p>
        </p:txBody>
      </p:sp>
      <p:sp>
        <p:nvSpPr>
          <p:cNvPr id="24" name="Text 20"/>
          <p:cNvSpPr/>
          <p:nvPr/>
        </p:nvSpPr>
        <p:spPr>
          <a:xfrm>
            <a:off x="4434840" y="1481328"/>
            <a:ext cx="4370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KIT POR CADA ESTUDIANTE</a:t>
            </a:r>
            <a:endParaRPr lang="en-US" sz="1200" dirty="0"/>
          </a:p>
        </p:txBody>
      </p:sp>
      <p:sp>
        <p:nvSpPr>
          <p:cNvPr id="25" name="Text 21"/>
          <p:cNvSpPr/>
          <p:nvPr/>
        </p:nvSpPr>
        <p:spPr>
          <a:xfrm>
            <a:off x="4434840" y="1700784"/>
            <a:ext cx="43708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chico recibe su propio kit — es suyo para trabajar, explorar y llevarse a casa.</a:t>
            </a:r>
            <a:endParaRPr lang="en-US" sz="800" dirty="0"/>
          </a:p>
        </p:txBody>
      </p:sp>
      <p:sp>
        <p:nvSpPr>
          <p:cNvPr id="26" name="Shape 22"/>
          <p:cNvSpPr/>
          <p:nvPr/>
        </p:nvSpPr>
        <p:spPr>
          <a:xfrm>
            <a:off x="3977640" y="1956816"/>
            <a:ext cx="4937760" cy="457200"/>
          </a:xfrm>
          <a:prstGeom prst="roundRect">
            <a:avLst>
              <a:gd name="adj" fmla="val 16000"/>
            </a:avLst>
          </a:prstGeom>
          <a:solidFill>
            <a:srgbClr val="0F1035"/>
          </a:solidFill>
          <a:ln w="12700">
            <a:solidFill>
              <a:srgbClr val="0F103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3"/>
          <p:cNvSpPr/>
          <p:nvPr/>
        </p:nvSpPr>
        <p:spPr>
          <a:xfrm>
            <a:off x="4114800" y="2057400"/>
            <a:ext cx="237744" cy="237744"/>
          </a:xfrm>
          <a:prstGeom prst="ellipse">
            <a:avLst/>
          </a:prstGeom>
          <a:solidFill>
            <a:srgbClr val="FF7B42"/>
          </a:solidFill>
          <a:ln/>
        </p:spPr>
      </p:sp>
      <p:sp>
        <p:nvSpPr>
          <p:cNvPr id="28" name="Text 24"/>
          <p:cNvSpPr/>
          <p:nvPr/>
        </p:nvSpPr>
        <p:spPr>
          <a:xfrm>
            <a:off x="4114800" y="205740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800" dirty="0"/>
          </a:p>
        </p:txBody>
      </p:sp>
      <p:sp>
        <p:nvSpPr>
          <p:cNvPr id="29" name="Text 25"/>
          <p:cNvSpPr/>
          <p:nvPr/>
        </p:nvSpPr>
        <p:spPr>
          <a:xfrm>
            <a:off x="4434840" y="1993392"/>
            <a:ext cx="4370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CLASE GUIADA EN PLATAFORMA</a:t>
            </a:r>
            <a:endParaRPr lang="en-US" sz="1200" dirty="0"/>
          </a:p>
        </p:txBody>
      </p:sp>
      <p:sp>
        <p:nvSpPr>
          <p:cNvPr id="30" name="Text 26"/>
          <p:cNvSpPr/>
          <p:nvPr/>
        </p:nvSpPr>
        <p:spPr>
          <a:xfrm>
            <a:off x="4434840" y="2212848"/>
            <a:ext cx="43708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clase diseñada para este kit — video guiado, misión y quiz según el nivel.</a:t>
            </a:r>
            <a:endParaRPr lang="en-US" sz="800" dirty="0"/>
          </a:p>
        </p:txBody>
      </p:sp>
      <p:sp>
        <p:nvSpPr>
          <p:cNvPr id="31" name="Shape 27"/>
          <p:cNvSpPr/>
          <p:nvPr/>
        </p:nvSpPr>
        <p:spPr>
          <a:xfrm>
            <a:off x="3977640" y="2468880"/>
            <a:ext cx="493776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3977640" y="2560320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250" kern="0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HABILIDADES QUE DESARROLLA</a:t>
            </a:r>
            <a:endParaRPr lang="en-US" sz="750" dirty="0"/>
          </a:p>
        </p:txBody>
      </p:sp>
      <p:sp>
        <p:nvSpPr>
          <p:cNvPr id="33" name="Shape 29"/>
          <p:cNvSpPr/>
          <p:nvPr/>
        </p:nvSpPr>
        <p:spPr>
          <a:xfrm>
            <a:off x="3977640" y="2880360"/>
            <a:ext cx="91440" cy="91440"/>
          </a:xfrm>
          <a:prstGeom prst="ellipse">
            <a:avLst/>
          </a:prstGeom>
          <a:solidFill>
            <a:srgbClr val="E11D48"/>
          </a:solidFill>
          <a:ln/>
        </p:spPr>
      </p:sp>
      <p:sp>
        <p:nvSpPr>
          <p:cNvPr id="34" name="Text 30"/>
          <p:cNvSpPr/>
          <p:nvPr/>
        </p:nvSpPr>
        <p:spPr>
          <a:xfrm>
            <a:off x="4142232" y="2816352"/>
            <a:ext cx="4754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Mecatrónica: integración de mecánica, electrónica y control</a:t>
            </a:r>
            <a:endParaRPr lang="en-US" sz="950" dirty="0"/>
          </a:p>
        </p:txBody>
      </p:sp>
      <p:sp>
        <p:nvSpPr>
          <p:cNvPr id="35" name="Shape 31"/>
          <p:cNvSpPr/>
          <p:nvPr/>
        </p:nvSpPr>
        <p:spPr>
          <a:xfrm>
            <a:off x="3977640" y="3154680"/>
            <a:ext cx="91440" cy="91440"/>
          </a:xfrm>
          <a:prstGeom prst="ellipse">
            <a:avLst/>
          </a:prstGeom>
          <a:solidFill>
            <a:srgbClr val="E11D48"/>
          </a:solidFill>
          <a:ln/>
        </p:spPr>
      </p:sp>
      <p:sp>
        <p:nvSpPr>
          <p:cNvPr id="36" name="Text 32"/>
          <p:cNvSpPr/>
          <p:nvPr/>
        </p:nvSpPr>
        <p:spPr>
          <a:xfrm>
            <a:off x="4142232" y="3090672"/>
            <a:ext cx="4754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Servomotores y control de posición angular</a:t>
            </a:r>
            <a:endParaRPr lang="en-US" sz="950" dirty="0"/>
          </a:p>
        </p:txBody>
      </p:sp>
      <p:sp>
        <p:nvSpPr>
          <p:cNvPr id="37" name="Shape 33"/>
          <p:cNvSpPr/>
          <p:nvPr/>
        </p:nvSpPr>
        <p:spPr>
          <a:xfrm>
            <a:off x="3977640" y="3429000"/>
            <a:ext cx="91440" cy="91440"/>
          </a:xfrm>
          <a:prstGeom prst="ellipse">
            <a:avLst/>
          </a:prstGeom>
          <a:solidFill>
            <a:srgbClr val="E11D48"/>
          </a:solidFill>
          <a:ln/>
        </p:spPr>
      </p:sp>
      <p:sp>
        <p:nvSpPr>
          <p:cNvPr id="38" name="Text 34"/>
          <p:cNvSpPr/>
          <p:nvPr/>
        </p:nvSpPr>
        <p:spPr>
          <a:xfrm>
            <a:off x="4142232" y="3364992"/>
            <a:ext cx="4754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Programación de movimientos secuenciales</a:t>
            </a:r>
            <a:endParaRPr lang="en-US" sz="950" dirty="0"/>
          </a:p>
        </p:txBody>
      </p:sp>
      <p:sp>
        <p:nvSpPr>
          <p:cNvPr id="39" name="Shape 35"/>
          <p:cNvSpPr/>
          <p:nvPr/>
        </p:nvSpPr>
        <p:spPr>
          <a:xfrm>
            <a:off x="3977640" y="3703320"/>
            <a:ext cx="91440" cy="91440"/>
          </a:xfrm>
          <a:prstGeom prst="ellipse">
            <a:avLst/>
          </a:prstGeom>
          <a:solidFill>
            <a:srgbClr val="E11D48"/>
          </a:solidFill>
          <a:ln/>
        </p:spPr>
      </p:sp>
      <p:sp>
        <p:nvSpPr>
          <p:cNvPr id="40" name="Text 36"/>
          <p:cNvSpPr/>
          <p:nvPr/>
        </p:nvSpPr>
        <p:spPr>
          <a:xfrm>
            <a:off x="4142232" y="3639312"/>
            <a:ext cx="4754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de sistemas articulados de precisión</a:t>
            </a:r>
            <a:endParaRPr lang="en-US" sz="950" dirty="0"/>
          </a:p>
        </p:txBody>
      </p:sp>
      <p:sp>
        <p:nvSpPr>
          <p:cNvPr id="41" name="Shape 37"/>
          <p:cNvSpPr/>
          <p:nvPr/>
        </p:nvSpPr>
        <p:spPr>
          <a:xfrm>
            <a:off x="3977640" y="3977640"/>
            <a:ext cx="91440" cy="91440"/>
          </a:xfrm>
          <a:prstGeom prst="ellipse">
            <a:avLst/>
          </a:prstGeom>
          <a:solidFill>
            <a:srgbClr val="E11D48"/>
          </a:solidFill>
          <a:ln/>
        </p:spPr>
      </p:sp>
      <p:sp>
        <p:nvSpPr>
          <p:cNvPr id="42" name="Text 38"/>
          <p:cNvSpPr/>
          <p:nvPr/>
        </p:nvSpPr>
        <p:spPr>
          <a:xfrm>
            <a:off x="4142232" y="3913632"/>
            <a:ext cx="4754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Trabajo en equipo: división de tareas de ingeniería</a:t>
            </a:r>
            <a:endParaRPr lang="en-US" sz="950" dirty="0"/>
          </a:p>
        </p:txBody>
      </p:sp>
      <p:sp>
        <p:nvSpPr>
          <p:cNvPr id="43" name="Shape 39"/>
          <p:cNvSpPr/>
          <p:nvPr/>
        </p:nvSpPr>
        <p:spPr>
          <a:xfrm>
            <a:off x="3977640" y="4206240"/>
            <a:ext cx="4937760" cy="713232"/>
          </a:xfrm>
          <a:prstGeom prst="roundRect">
            <a:avLst>
              <a:gd name="adj" fmla="val 10256"/>
            </a:avLst>
          </a:prstGeom>
          <a:solidFill>
            <a:srgbClr val="E11D48">
              <a:alpha val="10000"/>
            </a:srgbClr>
          </a:solidFill>
          <a:ln w="9525">
            <a:solidFill>
              <a:srgbClr val="E11D48">
                <a:alpha val="60000"/>
              </a:srgbClr>
            </a:solidFill>
            <a:prstDash val="solid"/>
          </a:ln>
        </p:spPr>
      </p:sp>
      <p:sp>
        <p:nvSpPr>
          <p:cNvPr id="44" name="Text 40"/>
          <p:cNvSpPr/>
          <p:nvPr/>
        </p:nvSpPr>
        <p:spPr>
          <a:xfrm>
            <a:off x="4114800" y="4251960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momento que lo cambia todo:</a:t>
            </a:r>
            <a:endParaRPr lang="en-US" sz="750" dirty="0"/>
          </a:p>
        </p:txBody>
      </p:sp>
      <p:sp>
        <p:nvSpPr>
          <p:cNvPr id="45" name="Text 41"/>
          <p:cNvSpPr/>
          <p:nvPr/>
        </p:nvSpPr>
        <p:spPr>
          <a:xfrm>
            <a:off x="4114800" y="4425696"/>
            <a:ext cx="4663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F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"Papito, mi brazo robot agarra objetos y los mueve solo."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5143500"/>
          </a:xfrm>
          <a:prstGeom prst="rect">
            <a:avLst/>
          </a:prstGeom>
          <a:solidFill>
            <a:srgbClr val="FF7B42"/>
          </a:solidFill>
          <a:ln w="12700">
            <a:solidFill>
              <a:srgbClr val="FF7B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201168"/>
            <a:ext cx="3246120" cy="4754880"/>
          </a:xfrm>
          <a:prstGeom prst="roundRect">
            <a:avLst>
              <a:gd name="adj" fmla="val 3380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40080" y="292608"/>
            <a:ext cx="502920" cy="502920"/>
          </a:xfrm>
          <a:prstGeom prst="ellipse">
            <a:avLst/>
          </a:prstGeom>
          <a:solidFill>
            <a:srgbClr val="1D4ED8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926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N8</a:t>
            </a:r>
            <a:endParaRPr lang="en-US" sz="11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58368" y="868680"/>
            <a:ext cx="3017520" cy="21488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58368" y="3090672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300" kern="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 INCLUYE</a:t>
            </a:r>
            <a:endParaRPr lang="en-US" sz="700" dirty="0"/>
          </a:p>
        </p:txBody>
      </p:sp>
      <p:sp>
        <p:nvSpPr>
          <p:cNvPr id="8" name="Shape 5"/>
          <p:cNvSpPr/>
          <p:nvPr/>
        </p:nvSpPr>
        <p:spPr>
          <a:xfrm>
            <a:off x="658368" y="3273552"/>
            <a:ext cx="2999232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58368" y="3319272"/>
            <a:ext cx="29992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 humanoide bailarín con ESP32. Múltiples servomotores. Programable por app o código.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658368" y="3913632"/>
            <a:ext cx="3017520" cy="960120"/>
          </a:xfrm>
          <a:prstGeom prst="roundRect">
            <a:avLst>
              <a:gd name="adj" fmla="val 6667"/>
            </a:avLst>
          </a:prstGeom>
          <a:solidFill>
            <a:srgbClr val="1D4ED8">
              <a:alpha val="12000"/>
            </a:srgbClr>
          </a:solidFill>
          <a:ln w="9525">
            <a:solidFill>
              <a:srgbClr val="1D4ED8">
                <a:alpha val="45000"/>
              </a:srgbClr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2267712" y="3959352"/>
            <a:ext cx="1353312" cy="84124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77240" y="3950208"/>
            <a:ext cx="15727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spc="200" kern="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 DE AULA</a:t>
            </a:r>
            <a:endParaRPr lang="en-US" sz="650" dirty="0"/>
          </a:p>
        </p:txBody>
      </p:sp>
      <p:sp>
        <p:nvSpPr>
          <p:cNvPr id="13" name="Shape 9"/>
          <p:cNvSpPr/>
          <p:nvPr/>
        </p:nvSpPr>
        <p:spPr>
          <a:xfrm>
            <a:off x="777240" y="4133088"/>
            <a:ext cx="1417320" cy="201168"/>
          </a:xfrm>
          <a:prstGeom prst="roundRect">
            <a:avLst>
              <a:gd name="adj" fmla="val 18182"/>
            </a:avLst>
          </a:prstGeom>
          <a:solidFill>
            <a:srgbClr val="1D4ED8">
              <a:alpha val="75000"/>
            </a:srgbClr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795528" y="4142232"/>
            <a:ext cx="13898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por 4 estudiantes</a:t>
            </a:r>
            <a:endParaRPr lang="en-US" sz="800" dirty="0"/>
          </a:p>
        </p:txBody>
      </p:sp>
      <p:sp>
        <p:nvSpPr>
          <p:cNvPr id="15" name="Text 11"/>
          <p:cNvSpPr/>
          <p:nvPr/>
        </p:nvSpPr>
        <p:spPr>
          <a:xfrm>
            <a:off x="777240" y="4352544"/>
            <a:ext cx="15727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0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ESP32 + LEGO</a:t>
            </a:r>
            <a:endParaRPr lang="en-US" sz="950" dirty="0"/>
          </a:p>
        </p:txBody>
      </p:sp>
      <p:sp>
        <p:nvSpPr>
          <p:cNvPr id="16" name="Text 12"/>
          <p:cNvSpPr/>
          <p:nvPr/>
        </p:nvSpPr>
        <p:spPr>
          <a:xfrm>
            <a:off x="777240" y="4535424"/>
            <a:ext cx="1572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A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Programación avanzada con LEGO. Mecatrónica e IoT colaborativo: el equipo diseña, construye y conecta.</a:t>
            </a:r>
            <a:endParaRPr lang="en-US" sz="700" dirty="0"/>
          </a:p>
        </p:txBody>
      </p:sp>
      <p:sp>
        <p:nvSpPr>
          <p:cNvPr id="17" name="Text 13"/>
          <p:cNvSpPr/>
          <p:nvPr/>
        </p:nvSpPr>
        <p:spPr>
          <a:xfrm>
            <a:off x="3977640" y="164592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300" kern="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10mo Básica</a:t>
            </a:r>
            <a:endParaRPr lang="en-US" sz="950" dirty="0"/>
          </a:p>
        </p:txBody>
      </p:sp>
      <p:sp>
        <p:nvSpPr>
          <p:cNvPr id="18" name="Text 14"/>
          <p:cNvSpPr/>
          <p:nvPr/>
        </p:nvSpPr>
        <p:spPr>
          <a:xfrm>
            <a:off x="3977640" y="402336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— 16 años</a:t>
            </a:r>
            <a:endParaRPr lang="en-US" sz="900" dirty="0"/>
          </a:p>
        </p:txBody>
      </p:sp>
      <p:sp>
        <p:nvSpPr>
          <p:cNvPr id="19" name="Text 15"/>
          <p:cNvSpPr/>
          <p:nvPr/>
        </p:nvSpPr>
        <p:spPr>
          <a:xfrm>
            <a:off x="3977640" y="594360"/>
            <a:ext cx="5029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0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ROBOT BAILARÍN</a:t>
            </a:r>
            <a:endParaRPr lang="en-US" sz="3200" dirty="0"/>
          </a:p>
        </p:txBody>
      </p:sp>
      <p:sp>
        <p:nvSpPr>
          <p:cNvPr id="20" name="Text 16"/>
          <p:cNvSpPr/>
          <p:nvPr/>
        </p:nvSpPr>
        <p:spPr>
          <a:xfrm>
            <a:off x="3977640" y="1188720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 bailarín · ESP32</a:t>
            </a:r>
            <a:endParaRPr lang="en-US" sz="950" dirty="0"/>
          </a:p>
        </p:txBody>
      </p:sp>
      <p:sp>
        <p:nvSpPr>
          <p:cNvPr id="21" name="Shape 17"/>
          <p:cNvSpPr/>
          <p:nvPr/>
        </p:nvSpPr>
        <p:spPr>
          <a:xfrm>
            <a:off x="3977640" y="1444752"/>
            <a:ext cx="4937760" cy="457200"/>
          </a:xfrm>
          <a:prstGeom prst="roundRect">
            <a:avLst>
              <a:gd name="adj" fmla="val 16000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4114800" y="1545336"/>
            <a:ext cx="237744" cy="237744"/>
          </a:xfrm>
          <a:prstGeom prst="ellipse">
            <a:avLst/>
          </a:prstGeom>
          <a:solidFill>
            <a:srgbClr val="FFFFFF">
              <a:alpha val="80000"/>
            </a:srgbClr>
          </a:solidFill>
          <a:ln/>
        </p:spPr>
      </p:sp>
      <p:sp>
        <p:nvSpPr>
          <p:cNvPr id="23" name="Text 19"/>
          <p:cNvSpPr/>
          <p:nvPr/>
        </p:nvSpPr>
        <p:spPr>
          <a:xfrm>
            <a:off x="4114800" y="154533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900" dirty="0"/>
          </a:p>
        </p:txBody>
      </p:sp>
      <p:sp>
        <p:nvSpPr>
          <p:cNvPr id="24" name="Text 20"/>
          <p:cNvSpPr/>
          <p:nvPr/>
        </p:nvSpPr>
        <p:spPr>
          <a:xfrm>
            <a:off x="4434840" y="1481328"/>
            <a:ext cx="4370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KIT POR CADA ESTUDIANTE</a:t>
            </a:r>
            <a:endParaRPr lang="en-US" sz="1200" dirty="0"/>
          </a:p>
        </p:txBody>
      </p:sp>
      <p:sp>
        <p:nvSpPr>
          <p:cNvPr id="25" name="Text 21"/>
          <p:cNvSpPr/>
          <p:nvPr/>
        </p:nvSpPr>
        <p:spPr>
          <a:xfrm>
            <a:off x="4434840" y="1700784"/>
            <a:ext cx="43708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chico recibe su propio kit — es suyo para trabajar, explorar y llevarse a casa.</a:t>
            </a:r>
            <a:endParaRPr lang="en-US" sz="800" dirty="0"/>
          </a:p>
        </p:txBody>
      </p:sp>
      <p:sp>
        <p:nvSpPr>
          <p:cNvPr id="26" name="Shape 22"/>
          <p:cNvSpPr/>
          <p:nvPr/>
        </p:nvSpPr>
        <p:spPr>
          <a:xfrm>
            <a:off x="3977640" y="1956816"/>
            <a:ext cx="4937760" cy="457200"/>
          </a:xfrm>
          <a:prstGeom prst="roundRect">
            <a:avLst>
              <a:gd name="adj" fmla="val 16000"/>
            </a:avLst>
          </a:prstGeom>
          <a:solidFill>
            <a:srgbClr val="0F1035"/>
          </a:solidFill>
          <a:ln w="12700">
            <a:solidFill>
              <a:srgbClr val="0F103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3"/>
          <p:cNvSpPr/>
          <p:nvPr/>
        </p:nvSpPr>
        <p:spPr>
          <a:xfrm>
            <a:off x="4114800" y="2057400"/>
            <a:ext cx="237744" cy="237744"/>
          </a:xfrm>
          <a:prstGeom prst="ellipse">
            <a:avLst/>
          </a:prstGeom>
          <a:solidFill>
            <a:srgbClr val="FF7B42"/>
          </a:solidFill>
          <a:ln/>
        </p:spPr>
      </p:sp>
      <p:sp>
        <p:nvSpPr>
          <p:cNvPr id="28" name="Text 24"/>
          <p:cNvSpPr/>
          <p:nvPr/>
        </p:nvSpPr>
        <p:spPr>
          <a:xfrm>
            <a:off x="4114800" y="205740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800" dirty="0"/>
          </a:p>
        </p:txBody>
      </p:sp>
      <p:sp>
        <p:nvSpPr>
          <p:cNvPr id="29" name="Text 25"/>
          <p:cNvSpPr/>
          <p:nvPr/>
        </p:nvSpPr>
        <p:spPr>
          <a:xfrm>
            <a:off x="4434840" y="1993392"/>
            <a:ext cx="4370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CLASE GUIADA EN PLATAFORMA</a:t>
            </a:r>
            <a:endParaRPr lang="en-US" sz="1200" dirty="0"/>
          </a:p>
        </p:txBody>
      </p:sp>
      <p:sp>
        <p:nvSpPr>
          <p:cNvPr id="30" name="Text 26"/>
          <p:cNvSpPr/>
          <p:nvPr/>
        </p:nvSpPr>
        <p:spPr>
          <a:xfrm>
            <a:off x="4434840" y="2212848"/>
            <a:ext cx="43708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clase diseñada para este kit — video guiado, misión y quiz según el nivel.</a:t>
            </a:r>
            <a:endParaRPr lang="en-US" sz="800" dirty="0"/>
          </a:p>
        </p:txBody>
      </p:sp>
      <p:sp>
        <p:nvSpPr>
          <p:cNvPr id="31" name="Shape 27"/>
          <p:cNvSpPr/>
          <p:nvPr/>
        </p:nvSpPr>
        <p:spPr>
          <a:xfrm>
            <a:off x="3977640" y="2468880"/>
            <a:ext cx="493776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3977640" y="2560320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250" kern="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HABILIDADES QUE DESARROLLA</a:t>
            </a:r>
            <a:endParaRPr lang="en-US" sz="750" dirty="0"/>
          </a:p>
        </p:txBody>
      </p:sp>
      <p:sp>
        <p:nvSpPr>
          <p:cNvPr id="33" name="Shape 29"/>
          <p:cNvSpPr/>
          <p:nvPr/>
        </p:nvSpPr>
        <p:spPr>
          <a:xfrm>
            <a:off x="3977640" y="2880360"/>
            <a:ext cx="91440" cy="91440"/>
          </a:xfrm>
          <a:prstGeom prst="ellipse">
            <a:avLst/>
          </a:prstGeom>
          <a:solidFill>
            <a:srgbClr val="1D4ED8"/>
          </a:solidFill>
          <a:ln/>
        </p:spPr>
      </p:sp>
      <p:sp>
        <p:nvSpPr>
          <p:cNvPr id="34" name="Text 30"/>
          <p:cNvSpPr/>
          <p:nvPr/>
        </p:nvSpPr>
        <p:spPr>
          <a:xfrm>
            <a:off x="4142232" y="2816352"/>
            <a:ext cx="4754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Programación avanzada con ESP32 (WiFi y Bluetooth)</a:t>
            </a:r>
            <a:endParaRPr lang="en-US" sz="950" dirty="0"/>
          </a:p>
        </p:txBody>
      </p:sp>
      <p:sp>
        <p:nvSpPr>
          <p:cNvPr id="35" name="Shape 31"/>
          <p:cNvSpPr/>
          <p:nvPr/>
        </p:nvSpPr>
        <p:spPr>
          <a:xfrm>
            <a:off x="3977640" y="3154680"/>
            <a:ext cx="91440" cy="91440"/>
          </a:xfrm>
          <a:prstGeom prst="ellipse">
            <a:avLst/>
          </a:prstGeom>
          <a:solidFill>
            <a:srgbClr val="1D4ED8"/>
          </a:solidFill>
          <a:ln/>
        </p:spPr>
      </p:sp>
      <p:sp>
        <p:nvSpPr>
          <p:cNvPr id="36" name="Text 32"/>
          <p:cNvSpPr/>
          <p:nvPr/>
        </p:nvSpPr>
        <p:spPr>
          <a:xfrm>
            <a:off x="4142232" y="3090672"/>
            <a:ext cx="4754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de múltiples servomotores en simultáneo</a:t>
            </a:r>
            <a:endParaRPr lang="en-US" sz="950" dirty="0"/>
          </a:p>
        </p:txBody>
      </p:sp>
      <p:sp>
        <p:nvSpPr>
          <p:cNvPr id="37" name="Shape 33"/>
          <p:cNvSpPr/>
          <p:nvPr/>
        </p:nvSpPr>
        <p:spPr>
          <a:xfrm>
            <a:off x="3977640" y="3429000"/>
            <a:ext cx="91440" cy="91440"/>
          </a:xfrm>
          <a:prstGeom prst="ellipse">
            <a:avLst/>
          </a:prstGeom>
          <a:solidFill>
            <a:srgbClr val="1D4ED8"/>
          </a:solidFill>
          <a:ln/>
        </p:spPr>
      </p:sp>
      <p:sp>
        <p:nvSpPr>
          <p:cNvPr id="38" name="Text 34"/>
          <p:cNvSpPr/>
          <p:nvPr/>
        </p:nvSpPr>
        <p:spPr>
          <a:xfrm>
            <a:off x="4142232" y="3364992"/>
            <a:ext cx="4754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Sincronización de movimiento y secuencias creativas</a:t>
            </a:r>
            <a:endParaRPr lang="en-US" sz="950" dirty="0"/>
          </a:p>
        </p:txBody>
      </p:sp>
      <p:sp>
        <p:nvSpPr>
          <p:cNvPr id="39" name="Shape 35"/>
          <p:cNvSpPr/>
          <p:nvPr/>
        </p:nvSpPr>
        <p:spPr>
          <a:xfrm>
            <a:off x="3977640" y="3703320"/>
            <a:ext cx="91440" cy="91440"/>
          </a:xfrm>
          <a:prstGeom prst="ellipse">
            <a:avLst/>
          </a:prstGeom>
          <a:solidFill>
            <a:srgbClr val="1D4ED8"/>
          </a:solidFill>
          <a:ln/>
        </p:spPr>
      </p:sp>
      <p:sp>
        <p:nvSpPr>
          <p:cNvPr id="40" name="Text 36"/>
          <p:cNvSpPr/>
          <p:nvPr/>
        </p:nvSpPr>
        <p:spPr>
          <a:xfrm>
            <a:off x="4142232" y="3639312"/>
            <a:ext cx="4754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de coreografías como lógica de programación</a:t>
            </a:r>
            <a:endParaRPr lang="en-US" sz="950" dirty="0"/>
          </a:p>
        </p:txBody>
      </p:sp>
      <p:sp>
        <p:nvSpPr>
          <p:cNvPr id="41" name="Shape 37"/>
          <p:cNvSpPr/>
          <p:nvPr/>
        </p:nvSpPr>
        <p:spPr>
          <a:xfrm>
            <a:off x="3977640" y="3977640"/>
            <a:ext cx="91440" cy="91440"/>
          </a:xfrm>
          <a:prstGeom prst="ellipse">
            <a:avLst/>
          </a:prstGeom>
          <a:solidFill>
            <a:srgbClr val="1D4ED8"/>
          </a:solidFill>
          <a:ln/>
        </p:spPr>
      </p:sp>
      <p:sp>
        <p:nvSpPr>
          <p:cNvPr id="42" name="Text 38"/>
          <p:cNvSpPr/>
          <p:nvPr/>
        </p:nvSpPr>
        <p:spPr>
          <a:xfrm>
            <a:off x="4142232" y="3913632"/>
            <a:ext cx="4754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Integración de sensores para respuesta en tiempo real</a:t>
            </a:r>
            <a:endParaRPr lang="en-US" sz="950" dirty="0"/>
          </a:p>
        </p:txBody>
      </p:sp>
      <p:sp>
        <p:nvSpPr>
          <p:cNvPr id="43" name="Shape 39"/>
          <p:cNvSpPr/>
          <p:nvPr/>
        </p:nvSpPr>
        <p:spPr>
          <a:xfrm>
            <a:off x="3977640" y="4206240"/>
            <a:ext cx="4937760" cy="713232"/>
          </a:xfrm>
          <a:prstGeom prst="roundRect">
            <a:avLst>
              <a:gd name="adj" fmla="val 10256"/>
            </a:avLst>
          </a:prstGeom>
          <a:solidFill>
            <a:srgbClr val="1D4ED8">
              <a:alpha val="10000"/>
            </a:srgbClr>
          </a:solidFill>
          <a:ln w="9525">
            <a:solidFill>
              <a:srgbClr val="1D4ED8">
                <a:alpha val="60000"/>
              </a:srgbClr>
            </a:solidFill>
            <a:prstDash val="solid"/>
          </a:ln>
        </p:spPr>
      </p:sp>
      <p:sp>
        <p:nvSpPr>
          <p:cNvPr id="44" name="Text 40"/>
          <p:cNvSpPr/>
          <p:nvPr/>
        </p:nvSpPr>
        <p:spPr>
          <a:xfrm>
            <a:off x="4114800" y="4251960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momento que lo cambia todo:</a:t>
            </a:r>
            <a:endParaRPr lang="en-US" sz="750" dirty="0"/>
          </a:p>
        </p:txBody>
      </p:sp>
      <p:sp>
        <p:nvSpPr>
          <p:cNvPr id="45" name="Text 41"/>
          <p:cNvSpPr/>
          <p:nvPr/>
        </p:nvSpPr>
        <p:spPr>
          <a:xfrm>
            <a:off x="4114800" y="4425696"/>
            <a:ext cx="4663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F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"Papito, programé a mi robot para que baile al ritmo de la música."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F2A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1371600"/>
            <a:ext cx="5486400" cy="5486400"/>
          </a:xfrm>
          <a:prstGeom prst="ellipse">
            <a:avLst/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09728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0000" dirty="0"/>
          </a:p>
        </p:txBody>
      </p:sp>
      <p:sp>
        <p:nvSpPr>
          <p:cNvPr id="4" name="Text 2"/>
          <p:cNvSpPr/>
          <p:nvPr/>
        </p:nvSpPr>
        <p:spPr>
          <a:xfrm>
            <a:off x="640080" y="1188720"/>
            <a:ext cx="77724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LABORATORIO</a:t>
            </a:r>
            <a:endParaRPr lang="en-US" sz="4600" dirty="0"/>
          </a:p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 IMPLEMENTACIÓN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640080" y="32004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7B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Impresoras 3D · Club de Robótica · Realidad Virtual en Año 3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5143500"/>
          </a:xfrm>
          <a:prstGeom prst="rect">
            <a:avLst/>
          </a:prstGeom>
          <a:solidFill>
            <a:srgbClr val="0F2A5E"/>
          </a:solidFill>
          <a:ln w="12700">
            <a:solidFill>
              <a:srgbClr val="0F2A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28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0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Implementación del Laboratorio STEAM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85800" y="69494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VIRTUS no solo entrega kits — diseña e implementa el espacio donde el aprendizaje ocurre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85800" y="1005840"/>
            <a:ext cx="822960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1170432"/>
            <a:ext cx="4069080" cy="1170432"/>
          </a:xfrm>
          <a:prstGeom prst="roundRect">
            <a:avLst>
              <a:gd name="adj" fmla="val 6250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85800" y="1170432"/>
            <a:ext cx="73152" cy="1170432"/>
          </a:xfrm>
          <a:prstGeom prst="rect">
            <a:avLst/>
          </a:prstGeom>
          <a:solidFill>
            <a:srgbClr val="0F2A5E"/>
          </a:solidFill>
          <a:ln w="12700">
            <a:solidFill>
              <a:srgbClr val="0F2A5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86968" y="126187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A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Módulos de trabajo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86968" y="1554480"/>
            <a:ext cx="3749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6–8 estaciones de trabajo en equipo, cada una equipada para 3–4 estudiantes con su kit y espacio de construcción.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685800" y="2523744"/>
            <a:ext cx="4069080" cy="1170432"/>
          </a:xfrm>
          <a:prstGeom prst="roundRect">
            <a:avLst>
              <a:gd name="adj" fmla="val 6250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85800" y="2523744"/>
            <a:ext cx="73152" cy="117043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86968" y="2615184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4E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Ambientación VIRTUS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86968" y="2907792"/>
            <a:ext cx="3749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Señalética, motivación visual, reglas del laboratorio y cartelería temática por nivel educativo.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937760" y="1170432"/>
            <a:ext cx="4069080" cy="1170432"/>
          </a:xfrm>
          <a:prstGeom prst="roundRect">
            <a:avLst>
              <a:gd name="adj" fmla="val 6250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937760" y="1170432"/>
            <a:ext cx="73152" cy="117043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138928" y="126187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Zona de presentaciones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138928" y="1554480"/>
            <a:ext cx="3749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Espacio frontal para que los equipos presenten sus proyectos, fortaleciendo comunicación y confianza.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937760" y="2523744"/>
            <a:ext cx="4069080" cy="1170432"/>
          </a:xfrm>
          <a:prstGeom prst="roundRect">
            <a:avLst>
              <a:gd name="adj" fmla="val 6250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937760" y="2523744"/>
            <a:ext cx="73152" cy="1170432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138928" y="2615184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11D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Almacenamiento organizado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138928" y="2907792"/>
            <a:ext cx="3749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cajas y estantes por nivel y grado. Los kits tienen su lugar — el orden también es parte del aprendizaje.</a:t>
            </a:r>
            <a:endParaRPr lang="en-US" sz="950" dirty="0"/>
          </a:p>
        </p:txBody>
      </p:sp>
      <p:pic>
        <p:nvPicPr>
          <p:cNvPr id="2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577840" y="3401568"/>
            <a:ext cx="3246120" cy="1572768"/>
          </a:xfrm>
          <a:prstGeom prst="rect">
            <a:avLst/>
          </a:prstGeom>
        </p:spPr>
      </p:pic>
      <p:sp>
        <p:nvSpPr>
          <p:cNvPr id="23" name="Shape 20"/>
          <p:cNvSpPr/>
          <p:nvPr/>
        </p:nvSpPr>
        <p:spPr>
          <a:xfrm>
            <a:off x="685800" y="3913632"/>
            <a:ext cx="4754880" cy="960120"/>
          </a:xfrm>
          <a:prstGeom prst="roundRect">
            <a:avLst>
              <a:gd name="adj" fmla="val 7619"/>
            </a:avLst>
          </a:prstGeom>
          <a:solidFill>
            <a:srgbClr val="0F2A5E">
              <a:alpha val="12000"/>
            </a:srgbClr>
          </a:solidFill>
          <a:ln w="9525">
            <a:solidFill>
              <a:srgbClr val="0F2A5E">
                <a:alpha val="45000"/>
              </a:srgbClr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822960" y="4005072"/>
            <a:ext cx="548640" cy="548640"/>
          </a:xfrm>
          <a:prstGeom prst="ellipse">
            <a:avLst/>
          </a:prstGeom>
          <a:solidFill>
            <a:srgbClr val="0F2A5E"/>
          </a:solidFill>
          <a:ln/>
        </p:spPr>
      </p:sp>
      <p:sp>
        <p:nvSpPr>
          <p:cNvPr id="25" name="Text 22"/>
          <p:cNvSpPr/>
          <p:nvPr/>
        </p:nvSpPr>
        <p:spPr>
          <a:xfrm>
            <a:off x="822960" y="40050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3D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1508760" y="397764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Impresoras 3D por laboratorio: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1508760" y="4224528"/>
            <a:ext cx="3611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estudiantes diseñan e imprimen sus propias piezas. Carcasas para robots, piezas personalizadas y prototipos originales — desde 8vo Básica.</a:t>
            </a:r>
            <a:endParaRPr lang="en-US" sz="9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5143500"/>
          </a:xfrm>
          <a:prstGeom prst="rect">
            <a:avLst/>
          </a:prstGeom>
          <a:solidFill>
            <a:srgbClr val="0F2A5E"/>
          </a:solidFill>
          <a:ln w="12700">
            <a:solidFill>
              <a:srgbClr val="0F2A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28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0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Más Allá del Aula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85800" y="749808"/>
            <a:ext cx="822960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896112"/>
            <a:ext cx="3931920" cy="3977640"/>
          </a:xfrm>
          <a:prstGeom prst="roundRect">
            <a:avLst>
              <a:gd name="adj" fmla="val 2326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325880" y="987552"/>
            <a:ext cx="457200" cy="457200"/>
          </a:xfrm>
          <a:prstGeom prst="ellipse">
            <a:avLst/>
          </a:prstGeom>
          <a:solidFill>
            <a:srgbClr val="FF7B42"/>
          </a:solidFill>
          <a:ln/>
        </p:spPr>
      </p:sp>
      <p:sp>
        <p:nvSpPr>
          <p:cNvPr id="7" name="Text 5"/>
          <p:cNvSpPr/>
          <p:nvPr/>
        </p:nvSpPr>
        <p:spPr>
          <a:xfrm>
            <a:off x="1901952" y="1005840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7B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Club de Robótica VIRTUS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68680" y="141732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Espacio extracurricular para los estudiantes que quieren ir más lejos — sin límite de creatividad.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868680" y="2084832"/>
            <a:ext cx="91440" cy="91440"/>
          </a:xfrm>
          <a:prstGeom prst="ellipse">
            <a:avLst/>
          </a:prstGeom>
          <a:solidFill>
            <a:srgbClr val="FF7B42"/>
          </a:solidFill>
          <a:ln/>
        </p:spPr>
      </p:sp>
      <p:sp>
        <p:nvSpPr>
          <p:cNvPr id="10" name="Text 8"/>
          <p:cNvSpPr/>
          <p:nvPr/>
        </p:nvSpPr>
        <p:spPr>
          <a:xfrm>
            <a:off x="1051560" y="2011680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Proyectos libres con mentoría VIRTUS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868680" y="2468880"/>
            <a:ext cx="91440" cy="91440"/>
          </a:xfrm>
          <a:prstGeom prst="ellipse">
            <a:avLst/>
          </a:prstGeom>
          <a:solidFill>
            <a:srgbClr val="FF7B42"/>
          </a:solidFill>
          <a:ln/>
        </p:spPr>
      </p:sp>
      <p:sp>
        <p:nvSpPr>
          <p:cNvPr id="12" name="Text 10"/>
          <p:cNvSpPr/>
          <p:nvPr/>
        </p:nvSpPr>
        <p:spPr>
          <a:xfrm>
            <a:off x="1051560" y="2395728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Acompañamiento en competencias nacionales e internacionales de robótica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68680" y="2852928"/>
            <a:ext cx="91440" cy="91440"/>
          </a:xfrm>
          <a:prstGeom prst="ellipse">
            <a:avLst/>
          </a:prstGeom>
          <a:solidFill>
            <a:srgbClr val="FF7B42"/>
          </a:solidFill>
          <a:ln/>
        </p:spPr>
      </p:sp>
      <p:sp>
        <p:nvSpPr>
          <p:cNvPr id="14" name="Text 12"/>
          <p:cNvSpPr/>
          <p:nvPr/>
        </p:nvSpPr>
        <p:spPr>
          <a:xfrm>
            <a:off x="1051560" y="2779776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datos de robots ganadores para referencia y diseño propio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68680" y="3236976"/>
            <a:ext cx="91440" cy="91440"/>
          </a:xfrm>
          <a:prstGeom prst="ellipse">
            <a:avLst/>
          </a:prstGeom>
          <a:solidFill>
            <a:srgbClr val="FF7B42"/>
          </a:solidFill>
          <a:ln/>
        </p:spPr>
      </p:sp>
      <p:sp>
        <p:nvSpPr>
          <p:cNvPr id="16" name="Text 14"/>
          <p:cNvSpPr/>
          <p:nvPr/>
        </p:nvSpPr>
        <p:spPr>
          <a:xfrm>
            <a:off x="1051560" y="3163824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Feria de ciencias e innovación interna con jurado externo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868680" y="3621024"/>
            <a:ext cx="91440" cy="91440"/>
          </a:xfrm>
          <a:prstGeom prst="ellipse">
            <a:avLst/>
          </a:prstGeom>
          <a:solidFill>
            <a:srgbClr val="FF7B42"/>
          </a:solidFill>
          <a:ln/>
        </p:spPr>
      </p:sp>
      <p:sp>
        <p:nvSpPr>
          <p:cNvPr id="18" name="Text 16"/>
          <p:cNvSpPr/>
          <p:nvPr/>
        </p:nvSpPr>
        <p:spPr>
          <a:xfrm>
            <a:off x="1051560" y="3547872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Portafolio digital del estudiante para ingreso a universidades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868680" y="4096512"/>
            <a:ext cx="3566160" cy="502920"/>
          </a:xfrm>
          <a:prstGeom prst="roundRect">
            <a:avLst>
              <a:gd name="adj" fmla="val 10909"/>
            </a:avLst>
          </a:prstGeom>
          <a:solidFill>
            <a:srgbClr val="FF7B42">
              <a:alpha val="12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960120" y="4133088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0F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acompañamiento real y acceso a los mejores diseños, nuestros estudiantes compiten — y ganan.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846320" y="896112"/>
            <a:ext cx="3931920" cy="3977640"/>
          </a:xfrm>
          <a:prstGeom prst="roundRect">
            <a:avLst>
              <a:gd name="adj" fmla="val 2326"/>
            </a:avLst>
          </a:prstGeom>
          <a:solidFill>
            <a:srgbClr val="0F2A5E"/>
          </a:solidFill>
          <a:ln/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486400" y="987552"/>
            <a:ext cx="457200" cy="457200"/>
          </a:xfrm>
          <a:prstGeom prst="ellipse">
            <a:avLst/>
          </a:prstGeom>
          <a:solidFill>
            <a:srgbClr val="FF7B42"/>
          </a:solidFill>
          <a:ln/>
        </p:spPr>
      </p:sp>
      <p:sp>
        <p:nvSpPr>
          <p:cNvPr id="23" name="Text 21"/>
          <p:cNvSpPr/>
          <p:nvPr/>
        </p:nvSpPr>
        <p:spPr>
          <a:xfrm>
            <a:off x="5486400" y="9875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F2A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VR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6062472" y="1005840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7B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Año 3: Realidad Virtual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029200" y="1417320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tercer año de alianza, VIRTUS dota el laboratorio con tecnología de realidad virtual — sin costo adicional para la institución.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029200" y="2103120"/>
            <a:ext cx="3566160" cy="475488"/>
          </a:xfrm>
          <a:prstGeom prst="roundRect">
            <a:avLst>
              <a:gd name="adj" fmla="val 9615"/>
            </a:avLst>
          </a:prstGeom>
          <a:solidFill>
            <a:srgbClr val="FFFFFF">
              <a:alpha val="8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5166360" y="2139696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7B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Sets VR por laboratorio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5166360" y="2350008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Lentes de realidad virtual para exploración inmersiva en grupo.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5029200" y="2670048"/>
            <a:ext cx="3566160" cy="475488"/>
          </a:xfrm>
          <a:prstGeom prst="roundRect">
            <a:avLst>
              <a:gd name="adj" fmla="val 9615"/>
            </a:avLst>
          </a:prstGeom>
          <a:solidFill>
            <a:srgbClr val="FFFFFF">
              <a:alpha val="8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5166360" y="2706624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7B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Laboratorios virtuales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5166360" y="2916936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Disecciones, expediciones científicas, ingeniería digital en 3D.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5029200" y="3236976"/>
            <a:ext cx="3566160" cy="475488"/>
          </a:xfrm>
          <a:prstGeom prst="roundRect">
            <a:avLst>
              <a:gd name="adj" fmla="val 9615"/>
            </a:avLst>
          </a:prstGeom>
          <a:solidFill>
            <a:srgbClr val="FFFFFF">
              <a:alpha val="8000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5166360" y="3273552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7B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Viajes educativos virtuales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5166360" y="3483864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estudiante visita el espacio, el fondo del mar, los volcanes.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5029200" y="3803904"/>
            <a:ext cx="3566160" cy="475488"/>
          </a:xfrm>
          <a:prstGeom prst="roundRect">
            <a:avLst>
              <a:gd name="adj" fmla="val 9615"/>
            </a:avLst>
          </a:prstGeom>
          <a:solidFill>
            <a:srgbClr val="FFFFFF">
              <a:alpha val="8000"/>
            </a:srgbClr>
          </a:solidFill>
          <a:ln/>
        </p:spPr>
      </p:sp>
      <p:sp>
        <p:nvSpPr>
          <p:cNvPr id="36" name="Text 34"/>
          <p:cNvSpPr/>
          <p:nvPr/>
        </p:nvSpPr>
        <p:spPr>
          <a:xfrm>
            <a:off x="5166360" y="3840480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7B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Proyectos de diseño 3D + VR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5166360" y="4050792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estudiantes diseñan entornos virtuales como proyecto final.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5029200" y="440740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FF7B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alianza que crece contigo — cada año, más tecnología.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4C1D9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1371600"/>
            <a:ext cx="5486400" cy="5486400"/>
          </a:xfrm>
          <a:prstGeom prst="ellipse">
            <a:avLst/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09728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0000" dirty="0"/>
          </a:p>
        </p:txBody>
      </p:sp>
      <p:sp>
        <p:nvSpPr>
          <p:cNvPr id="4" name="Text 2"/>
          <p:cNvSpPr/>
          <p:nvPr/>
        </p:nvSpPr>
        <p:spPr>
          <a:xfrm>
            <a:off x="640080" y="1188720"/>
            <a:ext cx="77724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ACOMPAÑAMIENTO</a:t>
            </a:r>
            <a:endParaRPr lang="en-US" sz="4600" dirty="0"/>
          </a:p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640080" y="32004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7B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Coach asignado · Capacitación docente · No los dejamos solos nunca</a:t>
            </a:r>
            <a:endParaRPr lang="en-US" sz="12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5143500"/>
          </a:xfrm>
          <a:prstGeom prst="rect">
            <a:avLst/>
          </a:prstGeom>
          <a:solidFill>
            <a:srgbClr val="4C1D95"/>
          </a:solidFill>
          <a:ln w="12700">
            <a:solidFill>
              <a:srgbClr val="4C1D9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28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0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Acompañamiento Total VIRTUS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85800" y="69494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institución tiene un Coach VIRTUS asignado — una persona real que los conoce, los visita y nunca los deja solos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85800" y="1005840"/>
            <a:ext cx="822960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1143000"/>
            <a:ext cx="3931920" cy="3291840"/>
          </a:xfrm>
          <a:prstGeom prst="roundRect">
            <a:avLst>
              <a:gd name="adj" fmla="val 2778"/>
            </a:avLst>
          </a:prstGeom>
          <a:solidFill>
            <a:srgbClr val="4C1D95"/>
          </a:solidFill>
          <a:ln/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325880" y="1261872"/>
            <a:ext cx="530352" cy="530352"/>
          </a:xfrm>
          <a:prstGeom prst="ellipse">
            <a:avLst/>
          </a:prstGeom>
          <a:solidFill>
            <a:srgbClr val="FF7B42"/>
          </a:solidFill>
          <a:ln/>
        </p:spPr>
      </p:sp>
      <p:sp>
        <p:nvSpPr>
          <p:cNvPr id="8" name="Text 6"/>
          <p:cNvSpPr/>
          <p:nvPr/>
        </p:nvSpPr>
        <p:spPr>
          <a:xfrm>
            <a:off x="1325880" y="126187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C1D9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993392" y="128016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7B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 Coach VIRTUS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68680" y="16916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profesional asignado exclusivamente a tu institución.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868680" y="2157984"/>
            <a:ext cx="91440" cy="91440"/>
          </a:xfrm>
          <a:prstGeom prst="ellipse">
            <a:avLst/>
          </a:prstGeom>
          <a:solidFill>
            <a:srgbClr val="FF7B42"/>
          </a:solidFill>
          <a:ln/>
        </p:spPr>
      </p:sp>
      <p:sp>
        <p:nvSpPr>
          <p:cNvPr id="12" name="Text 10"/>
          <p:cNvSpPr/>
          <p:nvPr/>
        </p:nvSpPr>
        <p:spPr>
          <a:xfrm>
            <a:off x="1051560" y="2084832"/>
            <a:ext cx="33832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Visitas presenciales a las 3 sedes del colegio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868680" y="2505456"/>
            <a:ext cx="91440" cy="91440"/>
          </a:xfrm>
          <a:prstGeom prst="ellipse">
            <a:avLst/>
          </a:prstGeom>
          <a:solidFill>
            <a:srgbClr val="FF7B42"/>
          </a:solidFill>
          <a:ln/>
        </p:spPr>
      </p:sp>
      <p:sp>
        <p:nvSpPr>
          <p:cNvPr id="14" name="Text 12"/>
          <p:cNvSpPr/>
          <p:nvPr/>
        </p:nvSpPr>
        <p:spPr>
          <a:xfrm>
            <a:off x="1051560" y="2432304"/>
            <a:ext cx="33832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directo — respuesta en menos de 24 horas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868680" y="2852928"/>
            <a:ext cx="91440" cy="91440"/>
          </a:xfrm>
          <a:prstGeom prst="ellipse">
            <a:avLst/>
          </a:prstGeom>
          <a:solidFill>
            <a:srgbClr val="FF7B42"/>
          </a:solidFill>
          <a:ln/>
        </p:spPr>
      </p:sp>
      <p:sp>
        <p:nvSpPr>
          <p:cNvPr id="16" name="Text 14"/>
          <p:cNvSpPr/>
          <p:nvPr/>
        </p:nvSpPr>
        <p:spPr>
          <a:xfrm>
            <a:off x="1051560" y="2779776"/>
            <a:ext cx="33832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Reuniones de seguimiento mensuales con coordinadores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868680" y="3200400"/>
            <a:ext cx="91440" cy="91440"/>
          </a:xfrm>
          <a:prstGeom prst="ellipse">
            <a:avLst/>
          </a:prstGeom>
          <a:solidFill>
            <a:srgbClr val="FF7B42"/>
          </a:solidFill>
          <a:ln/>
        </p:spPr>
      </p:sp>
      <p:sp>
        <p:nvSpPr>
          <p:cNvPr id="18" name="Text 16"/>
          <p:cNvSpPr/>
          <p:nvPr/>
        </p:nvSpPr>
        <p:spPr>
          <a:xfrm>
            <a:off x="1051560" y="3127248"/>
            <a:ext cx="33832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 de avance por nivel y por estudiante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868680" y="3547872"/>
            <a:ext cx="91440" cy="91440"/>
          </a:xfrm>
          <a:prstGeom prst="ellipse">
            <a:avLst/>
          </a:prstGeom>
          <a:solidFill>
            <a:srgbClr val="FF7B42"/>
          </a:solidFill>
          <a:ln/>
        </p:spPr>
      </p:sp>
      <p:sp>
        <p:nvSpPr>
          <p:cNvPr id="20" name="Text 18"/>
          <p:cNvSpPr/>
          <p:nvPr/>
        </p:nvSpPr>
        <p:spPr>
          <a:xfrm>
            <a:off x="1051560" y="3474720"/>
            <a:ext cx="33832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Apoyo en problemas técnicos y pedagógicos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868680" y="3895344"/>
            <a:ext cx="91440" cy="91440"/>
          </a:xfrm>
          <a:prstGeom prst="ellipse">
            <a:avLst/>
          </a:prstGeom>
          <a:solidFill>
            <a:srgbClr val="FF7B42"/>
          </a:solidFill>
          <a:ln/>
        </p:spPr>
      </p:sp>
      <p:sp>
        <p:nvSpPr>
          <p:cNvPr id="22" name="Text 20"/>
          <p:cNvSpPr/>
          <p:nvPr/>
        </p:nvSpPr>
        <p:spPr>
          <a:xfrm>
            <a:off x="1051560" y="3822192"/>
            <a:ext cx="33832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docente nunca tiene que resolver solo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868680" y="4160520"/>
            <a:ext cx="3566160" cy="0"/>
          </a:xfrm>
          <a:prstGeom prst="line">
            <a:avLst/>
          </a:prstGeom>
          <a:noFill/>
          <a:ln w="635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68680" y="4206240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FF7B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"No capacitamos y nos vamos. Estamos aquí todo el año."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846320" y="1143000"/>
            <a:ext cx="3931920" cy="3291840"/>
          </a:xfrm>
          <a:prstGeom prst="roundRect">
            <a:avLst>
              <a:gd name="adj" fmla="val 2778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486400" y="1261872"/>
            <a:ext cx="530352" cy="530352"/>
          </a:xfrm>
          <a:prstGeom prst="ellipse">
            <a:avLst/>
          </a:prstGeom>
          <a:solidFill>
            <a:srgbClr val="4C1D95"/>
          </a:solidFill>
          <a:ln/>
        </p:spPr>
      </p:sp>
      <p:sp>
        <p:nvSpPr>
          <p:cNvPr id="27" name="Text 25"/>
          <p:cNvSpPr/>
          <p:nvPr/>
        </p:nvSpPr>
        <p:spPr>
          <a:xfrm>
            <a:off x="5486400" y="126187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153912" y="128016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Capacitación Docente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029200" y="16916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Formamos a los docentes para que lideren con confianza.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029200" y="2139696"/>
            <a:ext cx="182880" cy="182880"/>
          </a:xfrm>
          <a:prstGeom prst="ellipse">
            <a:avLst/>
          </a:prstGeom>
          <a:solidFill>
            <a:srgbClr val="4C1D95"/>
          </a:solidFill>
          <a:ln/>
        </p:spPr>
      </p:sp>
      <p:sp>
        <p:nvSpPr>
          <p:cNvPr id="31" name="Text 29"/>
          <p:cNvSpPr/>
          <p:nvPr/>
        </p:nvSpPr>
        <p:spPr>
          <a:xfrm>
            <a:off x="5303520" y="2084832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Inicio de año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5303520" y="2304288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Formación completa de 2 días — pedagogía STEAM, manejo del kit, uso de la plataforma.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029200" y="2596896"/>
            <a:ext cx="182880" cy="182880"/>
          </a:xfrm>
          <a:prstGeom prst="ellipse">
            <a:avLst/>
          </a:prstGeom>
          <a:solidFill>
            <a:srgbClr val="4C1D95"/>
          </a:solidFill>
          <a:ln/>
        </p:spPr>
      </p:sp>
      <p:sp>
        <p:nvSpPr>
          <p:cNvPr id="34" name="Text 32"/>
          <p:cNvSpPr/>
          <p:nvPr/>
        </p:nvSpPr>
        <p:spPr>
          <a:xfrm>
            <a:off x="5303520" y="2542032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Actualización mensual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5303520" y="2761488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Webinar de 1 hora con novedades, tips y resolución de dudas en grupo.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5029200" y="3054096"/>
            <a:ext cx="182880" cy="182880"/>
          </a:xfrm>
          <a:prstGeom prst="ellipse">
            <a:avLst/>
          </a:prstGeom>
          <a:solidFill>
            <a:srgbClr val="4C1D95"/>
          </a:solidFill>
          <a:ln/>
        </p:spPr>
      </p:sp>
      <p:sp>
        <p:nvSpPr>
          <p:cNvPr id="37" name="Text 35"/>
          <p:cNvSpPr/>
          <p:nvPr/>
        </p:nvSpPr>
        <p:spPr>
          <a:xfrm>
            <a:off x="5303520" y="2999232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Videos por clase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5303520" y="3218688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sesión tiene un video de preparación exclusivo para el docente.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5029200" y="3511296"/>
            <a:ext cx="182880" cy="182880"/>
          </a:xfrm>
          <a:prstGeom prst="ellipse">
            <a:avLst/>
          </a:prstGeom>
          <a:solidFill>
            <a:srgbClr val="4C1D95"/>
          </a:solidFill>
          <a:ln/>
        </p:spPr>
      </p:sp>
      <p:sp>
        <p:nvSpPr>
          <p:cNvPr id="40" name="Text 38"/>
          <p:cNvSpPr/>
          <p:nvPr/>
        </p:nvSpPr>
        <p:spPr>
          <a:xfrm>
            <a:off x="5303520" y="3456432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del docente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5303520" y="3675888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Guía editable y descargable con todo lo que necesita para cada nivel.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5029200" y="3968496"/>
            <a:ext cx="182880" cy="182880"/>
          </a:xfrm>
          <a:prstGeom prst="ellipse">
            <a:avLst/>
          </a:prstGeom>
          <a:solidFill>
            <a:srgbClr val="4C1D95"/>
          </a:solidFill>
          <a:ln/>
        </p:spPr>
      </p:sp>
      <p:sp>
        <p:nvSpPr>
          <p:cNvPr id="43" name="Text 41"/>
          <p:cNvSpPr/>
          <p:nvPr/>
        </p:nvSpPr>
        <p:spPr>
          <a:xfrm>
            <a:off x="5303520" y="3913632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Comunidad VIRTUS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5303520" y="4133088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de docentes VIRTUS en todo Ecuador — comparten, aprenden y crecen juntos.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5029200" y="4325112"/>
            <a:ext cx="356616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029200" y="4370832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"Un docente seguro, forma estudiantes seguros."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F10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1828800"/>
            <a:ext cx="6400800" cy="6400800"/>
          </a:xfrm>
          <a:prstGeom prst="ellipse">
            <a:avLst/>
          </a:prstGeom>
          <a:solidFill>
            <a:srgbClr val="FF7B42">
              <a:alpha val="7000"/>
            </a:srgbClr>
          </a:solidFill>
          <a:ln w="12700">
            <a:solidFill>
              <a:srgbClr val="FF7B42">
                <a:alpha val="1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-914400"/>
            <a:ext cx="4114800" cy="4114800"/>
          </a:xfrm>
          <a:prstGeom prst="ellipse">
            <a:avLst/>
          </a:prstGeom>
          <a:solidFill>
            <a:srgbClr val="FF7B42">
              <a:alpha val="13000"/>
            </a:srgbClr>
          </a:solidFill>
          <a:ln w="12700">
            <a:solidFill>
              <a:srgbClr val="FF7B42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411480" cy="5143500"/>
          </a:xfrm>
          <a:prstGeom prst="rect">
            <a:avLst/>
          </a:prstGeom>
          <a:solidFill>
            <a:srgbClr val="FF7B42"/>
          </a:solidFill>
          <a:ln w="12700">
            <a:solidFill>
              <a:srgbClr val="FF7B4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500" kern="0" dirty="0">
                <a:solidFill>
                  <a:srgbClr val="FF7B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NUESTROS ESTUDIANTES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685800" y="54864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Ya Generan Dinero Real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685800" y="1399032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hablamos de potencial futuro. Hablamos de estudiantes que hoy venden, imprimen y monetizan con lo que aprendieron en VIRTUS.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85800" y="1828800"/>
            <a:ext cx="8229600" cy="0"/>
          </a:xfrm>
          <a:prstGeom prst="line">
            <a:avLst/>
          </a:prstGeom>
          <a:noFill/>
          <a:ln w="9525">
            <a:solidFill>
              <a:srgbClr val="FF7B42">
                <a:alpha val="4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" y="1938528"/>
            <a:ext cx="2697480" cy="2880360"/>
          </a:xfrm>
          <a:prstGeom prst="roundRect">
            <a:avLst>
              <a:gd name="adj" fmla="val 3390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FF7B42">
                <a:alpha val="45000"/>
              </a:srgbClr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85800" y="1938528"/>
            <a:ext cx="2697480" cy="73152"/>
          </a:xfrm>
          <a:prstGeom prst="roundRect">
            <a:avLst>
              <a:gd name="adj" fmla="val 125000"/>
            </a:avLst>
          </a:prstGeom>
          <a:solidFill>
            <a:srgbClr val="FF7B42"/>
          </a:solidFill>
          <a:ln w="12700">
            <a:solidFill>
              <a:srgbClr val="FF7B4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50392" y="2029968"/>
            <a:ext cx="475488" cy="475488"/>
          </a:xfrm>
          <a:prstGeom prst="ellipse">
            <a:avLst/>
          </a:prstGeom>
          <a:solidFill>
            <a:srgbClr val="FF7B42">
              <a:alpha val="85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850392" y="202996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3D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435608" y="206654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Venden Diseños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435608" y="2322576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FF7B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digital → ingreso real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850392" y="2578608"/>
            <a:ext cx="2377440" cy="0"/>
          </a:xfrm>
          <a:prstGeom prst="line">
            <a:avLst/>
          </a:prstGeom>
          <a:noFill/>
          <a:ln w="6350">
            <a:solidFill>
              <a:srgbClr val="FF7B42">
                <a:alpha val="35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50392" y="2651760"/>
            <a:ext cx="2377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Estudiantes que aprendieron diseño 3D en el laboratorio ya venden modelos digitales en plataformas internacionales y por encargo local.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850392" y="3712464"/>
            <a:ext cx="2377440" cy="237744"/>
          </a:xfrm>
          <a:prstGeom prst="roundRect">
            <a:avLst>
              <a:gd name="adj" fmla="val 15385"/>
            </a:avLst>
          </a:prstGeom>
          <a:solidFill>
            <a:srgbClr val="FF7B42">
              <a:alpha val="25000"/>
            </a:srgbClr>
          </a:solidFill>
          <a:ln w="12700">
            <a:solidFill>
              <a:srgbClr val="FF7B4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86968" y="3721608"/>
            <a:ext cx="23408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7B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Impresión 3D · Diseño CAD · Mercado digital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3538728" y="1938528"/>
            <a:ext cx="2697480" cy="2880360"/>
          </a:xfrm>
          <a:prstGeom prst="roundRect">
            <a:avLst>
              <a:gd name="adj" fmla="val 3390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16A34A">
                <a:alpha val="45000"/>
              </a:srgbClr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538728" y="1938528"/>
            <a:ext cx="2697480" cy="73152"/>
          </a:xfrm>
          <a:prstGeom prst="roundRect">
            <a:avLst>
              <a:gd name="adj" fmla="val 125000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703320" y="2029968"/>
            <a:ext cx="475488" cy="475488"/>
          </a:xfrm>
          <a:prstGeom prst="ellipse">
            <a:avLst/>
          </a:prstGeom>
          <a:solidFill>
            <a:srgbClr val="16A34A">
              <a:alpha val="85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3703320" y="202996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$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288536" y="206654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Imprimen y Venden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288536" y="2322576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laboratorio al mercado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703320" y="2578608"/>
            <a:ext cx="2377440" cy="0"/>
          </a:xfrm>
          <a:prstGeom prst="line">
            <a:avLst/>
          </a:prstGeom>
          <a:noFill/>
          <a:ln w="6350">
            <a:solidFill>
              <a:srgbClr val="16A34A">
                <a:alpha val="35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703320" y="2651760"/>
            <a:ext cx="2377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las impresoras del laboratorio VIRTUS, estudiantes producen piezas, accesorios y prototipos por pedido — generando ingresos desde el colegio.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703320" y="3712464"/>
            <a:ext cx="2377440" cy="237744"/>
          </a:xfrm>
          <a:prstGeom prst="roundRect">
            <a:avLst>
              <a:gd name="adj" fmla="val 15385"/>
            </a:avLst>
          </a:prstGeom>
          <a:solidFill>
            <a:srgbClr val="16A34A">
              <a:alpha val="25000"/>
            </a:srgbClr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739896" y="3721608"/>
            <a:ext cx="23408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Emprendimiento · Fabricación · B2C local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6391656" y="1938528"/>
            <a:ext cx="2697480" cy="2880360"/>
          </a:xfrm>
          <a:prstGeom prst="roundRect">
            <a:avLst>
              <a:gd name="adj" fmla="val 3390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7C3AED">
                <a:alpha val="45000"/>
              </a:srgbClr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391656" y="1938528"/>
            <a:ext cx="2697480" cy="73152"/>
          </a:xfrm>
          <a:prstGeom prst="roundRect">
            <a:avLst>
              <a:gd name="adj" fmla="val 1250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556248" y="2029968"/>
            <a:ext cx="475488" cy="475488"/>
          </a:xfrm>
          <a:prstGeom prst="ellipse">
            <a:avLst/>
          </a:prstGeom>
          <a:solidFill>
            <a:srgbClr val="7C3AED">
              <a:alpha val="85000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6556248" y="202996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&lt;/&gt;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7141464" y="206654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Programan por Encargo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7141464" y="2322576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 que vale dinero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6556248" y="2578608"/>
            <a:ext cx="2377440" cy="0"/>
          </a:xfrm>
          <a:prstGeom prst="line">
            <a:avLst/>
          </a:prstGeom>
          <a:noFill/>
          <a:ln w="6350">
            <a:solidFill>
              <a:srgbClr val="7C3AED">
                <a:alpha val="3500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556248" y="2651760"/>
            <a:ext cx="2377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Alumnos de N5-N8 ya ofrecen servicios de automatización, apps y proyectos Arduino/ESP32 a negocios locales. Su primer cliente: muchas veces un familiar.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6556248" y="3712464"/>
            <a:ext cx="2377440" cy="237744"/>
          </a:xfrm>
          <a:prstGeom prst="roundRect">
            <a:avLst>
              <a:gd name="adj" fmla="val 15385"/>
            </a:avLst>
          </a:prstGeom>
          <a:solidFill>
            <a:srgbClr val="7C3AED">
              <a:alpha val="25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592824" y="3721608"/>
            <a:ext cx="23408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Arduino · ESP32 · Freelance · Automatización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685800" y="4069080"/>
            <a:ext cx="8229600" cy="0"/>
          </a:xfrm>
          <a:prstGeom prst="line">
            <a:avLst/>
          </a:prstGeom>
          <a:noFill/>
          <a:ln w="6350">
            <a:solidFill>
              <a:srgbClr val="FF7B42">
                <a:alpha val="3500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85800" y="41605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7B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VIRTUS no forma estudiantes que esperan un trabajo — forma creadores que generan el suyo.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685800" y="446227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Esto ya está pasando. No es el futuro — es hoy.</a:t>
            </a:r>
            <a:endParaRPr lang="en-US" sz="9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5143500"/>
          </a:xfrm>
          <a:prstGeom prst="rect">
            <a:avLst/>
          </a:prstGeom>
          <a:solidFill>
            <a:srgbClr val="FF7B42"/>
          </a:solidFill>
          <a:ln w="12700">
            <a:solidFill>
              <a:srgbClr val="FF7B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2860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0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Modelo de Negocio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85800" y="7132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institución recibe el programa completo sin costo. Los kits son propiedad del estudiante.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85800" y="1033272"/>
            <a:ext cx="822960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1170432"/>
            <a:ext cx="1965960" cy="1572768"/>
          </a:xfrm>
          <a:prstGeom prst="roundRect">
            <a:avLst>
              <a:gd name="adj" fmla="val 5814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31520" y="1280160"/>
            <a:ext cx="1874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731520" y="196596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Grados con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robótica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834640" y="1170432"/>
            <a:ext cx="1965960" cy="1572768"/>
          </a:xfrm>
          <a:prstGeom prst="roundRect">
            <a:avLst>
              <a:gd name="adj" fmla="val 5814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880360" y="1280160"/>
            <a:ext cx="1874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196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2880360" y="196596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Niveles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kit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983480" y="1170432"/>
            <a:ext cx="1965960" cy="1572768"/>
          </a:xfrm>
          <a:prstGeom prst="roundRect">
            <a:avLst>
              <a:gd name="adj" fmla="val 5814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029200" y="1280160"/>
            <a:ext cx="1874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7B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kits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5029200" y="196596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+ Grupal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laboratorio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7132320" y="1170432"/>
            <a:ext cx="1965960" cy="1572768"/>
          </a:xfrm>
          <a:prstGeom prst="roundRect">
            <a:avLst>
              <a:gd name="adj" fmla="val 5814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178040" y="1280160"/>
            <a:ext cx="1874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4C1D9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Año 3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7178040" y="196596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Realidad Virtual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dotada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85800" y="28986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FF7B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LO QUE RECIBE LA INSTITUCIÓN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685800" y="3145536"/>
            <a:ext cx="822960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85800" y="3328416"/>
            <a:ext cx="182880" cy="182880"/>
          </a:xfrm>
          <a:prstGeom prst="ellipse">
            <a:avLst/>
          </a:prstGeom>
          <a:solidFill>
            <a:srgbClr val="4C1D95"/>
          </a:solidFill>
          <a:ln/>
        </p:spPr>
      </p:sp>
      <p:sp>
        <p:nvSpPr>
          <p:cNvPr id="21" name="Text 19"/>
          <p:cNvSpPr/>
          <p:nvPr/>
        </p:nvSpPr>
        <p:spPr>
          <a:xfrm>
            <a:off x="685800" y="331012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960120" y="3273552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Coach asignado a la institución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520440" y="3328416"/>
            <a:ext cx="182880" cy="182880"/>
          </a:xfrm>
          <a:prstGeom prst="ellipse">
            <a:avLst/>
          </a:prstGeom>
          <a:solidFill>
            <a:srgbClr val="4C1D95"/>
          </a:solidFill>
          <a:ln/>
        </p:spPr>
      </p:sp>
      <p:sp>
        <p:nvSpPr>
          <p:cNvPr id="24" name="Text 22"/>
          <p:cNvSpPr/>
          <p:nvPr/>
        </p:nvSpPr>
        <p:spPr>
          <a:xfrm>
            <a:off x="3520440" y="331012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3794760" y="3273552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Capacitación docente inicio + mensual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355080" y="3328416"/>
            <a:ext cx="182880" cy="182880"/>
          </a:xfrm>
          <a:prstGeom prst="ellipse">
            <a:avLst/>
          </a:prstGeom>
          <a:solidFill>
            <a:srgbClr val="4C1D95"/>
          </a:solidFill>
          <a:ln/>
        </p:spPr>
      </p:sp>
      <p:sp>
        <p:nvSpPr>
          <p:cNvPr id="27" name="Text 25"/>
          <p:cNvSpPr/>
          <p:nvPr/>
        </p:nvSpPr>
        <p:spPr>
          <a:xfrm>
            <a:off x="6355080" y="331012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6629400" y="3273552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Visitas presenciales a las 3 sedes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85800" y="3712464"/>
            <a:ext cx="182880" cy="182880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30" name="Text 28"/>
          <p:cNvSpPr/>
          <p:nvPr/>
        </p:nvSpPr>
        <p:spPr>
          <a:xfrm>
            <a:off x="685800" y="369417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960120" y="3657600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Planificaciones + recursos listos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3520440" y="3712464"/>
            <a:ext cx="182880" cy="182880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33" name="Text 31"/>
          <p:cNvSpPr/>
          <p:nvPr/>
        </p:nvSpPr>
        <p:spPr>
          <a:xfrm>
            <a:off x="3520440" y="369417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3794760" y="3657600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digital + quiz + virtualidad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6355080" y="3712464"/>
            <a:ext cx="182880" cy="182880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36" name="Text 34"/>
          <p:cNvSpPr/>
          <p:nvPr/>
        </p:nvSpPr>
        <p:spPr>
          <a:xfrm>
            <a:off x="6355080" y="369417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6629400" y="3657600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RoboMisión + Club de Robótica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685800" y="4096512"/>
            <a:ext cx="182880" cy="182880"/>
          </a:xfrm>
          <a:prstGeom prst="ellipse">
            <a:avLst/>
          </a:prstGeom>
          <a:solidFill>
            <a:srgbClr val="0F2A5E"/>
          </a:solidFill>
          <a:ln/>
        </p:spPr>
      </p:sp>
      <p:sp>
        <p:nvSpPr>
          <p:cNvPr id="39" name="Text 37"/>
          <p:cNvSpPr/>
          <p:nvPr/>
        </p:nvSpPr>
        <p:spPr>
          <a:xfrm>
            <a:off x="685800" y="4078224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960120" y="4041648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impresoras 3D por laboratorio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3520440" y="4096512"/>
            <a:ext cx="182880" cy="182880"/>
          </a:xfrm>
          <a:prstGeom prst="ellipse">
            <a:avLst/>
          </a:prstGeom>
          <a:solidFill>
            <a:srgbClr val="0F2A5E"/>
          </a:solidFill>
          <a:ln/>
        </p:spPr>
      </p:sp>
      <p:sp>
        <p:nvSpPr>
          <p:cNvPr id="42" name="Text 40"/>
          <p:cNvSpPr/>
          <p:nvPr/>
        </p:nvSpPr>
        <p:spPr>
          <a:xfrm>
            <a:off x="3520440" y="4078224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3794760" y="4041648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Implementación del laboratorio STEAM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6355080" y="4096512"/>
            <a:ext cx="182880" cy="182880"/>
          </a:xfrm>
          <a:prstGeom prst="ellipse">
            <a:avLst/>
          </a:prstGeom>
          <a:solidFill>
            <a:srgbClr val="0F2A5E"/>
          </a:solidFill>
          <a:ln/>
        </p:spPr>
      </p:sp>
      <p:sp>
        <p:nvSpPr>
          <p:cNvPr id="45" name="Text 43"/>
          <p:cNvSpPr/>
          <p:nvPr/>
        </p:nvSpPr>
        <p:spPr>
          <a:xfrm>
            <a:off x="6355080" y="4078224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750" dirty="0"/>
          </a:p>
        </p:txBody>
      </p:sp>
      <p:sp>
        <p:nvSpPr>
          <p:cNvPr id="46" name="Text 44"/>
          <p:cNvSpPr/>
          <p:nvPr/>
        </p:nvSpPr>
        <p:spPr>
          <a:xfrm>
            <a:off x="6629400" y="4041648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Año 3: Realidad Virtual dotada</a:t>
            </a:r>
            <a:endParaRPr lang="en-US" sz="9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F10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5486400" cy="5486400"/>
          </a:xfrm>
          <a:prstGeom prst="ellipse">
            <a:avLst/>
          </a:prstGeom>
          <a:solidFill>
            <a:srgbClr val="FF7B42">
              <a:alpha val="7000"/>
            </a:srgbClr>
          </a:solidFill>
          <a:ln w="12700">
            <a:solidFill>
              <a:srgbClr val="FF7B42">
                <a:alpha val="1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2286000"/>
            <a:ext cx="4572000" cy="4572000"/>
          </a:xfrm>
          <a:prstGeom prst="ellipse">
            <a:avLst/>
          </a:prstGeom>
          <a:solidFill>
            <a:srgbClr val="1D4ED8">
              <a:alpha val="7000"/>
            </a:srgbClr>
          </a:solidFill>
          <a:ln w="12700">
            <a:solidFill>
              <a:srgbClr val="1D4ED8">
                <a:alpha val="1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411480" cy="5143500"/>
          </a:xfrm>
          <a:prstGeom prst="rect">
            <a:avLst/>
          </a:prstGeom>
          <a:solidFill>
            <a:srgbClr val="FF7B42"/>
          </a:solidFill>
          <a:ln w="12700">
            <a:solidFill>
              <a:srgbClr val="FF7B4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22860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600" kern="0" dirty="0">
                <a:solidFill>
                  <a:srgbClr val="FF7B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COMPETENCIA VIRTUS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685800" y="502920"/>
            <a:ext cx="8229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7B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 Tu Kit.
</a:t>
            </a:r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Tú Compites.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685800" y="1572768"/>
            <a:ext cx="7589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kit personal no es solo para la clase — es la herramienta con la que cada estudiante compite, innova y demuestra lo que sabe.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85800" y="1984248"/>
            <a:ext cx="8229600" cy="0"/>
          </a:xfrm>
          <a:prstGeom prst="line">
            <a:avLst/>
          </a:prstGeom>
          <a:noFill/>
          <a:ln w="9525">
            <a:solidFill>
              <a:srgbClr val="FF7B42">
                <a:alpha val="4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" y="2084832"/>
            <a:ext cx="3977640" cy="2697480"/>
          </a:xfrm>
          <a:prstGeom prst="roundRect">
            <a:avLst>
              <a:gd name="adj" fmla="val 3390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FF7B42">
                <a:alpha val="45000"/>
              </a:srgbClr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85800" y="2084832"/>
            <a:ext cx="64008" cy="2697480"/>
          </a:xfrm>
          <a:prstGeom prst="rect">
            <a:avLst/>
          </a:prstGeom>
          <a:solidFill>
            <a:srgbClr val="FF7B42"/>
          </a:solidFill>
          <a:ln w="12700">
            <a:solidFill>
              <a:srgbClr val="FF7B4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217627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7B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¿Cómo funciona?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914400" y="2624328"/>
            <a:ext cx="109728" cy="109728"/>
          </a:xfrm>
          <a:prstGeom prst="ellipse">
            <a:avLst/>
          </a:prstGeom>
          <a:solidFill>
            <a:srgbClr val="FF7B42"/>
          </a:solidFill>
          <a:ln/>
        </p:spPr>
      </p:sp>
      <p:sp>
        <p:nvSpPr>
          <p:cNvPr id="13" name="Text 11"/>
          <p:cNvSpPr/>
          <p:nvPr/>
        </p:nvSpPr>
        <p:spPr>
          <a:xfrm>
            <a:off x="1115568" y="2542032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Cada nivel compite con su propio kit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115568" y="2761488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N1 vs N1, N5 vs N5 — la competencia es justa porque todos tienen el mismo kit.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914400" y="3154680"/>
            <a:ext cx="109728" cy="109728"/>
          </a:xfrm>
          <a:prstGeom prst="ellipse">
            <a:avLst/>
          </a:prstGeom>
          <a:solidFill>
            <a:srgbClr val="FF7B42"/>
          </a:solidFill>
          <a:ln/>
        </p:spPr>
      </p:sp>
      <p:sp>
        <p:nvSpPr>
          <p:cNvPr id="16" name="Text 14"/>
          <p:cNvSpPr/>
          <p:nvPr/>
        </p:nvSpPr>
        <p:spPr>
          <a:xfrm>
            <a:off x="1115568" y="3072384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reto lo define VIRTUS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115568" y="329184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Misión sorpresa el día del evento: deben adaptar su robot para resolver un desafío nuevo.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914400" y="3685032"/>
            <a:ext cx="109728" cy="109728"/>
          </a:xfrm>
          <a:prstGeom prst="ellipse">
            <a:avLst/>
          </a:prstGeom>
          <a:solidFill>
            <a:srgbClr val="FF7B42"/>
          </a:solidFill>
          <a:ln/>
        </p:spPr>
      </p:sp>
      <p:sp>
        <p:nvSpPr>
          <p:cNvPr id="19" name="Text 17"/>
          <p:cNvSpPr/>
          <p:nvPr/>
        </p:nvSpPr>
        <p:spPr>
          <a:xfrm>
            <a:off x="1115568" y="3602736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Categorías por habilidad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115568" y="3822192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Velocidad, precisión, creatividad y programación — cada nivel tiene sus métricas propias.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914400" y="4215384"/>
            <a:ext cx="109728" cy="109728"/>
          </a:xfrm>
          <a:prstGeom prst="ellipse">
            <a:avLst/>
          </a:prstGeom>
          <a:solidFill>
            <a:srgbClr val="FF7B42"/>
          </a:solidFill>
          <a:ln/>
        </p:spPr>
      </p:sp>
      <p:sp>
        <p:nvSpPr>
          <p:cNvPr id="22" name="Text 20"/>
          <p:cNvSpPr/>
          <p:nvPr/>
        </p:nvSpPr>
        <p:spPr>
          <a:xfrm>
            <a:off x="1115568" y="4133088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Interferia de instituciones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115568" y="4352544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instituciones aliadas VIRTUS compiten entre sí — rivalidad sana y motivación real.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4892040" y="2084832"/>
            <a:ext cx="3977640" cy="804672"/>
          </a:xfrm>
          <a:prstGeom prst="roundRect">
            <a:avLst>
              <a:gd name="adj" fmla="val 9091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FF7B42">
                <a:alpha val="45000"/>
              </a:srgbClr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892040" y="2084832"/>
            <a:ext cx="64008" cy="804672"/>
          </a:xfrm>
          <a:prstGeom prst="rect">
            <a:avLst/>
          </a:prstGeom>
          <a:solidFill>
            <a:srgbClr val="FF7B42"/>
          </a:solidFill>
          <a:ln w="12700">
            <a:solidFill>
              <a:srgbClr val="FF7B4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47488" y="2139696"/>
            <a:ext cx="7772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7B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5897880" y="2176272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Niveles en competencia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897880" y="2450592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N1 a N8 — todos participan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4892040" y="2980944"/>
            <a:ext cx="3977640" cy="804672"/>
          </a:xfrm>
          <a:prstGeom prst="roundRect">
            <a:avLst>
              <a:gd name="adj" fmla="val 9091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16A34A">
                <a:alpha val="45000"/>
              </a:srgbClr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892040" y="2980944"/>
            <a:ext cx="64008" cy="80467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47488" y="3035808"/>
            <a:ext cx="7772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6A3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Kit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16A3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Propio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5897880" y="3072384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única herramienta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897880" y="3346704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 presta, no se comparte — es tuyo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4892040" y="3877056"/>
            <a:ext cx="3977640" cy="804672"/>
          </a:xfrm>
          <a:prstGeom prst="roundRect">
            <a:avLst>
              <a:gd name="adj" fmla="val 9091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7C3AED">
                <a:alpha val="45000"/>
              </a:srgbClr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5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892040" y="3877056"/>
            <a:ext cx="64008" cy="8046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047488" y="3931920"/>
            <a:ext cx="7772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C3AE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Año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7C3AE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todo</a:t>
            </a:r>
            <a:endParaRPr lang="en-US" sz="2200" dirty="0"/>
          </a:p>
        </p:txBody>
      </p:sp>
      <p:sp>
        <p:nvSpPr>
          <p:cNvPr id="37" name="Text 35"/>
          <p:cNvSpPr/>
          <p:nvPr/>
        </p:nvSpPr>
        <p:spPr>
          <a:xfrm>
            <a:off x="5897880" y="3968496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Liga interna continua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897880" y="4242816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Clasificatorias por trimestre, gran final en diciembre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685800" y="4800600"/>
            <a:ext cx="8229600" cy="0"/>
          </a:xfrm>
          <a:prstGeom prst="line">
            <a:avLst/>
          </a:prstGeom>
          <a:noFill/>
          <a:ln w="6350">
            <a:solidFill>
              <a:srgbClr val="FF7B42">
                <a:alpha val="35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85800" y="4800600"/>
            <a:ext cx="8229600" cy="0"/>
          </a:xfrm>
          <a:prstGeom prst="roundRect">
            <a:avLst/>
          </a:prstGeom>
          <a:solidFill>
            <a:srgbClr val="FF7B42">
              <a:alpha val="0"/>
            </a:srgbClr>
          </a:solidFill>
          <a:ln w="12700">
            <a:solidFill>
              <a:srgbClr val="FF7B42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85800" y="482803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FF7B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kit más poderoso no es el más caro — es el que el estudiante conoce de memoria porque lleva un año trabajando con él.</a:t>
            </a:r>
            <a:endParaRPr lang="en-US" sz="9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5143500"/>
          </a:xfrm>
          <a:prstGeom prst="rect">
            <a:avLst/>
          </a:prstGeom>
          <a:solidFill>
            <a:srgbClr val="FF7B42"/>
          </a:solidFill>
          <a:ln w="12700">
            <a:solidFill>
              <a:srgbClr val="FF7B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-914400"/>
            <a:ext cx="5486400" cy="5486400"/>
          </a:xfrm>
          <a:prstGeom prst="ellipse">
            <a:avLst/>
          </a:prstGeom>
          <a:solidFill>
            <a:srgbClr val="FF7B42">
              <a:alpha val="8000"/>
            </a:srgbClr>
          </a:solidFill>
          <a:ln w="12700">
            <a:solidFill>
              <a:srgbClr val="FF7B42">
                <a:alpha val="2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96012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800" kern="0" dirty="0">
                <a:solidFill>
                  <a:srgbClr val="FF7B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VIRTUS STEAM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685800" y="1444752"/>
            <a:ext cx="804672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700" b="1" dirty="0">
                <a:solidFill>
                  <a:srgbClr val="0F10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enseñamos robótica.
</a:t>
            </a:r>
            <a:pPr indent="0" marL="0">
              <a:buNone/>
            </a:pPr>
            <a:r>
              <a:rPr lang="en-US" sz="3700" b="1" dirty="0">
                <a:solidFill>
                  <a:srgbClr val="6B72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Formamos </a:t>
            </a:r>
            <a:pPr indent="0" marL="0">
              <a:buNone/>
            </a:pPr>
            <a:r>
              <a:rPr lang="en-US" sz="3700" b="1" dirty="0">
                <a:solidFill>
                  <a:srgbClr val="FF7B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ingenieros con alma.</a:t>
            </a:r>
            <a:endParaRPr lang="en-US" sz="3700" dirty="0"/>
          </a:p>
        </p:txBody>
      </p:sp>
      <p:sp>
        <p:nvSpPr>
          <p:cNvPr id="6" name="Shape 4"/>
          <p:cNvSpPr/>
          <p:nvPr/>
        </p:nvSpPr>
        <p:spPr>
          <a:xfrm>
            <a:off x="685800" y="3547872"/>
            <a:ext cx="804672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365760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"Tenemos el deber urgente de permanecer profundamente humanos."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85800" y="391363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Papa León XIV · Magnifica Humanitas · §15 · 2026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685800" y="46451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7B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contacto@virtussteam.edu.ec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31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VIRTUS STEAM — Programa Educativo Completo</dc:title>
  <dc:subject>PptxGenJS Presentation</dc:subject>
  <dc:creator>VIRTUS STEAM</dc:creator>
  <cp:lastModifiedBy>VIRTUS STEAM</cp:lastModifiedBy>
  <cp:revision>1</cp:revision>
  <dcterms:created xsi:type="dcterms:W3CDTF">2026-06-29T23:06:42Z</dcterms:created>
  <dcterms:modified xsi:type="dcterms:W3CDTF">2026-06-29T23:06:42Z</dcterms:modified>
</cp:coreProperties>
</file>